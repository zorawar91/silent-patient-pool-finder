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4-1.webp" ContentType="image/webp"/>
  <Override PartName="/ppt/media/image-6-1.webp" ContentType="image/webp"/>
  <Override PartName="/ppt/media/image-7-1.webp" ContentType="image/webp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9" r:id="rId20"/>
    <p:sldId id="264" r:id="rId10"/>
    <p:sldId id="265" r:id="rId11"/>
    <p:sldId id="266" r:id="rId12"/>
    <p:sldId id="267" r:id="rId13"/>
    <p:sldId id="268" r:id="rId14"/>
    <p:sldId id="270" r:id="rId21"/>
  </p:sldIdLst>
  <p:notesMasterIdLst>
    <p:notesMasterId r:id="rId15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  <Relationship Id="rId20" Type="http://schemas.openxmlformats.org/officeDocument/2006/relationships/slide" Target="slides/slide14.xml"/>
  <Relationship Id="rId21" Type="http://schemas.openxmlformats.org/officeDocument/2006/relationships/slide" Target="slides/slide15.xml"/>
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chronic-disease brand in this room is fighting over the same diagnosed patients — claims data, Rx data, decile lists. But the biggest patient pool in metabolic disease generates zero claims. SPPF finds them — geographically, not individually. Zero patient-level data, zero licensing cost, zero procurement friction. And it is not a slide — it is running live right now: scan the QR code, it is the same app I am about to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8.7 million undiagnosed Type 2 diabetics. 34.9 million with undiagnosed or uncontrolled hypertension. They are invisible to every dataset sold today — by definition: no diagnosis code, no prescription, no claim. Traditional targeting starts after a patient enters the system. The commercial question is upstream of all of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Undiagnosed patients are invisible individually — and loud in aggregate. Eleven public datasets, seven scoring dimensions, every US geography. The compliance story is the moat: no patient-level data at any stage means no HIPAA exposure, no data-use agreements, no procurement friction — and a marginal data cost of zero.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resolutions: 3,144 counties, 33,791 ZIP codes, 411,115 prescribers — one pipeline, one afternoon of compute, every US geography. Point at the map: the Rio Grande Valley, the Bronx, the Mississippi Delta light up — exactly where epidemiology says undiagnosed metabolic disease concentrates. Face validity you can see.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Seven questions, answered per geography. Skeptical of the weights? Good — open the sensitivity sliders in the dashboard and try to break the ranking. Re-weight any need-side dimension: Spearman 0.97 to 0.99, top-50 overlap 82 to 88 percent. Starr County does not move. The map is driven by where the patients are — not by our weight vector.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From hot ZIP codes to a rep’s Monday call list. The HCP priority score blends 40 percent geography, 25 reach, 20 panel burden, 15 specialty fit. Every row exports CRM-ready with a plain-English why: ZIP in top 6 percent of US opportunity; 1,840-beneficiary panel, 68 percent diabetic; primary care. Public CMS aggregate data only — it ranks where a diagnosis-support conversation is most valuable, never individual prescribing quality.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part nobody else does: measurement. Pick campaign counties, we auto-match statistical twins on baseline prevalence, SDoH, income and rurality, pre-register both lists before launch, then read diagnosis-rate lift versus controls with a bootstrap 95 percent confidence interval. Validated: it recovers a known synthetic lift within plus or minus 0.3 points, and a real-data placebo correctly reads not significant. It refuses to hallucinate lift.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Built for due diligence — designed to survive your analysts. Sixty-plus QA gates re-run live on the provenance page. A/B/C confidence grades on true pre-imputation coverage. And the honest answer on the weakest data, delivered proudly: payer mix beyond MA penetration is modeled and hypothyroidism is a proxy — both labeled as such in the app. We would rather show you the seams than have you find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plays, one platform. A GLP-1-era brand team gets Starr County, Texas — number one of 3,144, 26 percent diabetes prevalence — its ZIP heatmaps and the exact internists with 60 to 75 percent diabetic panels, before a single claims dollar is spent. Market access gets the MA Stars co-funding counties. Field forces get territory design plus proof of last cycle’s lift — a renewable engagement, not a one-off report. If asked whether this is demand creation: undiagnosed T2D and hypertension cause strokes, amputations and dialysis — every year of delayed diagnosis costs the patient and the system more. SPPF targets screening programs, not prescriptions, and the measurement engine holds campaigns accountable for diagnosis-rate lift, not scripts. The rare case where the commercial incentive and the public-health good point the same direction.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SPPF does not compete with a single claims product — every claims asset starts after diagnosis; that is the product boundary, not a criticism. SPPF is the demand-generation layer upstream of that boundary: it creates the diagnosed patients every downstream asset then tracks. The integration play: targeting from public data, measurement sharpened by claims — each layer makes the other more valuable.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MVP is live today — 11 dashboard views, 3,144 counties, 33,791 ZIPs, 411 thousand HCPs, the measurement engine, a 41-test CI suite, all public data, open for audit. Next: condition modules — CKD, where roughly 90 percent of early stages go undiagnosed, MASH, COPD, AFib — any condition with a silent pool, each a config file on the same engine. Then claims-sharpened quarterly measurement and validation against NHANES ground truth.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ask: one pilot brand, one condition, one market opportunity assessment — 90 days to a measurable diagnosis-rate story. The commercial mechanics: land at $25–75k on brand-director budget, expand to a $150–400k platform license, and the measurement loop is the renewal engine — it turns a report into a subscription. Thank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Hold this slide for Q&amp;A — do not present it. Deliver both answers without defensiveness: the ethics answer ends on the incentive alignment, the diagnostic answer ends on the licensed-clinician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webp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webp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webp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3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29630" y="1623417"/>
            <a:ext cx="17145446" cy="8422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3426"/>
              </a:lnSpc>
              <a:buNone/>
            </a:pPr>
            <a:r>
              <a:rPr lang="en-US" sz="9450" b="1" spc="-189" kern="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Silent Patient Pool Finder</a:t>
            </a:r>
            <a:endParaRPr lang="en-US" sz="9450" dirty="0"/>
          </a:p>
        </p:txBody>
      </p:sp>
      <p:sp>
        <p:nvSpPr>
          <p:cNvPr id="3" name="Text 1"/>
          <p:cNvSpPr/>
          <p:nvPr/>
        </p:nvSpPr>
        <p:spPr>
          <a:xfrm>
            <a:off x="1371600" y="2827586"/>
            <a:ext cx="7847067" cy="3124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340"/>
              </a:lnSpc>
              <a:buNone/>
            </a:pPr>
            <a:r>
              <a:rPr lang="en-US" sz="3150" dirty="0">
                <a:solidFill>
                  <a:srgbClr val="211D1D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 the patients your claims data can’t see. County → ZIP → prescriber intelligence for undiagnosed chronic disease — built entirely on public, PHI-free data, with campaign measurement built in.</a:t>
            </a:r>
            <a:endParaRPr lang="en-US" sz="3150" dirty="0"/>
          </a:p>
        </p:txBody>
      </p:sp>
      <p:sp>
        <p:nvSpPr>
          <p:cNvPr id="4" name="Text 2"/>
          <p:cNvSpPr/>
          <p:nvPr/>
        </p:nvSpPr>
        <p:spPr>
          <a:xfrm>
            <a:off x="1371600" y="9105156"/>
            <a:ext cx="2848816" cy="1912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273"/>
              </a:lnSpc>
              <a:buNone/>
            </a:pPr>
            <a:r>
              <a:rPr lang="en-US" sz="1800" dirty="0">
                <a:solidFill>
                  <a:srgbClr val="211D1D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Zorawar Singh Nandwal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132883" y="9105156"/>
            <a:ext cx="145256" cy="1912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273"/>
              </a:lnSpc>
              <a:buNone/>
            </a:pPr>
            <a:r>
              <a:rPr lang="en-US" sz="1800" dirty="0">
                <a:solidFill>
                  <a:srgbClr val="211D1D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373389" y="9105156"/>
            <a:ext cx="3344205" cy="1912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273"/>
              </a:lnSpc>
              <a:buNone/>
            </a:pPr>
            <a:r>
              <a:rPr lang="en-US" sz="1800" dirty="0">
                <a:solidFill>
                  <a:srgbClr val="211D1D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IQVIA Ideathon · MVP demo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585025" y="9105156"/>
            <a:ext cx="145256" cy="1912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273"/>
              </a:lnSpc>
              <a:buNone/>
            </a:pPr>
            <a:r>
              <a:rPr lang="en-US" sz="1800" dirty="0">
                <a:solidFill>
                  <a:srgbClr val="211D1D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825532" y="9105156"/>
            <a:ext cx="1040234" cy="1912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273"/>
              </a:lnSpc>
              <a:buNone/>
            </a:pPr>
            <a:r>
              <a:rPr lang="en-US" sz="1800" dirty="0">
                <a:solidFill>
                  <a:srgbClr val="211D1D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July 2026</a:t>
            </a:r>
            <a:endParaRPr lang="en-US" sz="1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16200" y="7113315"/>
            <a:ext cx="1600200" cy="1600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400904" y="8904015"/>
            <a:ext cx="6067045" cy="3923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273"/>
              </a:lnSpc>
              <a:buNone/>
            </a:pPr>
            <a:r>
              <a:rPr lang="en-US" sz="1800" dirty="0">
                <a:solidFill>
                  <a:srgbClr val="211D1D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now — silent-patient-pool-finder.streamlit.app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4410075" y="190500"/>
            <a:ext cx="609600" cy="152400"/>
          </a:xfrm>
          <a:prstGeom prst="rect">
            <a:avLst/>
          </a:prstGeom>
          <a:gradFill rotWithShape="1">
            <a:gsLst>
              <a:gs pos="0">
                <a:srgbClr val="0088B0">
                  <a:alpha val="100000"/>
                </a:srgbClr>
              </a:gs>
              <a:gs pos="25000">
                <a:srgbClr val="0088B0">
                  <a:alpha val="100000"/>
                </a:srgbClr>
              </a:gs>
              <a:gs pos="25000">
                <a:srgbClr val="D6006C">
                  <a:alpha val="100000"/>
                </a:srgbClr>
              </a:gs>
              <a:gs pos="50000">
                <a:srgbClr val="D6006C">
                  <a:alpha val="100000"/>
                </a:srgbClr>
              </a:gs>
              <a:gs pos="50000">
                <a:srgbClr val="EDBB00">
                  <a:alpha val="100000"/>
                </a:srgbClr>
              </a:gs>
              <a:gs pos="75000">
                <a:srgbClr val="EDBB00">
                  <a:alpha val="100000"/>
                </a:srgbClr>
              </a:gs>
              <a:gs pos="75000">
                <a:srgbClr val="201E1D">
                  <a:alpha val="100000"/>
                </a:srgbClr>
              </a:gs>
            </a:gsLst>
            <a:lin ang="0" scaled="0"/>
          </a:gradFill>
          <a:ln/>
        </p:spPr>
        <p:txBody>
          <a:bodyPr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48978" y="1623492"/>
            <a:ext cx="17124164" cy="4720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3846"/>
              </a:lnSpc>
              <a:buNone/>
            </a:pPr>
            <a:r>
              <a:rPr lang="en-US" sz="5100" b="1" spc="-76" kern="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biggest patient pool generates zero claims</a:t>
            </a:r>
            <a:endParaRPr lang="en-US" sz="5100" dirty="0"/>
          </a:p>
        </p:txBody>
      </p:sp>
      <p:sp>
        <p:nvSpPr>
          <p:cNvPr id="3" name="Text 1"/>
          <p:cNvSpPr/>
          <p:nvPr/>
        </p:nvSpPr>
        <p:spPr>
          <a:xfrm>
            <a:off x="1343323" y="2990404"/>
            <a:ext cx="5060305" cy="612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348"/>
              </a:lnSpc>
              <a:buNone/>
            </a:pPr>
            <a:r>
              <a:rPr lang="en-US" sz="6750" b="1" spc="-135" kern="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8.7M</a:t>
            </a:r>
            <a:endParaRPr lang="en-US" sz="6750" dirty="0"/>
          </a:p>
        </p:txBody>
      </p:sp>
      <p:sp>
        <p:nvSpPr>
          <p:cNvPr id="4" name="Text 2"/>
          <p:cNvSpPr/>
          <p:nvPr/>
        </p:nvSpPr>
        <p:spPr>
          <a:xfrm>
            <a:off x="1371600" y="3887614"/>
            <a:ext cx="4709160" cy="7439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6522"/>
              </a:lnSpc>
              <a:buNone/>
            </a:pPr>
            <a:r>
              <a:rPr lang="en-US" sz="2250" dirty="0">
                <a:solidFill>
                  <a:srgbClr val="211D1D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adults with undiagnosed Type 2 Diabetes</a:t>
            </a:r>
            <a:endParaRPr lang="en-US" sz="2250" dirty="0"/>
          </a:p>
        </p:txBody>
      </p:sp>
      <p:sp>
        <p:nvSpPr>
          <p:cNvPr id="5" name="Text 3"/>
          <p:cNvSpPr/>
          <p:nvPr/>
        </p:nvSpPr>
        <p:spPr>
          <a:xfrm>
            <a:off x="6829723" y="2990404"/>
            <a:ext cx="5060305" cy="612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348"/>
              </a:lnSpc>
              <a:buNone/>
            </a:pPr>
            <a:r>
              <a:rPr lang="en-US" sz="6750" b="1" spc="-135" kern="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34.9M</a:t>
            </a:r>
            <a:endParaRPr lang="en-US" sz="6750" dirty="0"/>
          </a:p>
        </p:txBody>
      </p:sp>
      <p:sp>
        <p:nvSpPr>
          <p:cNvPr id="6" name="Text 4"/>
          <p:cNvSpPr/>
          <p:nvPr/>
        </p:nvSpPr>
        <p:spPr>
          <a:xfrm>
            <a:off x="6858000" y="3887614"/>
            <a:ext cx="4709160" cy="7439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6522"/>
              </a:lnSpc>
              <a:buNone/>
            </a:pPr>
            <a:r>
              <a:rPr lang="en-US" sz="2250" dirty="0">
                <a:solidFill>
                  <a:srgbClr val="211D1D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undiagnosed or uncontrolled hypertension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12316123" y="2990404"/>
            <a:ext cx="5060305" cy="6124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348"/>
              </a:lnSpc>
              <a:buNone/>
            </a:pPr>
            <a:r>
              <a:rPr lang="en-US" sz="6750" b="1" spc="-135" kern="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2.1M</a:t>
            </a:r>
            <a:endParaRPr lang="en-US" sz="6750" dirty="0"/>
          </a:p>
        </p:txBody>
      </p:sp>
      <p:sp>
        <p:nvSpPr>
          <p:cNvPr id="8" name="Text 6"/>
          <p:cNvSpPr/>
          <p:nvPr/>
        </p:nvSpPr>
        <p:spPr>
          <a:xfrm>
            <a:off x="12344400" y="3887614"/>
            <a:ext cx="4709160" cy="7439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6522"/>
              </a:lnSpc>
              <a:buNone/>
            </a:pPr>
            <a:r>
              <a:rPr lang="en-US" sz="2250" dirty="0">
                <a:solidFill>
                  <a:srgbClr val="211D1D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undiagnosed hypothyroidism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1371600" y="5392341"/>
            <a:ext cx="16011144" cy="12965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just" indent="0" marL="0">
              <a:lnSpc>
                <a:spcPct val="131707"/>
              </a:lnSpc>
              <a:buNone/>
            </a:pPr>
            <a:r>
              <a:rPr lang="en-US" sz="270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diagnosis code, no prescription, no claim — invisible to claims analytics by definition. Every traditional targeting tool starts after a patient enters the system. The commercial question sits upstream of all of it: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1371600" y="7392888"/>
            <a:ext cx="13749766" cy="10961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67010"/>
              </a:lnSpc>
              <a:buNone/>
            </a:pPr>
            <a:r>
              <a:rPr lang="en-US" sz="3150" i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“Where are the patients who should be diagnosed but aren’t — and who will find them?”</a:t>
            </a:r>
            <a:endParaRPr lang="en-US" sz="3150" dirty="0"/>
          </a:p>
        </p:txBody>
      </p:sp>
      <p:sp>
        <p:nvSpPr>
          <p:cNvPr id="11" name="Text 9"/>
          <p:cNvSpPr/>
          <p:nvPr/>
        </p:nvSpPr>
        <p:spPr>
          <a:xfrm>
            <a:off x="1371600" y="8896350"/>
            <a:ext cx="7722517" cy="1066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96364"/>
              </a:lnSpc>
              <a:buNone/>
            </a:pPr>
            <a:r>
              <a:rPr lang="en-US" sz="1800" dirty="0">
                <a:solidFill>
                  <a:srgbClr val="211D1D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population-level planning tool, not a clinical diagnostic instrument — every diagnosis it enables happens through a licensed clinician.</a:t>
            </a:r>
            <a:endParaRPr lang="en-US" sz="18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990439" y="9771906"/>
            <a:ext cx="2925961" cy="15314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48978" y="1623492"/>
            <a:ext cx="17124164" cy="4720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3846"/>
              </a:lnSpc>
              <a:buNone/>
            </a:pPr>
            <a:r>
              <a:rPr lang="en-US" sz="5100" b="1" spc="-76" kern="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Invisible individually — loud in aggregate</a:t>
            </a:r>
            <a:endParaRPr lang="en-US" sz="5100" dirty="0"/>
          </a:p>
        </p:txBody>
      </p:sp>
      <p:sp>
        <p:nvSpPr>
          <p:cNvPr id="3" name="Text 1"/>
          <p:cNvSpPr/>
          <p:nvPr/>
        </p:nvSpPr>
        <p:spPr>
          <a:xfrm>
            <a:off x="1371600" y="4019104"/>
            <a:ext cx="4945380" cy="2678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8341"/>
              </a:lnSpc>
              <a:buNone/>
            </a:pPr>
            <a:r>
              <a:rPr lang="en-US" sz="2700" b="1" spc="-40" kern="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public datasets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371600" y="4533379"/>
            <a:ext cx="4630674" cy="17726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just" indent="0" marL="0">
              <a:lnSpc>
                <a:spcPct val="156522"/>
              </a:lnSpc>
              <a:buNone/>
            </a:pPr>
            <a:r>
              <a:rPr lang="en-US" sz="225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CDC PLACES, Census ACS, CMS Medicare, HRSA, USDA, County Health Rankings — zero PHI, zero licensing cost.</a:t>
            </a:r>
            <a:endParaRPr lang="en-US" sz="2250" dirty="0"/>
          </a:p>
        </p:txBody>
      </p:sp>
      <p:sp>
        <p:nvSpPr>
          <p:cNvPr id="5" name="Text 3"/>
          <p:cNvSpPr/>
          <p:nvPr/>
        </p:nvSpPr>
        <p:spPr>
          <a:xfrm>
            <a:off x="6896100" y="4019104"/>
            <a:ext cx="4945380" cy="2678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8341"/>
              </a:lnSpc>
              <a:buNone/>
            </a:pPr>
            <a:r>
              <a:rPr lang="en-US" sz="2700" b="1" spc="-40" kern="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7-dimension scoring engine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6896100" y="4533379"/>
            <a:ext cx="4630674" cy="17726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just" indent="0" marL="0">
              <a:lnSpc>
                <a:spcPct val="156522"/>
              </a:lnSpc>
              <a:buNone/>
            </a:pPr>
            <a:r>
              <a:rPr lang="en-US" sz="225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Burden, diagnosis gap, access, SDoH, payer mix, readiness, trajectory — every US geography scored 0–100.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12420600" y="4019104"/>
            <a:ext cx="4945380" cy="2678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8341"/>
              </a:lnSpc>
              <a:buNone/>
            </a:pPr>
            <a:r>
              <a:rPr lang="en-US" sz="2700" b="1" spc="-40" kern="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Actionable outputs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12420600" y="4533379"/>
            <a:ext cx="4630674" cy="12582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just" indent="0" marL="0">
              <a:lnSpc>
                <a:spcPct val="156522"/>
              </a:lnSpc>
              <a:buNone/>
            </a:pPr>
            <a:r>
              <a:rPr lang="en-US" sz="225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Ranked geographies → prescriber call lists → pre-registered campaign measurement.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1371600" y="7066806"/>
            <a:ext cx="16011144" cy="78216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just" indent="0" marL="0">
              <a:lnSpc>
                <a:spcPct val="131707"/>
              </a:lnSpc>
              <a:buNone/>
            </a:pPr>
            <a:r>
              <a:rPr lang="en-US" sz="270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compliance story is the moat: no patient-level data at any stage — no HIPAA exposure, no data-use agreements, no procurement friction, and a marginal data cost of zero.</a:t>
            </a:r>
            <a:endParaRPr lang="en-US" sz="27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990439" y="9771906"/>
            <a:ext cx="2925961" cy="15314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48978" y="1623417"/>
            <a:ext cx="6302181" cy="12436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3846"/>
              </a:lnSpc>
              <a:buNone/>
            </a:pPr>
            <a:r>
              <a:rPr lang="en-US" sz="5100" b="1" spc="-76" kern="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→ territory → prescriber</a:t>
            </a:r>
            <a:endParaRPr lang="en-US" sz="5100" dirty="0"/>
          </a:p>
        </p:txBody>
      </p:sp>
      <p:sp>
        <p:nvSpPr>
          <p:cNvPr id="3" name="Text 1"/>
          <p:cNvSpPr/>
          <p:nvPr/>
        </p:nvSpPr>
        <p:spPr>
          <a:xfrm>
            <a:off x="1354634" y="3228975"/>
            <a:ext cx="6724263" cy="382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6400"/>
              </a:lnSpc>
              <a:buNone/>
            </a:pPr>
            <a:r>
              <a:rPr lang="en-US" sz="4050" b="1" spc="-61" kern="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3,144</a:t>
            </a:r>
            <a:endParaRPr lang="en-US" sz="4050" dirty="0"/>
          </a:p>
        </p:txBody>
      </p:sp>
      <p:sp>
        <p:nvSpPr>
          <p:cNvPr id="4" name="Text 2"/>
          <p:cNvSpPr/>
          <p:nvPr/>
        </p:nvSpPr>
        <p:spPr>
          <a:xfrm>
            <a:off x="1371600" y="3706937"/>
            <a:ext cx="6278880" cy="809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645"/>
              </a:lnSpc>
              <a:buNone/>
            </a:pPr>
            <a:r>
              <a:rPr lang="en-US" sz="2025" dirty="0">
                <a:solidFill>
                  <a:srgbClr val="211D1D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counties scored — 7 dimensions, percentile, A/B/C confidence grade</a:t>
            </a:r>
            <a:endParaRPr lang="en-US" sz="2025" dirty="0"/>
          </a:p>
        </p:txBody>
      </p:sp>
      <p:sp>
        <p:nvSpPr>
          <p:cNvPr id="5" name="Text 3"/>
          <p:cNvSpPr/>
          <p:nvPr/>
        </p:nvSpPr>
        <p:spPr>
          <a:xfrm>
            <a:off x="1354634" y="5650037"/>
            <a:ext cx="6724263" cy="382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6400"/>
              </a:lnSpc>
              <a:buNone/>
            </a:pPr>
            <a:r>
              <a:rPr lang="en-US" sz="4050" b="1" spc="-61" kern="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33,791</a:t>
            </a:r>
            <a:endParaRPr lang="en-US" sz="4050" dirty="0"/>
          </a:p>
        </p:txBody>
      </p:sp>
      <p:sp>
        <p:nvSpPr>
          <p:cNvPr id="6" name="Text 4"/>
          <p:cNvSpPr/>
          <p:nvPr/>
        </p:nvSpPr>
        <p:spPr>
          <a:xfrm>
            <a:off x="1371600" y="6127998"/>
            <a:ext cx="6278880" cy="809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645"/>
              </a:lnSpc>
              <a:buNone/>
            </a:pPr>
            <a:r>
              <a:rPr lang="en-US" sz="2025" dirty="0">
                <a:solidFill>
                  <a:srgbClr val="211D1D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ZIP codes — ZCTA-level CDC + Census data via crosswalk downscaling</a:t>
            </a:r>
            <a:endParaRPr lang="en-US" sz="2025" dirty="0"/>
          </a:p>
        </p:txBody>
      </p:sp>
      <p:sp>
        <p:nvSpPr>
          <p:cNvPr id="7" name="Text 5"/>
          <p:cNvSpPr/>
          <p:nvPr/>
        </p:nvSpPr>
        <p:spPr>
          <a:xfrm>
            <a:off x="1354634" y="8071098"/>
            <a:ext cx="6724263" cy="382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6400"/>
              </a:lnSpc>
              <a:buNone/>
            </a:pPr>
            <a:r>
              <a:rPr lang="en-US" sz="4050" b="1" spc="-61" kern="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411,115</a:t>
            </a:r>
            <a:endParaRPr lang="en-US" sz="4050" dirty="0"/>
          </a:p>
        </p:txBody>
      </p:sp>
      <p:sp>
        <p:nvSpPr>
          <p:cNvPr id="8" name="Text 6"/>
          <p:cNvSpPr/>
          <p:nvPr/>
        </p:nvSpPr>
        <p:spPr>
          <a:xfrm>
            <a:off x="1371600" y="8549060"/>
            <a:ext cx="6278880" cy="809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645"/>
              </a:lnSpc>
              <a:buNone/>
            </a:pPr>
            <a:r>
              <a:rPr lang="en-US" sz="2025" dirty="0">
                <a:solidFill>
                  <a:srgbClr val="211D1D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prescribers ranked from CMS panel data — 20,612 Priority-tier NPIs</a:t>
            </a:r>
            <a:endParaRPr lang="en-US" sz="2025" dirty="0"/>
          </a:p>
        </p:txBody>
      </p:sp>
      <p:sp>
        <p:nvSpPr>
          <p:cNvPr id="9" name="Shape 7"/>
          <p:cNvSpPr/>
          <p:nvPr/>
        </p:nvSpPr>
        <p:spPr>
          <a:xfrm>
            <a:off x="8382000" y="1471687"/>
            <a:ext cx="8534400" cy="7343552"/>
          </a:xfrm>
          <a:prstGeom prst="roundRect">
            <a:avLst>
              <a:gd name="adj" fmla="val 1556"/>
            </a:avLst>
          </a:prstGeom>
          <a:solidFill>
            <a:srgbClr val="000000">
              <a:alpha val="4000"/>
            </a:srgbClr>
          </a:solidFill>
          <a:ln/>
        </p:spPr>
        <p:txBody>
          <a:bodyPr/>
          <a:p/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rcRect l="17508" r="17508" t="0" b="0"/>
          <a:stretch/>
        </p:blipFill>
        <p:spPr>
          <a:xfrm>
            <a:off x="8382000" y="1471687"/>
            <a:ext cx="8534400" cy="7343552"/>
          </a:xfrm>
          <a:prstGeom prst="rect">
            <a:avLst/>
          </a:prstGeom>
        </p:spPr>
      </p:pic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90439" y="9771906"/>
            <a:ext cx="2925961" cy="15314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48978" y="1623492"/>
            <a:ext cx="17124164" cy="4720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3846"/>
              </a:lnSpc>
              <a:buNone/>
            </a:pPr>
            <a:r>
              <a:rPr lang="en-US" sz="5100" b="1" spc="-76" kern="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Seven questions, answered per geography</a:t>
            </a:r>
            <a:endParaRPr lang="en-US" sz="5100" dirty="0"/>
          </a:p>
        </p:txBody>
      </p:sp>
      <p:sp>
        <p:nvSpPr>
          <p:cNvPr id="3" name="Shape 1"/>
          <p:cNvSpPr/>
          <p:nvPr/>
        </p:nvSpPr>
        <p:spPr>
          <a:xfrm>
            <a:off x="1371600" y="3569047"/>
            <a:ext cx="4423023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1371600" y="3181424"/>
            <a:ext cx="4289014" cy="33047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13455"/>
              </a:lnSpc>
              <a:buNone/>
            </a:pPr>
            <a:r>
              <a:rPr lang="en-US" sz="1800" b="1" spc="144" kern="0" dirty="0">
                <a:solidFill>
                  <a:srgbClr val="201E1C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DIMENSION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794623" y="3569047"/>
            <a:ext cx="1980084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061323" y="3181424"/>
            <a:ext cx="1522884" cy="33047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13455"/>
              </a:lnSpc>
              <a:buNone/>
            </a:pPr>
            <a:r>
              <a:rPr lang="en-US" sz="1800" b="1" spc="144" kern="0" dirty="0">
                <a:solidFill>
                  <a:srgbClr val="201E1C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WEIGHT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774707" y="3569047"/>
            <a:ext cx="8455893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041407" y="3181424"/>
            <a:ext cx="8176170" cy="33047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13455"/>
              </a:lnSpc>
              <a:buNone/>
            </a:pPr>
            <a:r>
              <a:rPr lang="en-US" sz="1800" b="1" spc="144" kern="0" dirty="0">
                <a:solidFill>
                  <a:srgbClr val="201E1C">
                    <a:alpha val="6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QUESTION IT ANSWERS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371600" y="4152900"/>
            <a:ext cx="4423023" cy="9525"/>
          </a:xfrm>
          <a:prstGeom prst="rect">
            <a:avLst/>
          </a:prstGeom>
          <a:solidFill>
            <a:srgbClr val="261A1A">
              <a:alpha val="8000"/>
            </a:srgbClr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371600" y="3673822"/>
            <a:ext cx="4289014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13521"/>
              </a:lnSpc>
              <a:buNone/>
            </a:pPr>
            <a:r>
              <a:rPr lang="en-US" sz="2325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Diagnosis Gap</a:t>
            </a:r>
            <a:endParaRPr lang="en-US" sz="2325" dirty="0"/>
          </a:p>
        </p:txBody>
      </p:sp>
      <p:sp>
        <p:nvSpPr>
          <p:cNvPr id="11" name="Shape 9"/>
          <p:cNvSpPr/>
          <p:nvPr/>
        </p:nvSpPr>
        <p:spPr>
          <a:xfrm>
            <a:off x="5794623" y="4152900"/>
            <a:ext cx="1980084" cy="9525"/>
          </a:xfrm>
          <a:prstGeom prst="rect">
            <a:avLst/>
          </a:prstGeom>
          <a:solidFill>
            <a:srgbClr val="261A1A">
              <a:alpha val="8000"/>
            </a:srgbClr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061323" y="3673822"/>
            <a:ext cx="1522884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13521"/>
              </a:lnSpc>
              <a:buNone/>
            </a:pPr>
            <a:r>
              <a:rPr lang="en-US" sz="2325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2325" dirty="0"/>
          </a:p>
        </p:txBody>
      </p:sp>
      <p:sp>
        <p:nvSpPr>
          <p:cNvPr id="13" name="Shape 11"/>
          <p:cNvSpPr/>
          <p:nvPr/>
        </p:nvSpPr>
        <p:spPr>
          <a:xfrm>
            <a:off x="7774707" y="4152900"/>
            <a:ext cx="8455893" cy="9525"/>
          </a:xfrm>
          <a:prstGeom prst="rect">
            <a:avLst/>
          </a:prstGeom>
          <a:solidFill>
            <a:srgbClr val="261A1A">
              <a:alpha val="8000"/>
            </a:srgbClr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041407" y="3673822"/>
            <a:ext cx="8176170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13521"/>
              </a:lnSpc>
              <a:buNone/>
            </a:pPr>
            <a:r>
              <a:rPr lang="en-US" sz="2325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much of the problem is still invisible?</a:t>
            </a:r>
            <a:endParaRPr lang="en-US" sz="2325" dirty="0"/>
          </a:p>
        </p:txBody>
      </p:sp>
      <p:sp>
        <p:nvSpPr>
          <p:cNvPr id="15" name="Shape 13"/>
          <p:cNvSpPr/>
          <p:nvPr/>
        </p:nvSpPr>
        <p:spPr>
          <a:xfrm>
            <a:off x="1371600" y="4736753"/>
            <a:ext cx="4423023" cy="9525"/>
          </a:xfrm>
          <a:prstGeom prst="rect">
            <a:avLst/>
          </a:prstGeom>
          <a:solidFill>
            <a:srgbClr val="261A1A">
              <a:alpha val="8000"/>
            </a:srgbClr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1371600" y="4257675"/>
            <a:ext cx="4289014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13521"/>
              </a:lnSpc>
              <a:buNone/>
            </a:pPr>
            <a:r>
              <a:rPr lang="en-US" sz="2325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Disease Burden</a:t>
            </a:r>
            <a:endParaRPr lang="en-US" sz="2325" dirty="0"/>
          </a:p>
        </p:txBody>
      </p:sp>
      <p:sp>
        <p:nvSpPr>
          <p:cNvPr id="17" name="Shape 15"/>
          <p:cNvSpPr/>
          <p:nvPr/>
        </p:nvSpPr>
        <p:spPr>
          <a:xfrm>
            <a:off x="5794623" y="4736753"/>
            <a:ext cx="1980084" cy="9525"/>
          </a:xfrm>
          <a:prstGeom prst="rect">
            <a:avLst/>
          </a:prstGeom>
          <a:solidFill>
            <a:srgbClr val="261A1A">
              <a:alpha val="8000"/>
            </a:srgbClr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061323" y="4257675"/>
            <a:ext cx="1522884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13521"/>
              </a:lnSpc>
              <a:buNone/>
            </a:pPr>
            <a:r>
              <a:rPr lang="en-US" sz="2325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2325" dirty="0"/>
          </a:p>
        </p:txBody>
      </p:sp>
      <p:sp>
        <p:nvSpPr>
          <p:cNvPr id="19" name="Shape 17"/>
          <p:cNvSpPr/>
          <p:nvPr/>
        </p:nvSpPr>
        <p:spPr>
          <a:xfrm>
            <a:off x="7774707" y="4736753"/>
            <a:ext cx="8455893" cy="9525"/>
          </a:xfrm>
          <a:prstGeom prst="rect">
            <a:avLst/>
          </a:prstGeom>
          <a:solidFill>
            <a:srgbClr val="261A1A">
              <a:alpha val="8000"/>
            </a:srgbClr>
          </a:solidFill>
          <a:ln/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8041407" y="4257675"/>
            <a:ext cx="8176170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13521"/>
              </a:lnSpc>
              <a:buNone/>
            </a:pPr>
            <a:r>
              <a:rPr lang="en-US" sz="2325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big is the problem here?</a:t>
            </a:r>
            <a:endParaRPr lang="en-US" sz="2325" dirty="0"/>
          </a:p>
        </p:txBody>
      </p:sp>
      <p:sp>
        <p:nvSpPr>
          <p:cNvPr id="21" name="Shape 19"/>
          <p:cNvSpPr/>
          <p:nvPr/>
        </p:nvSpPr>
        <p:spPr>
          <a:xfrm>
            <a:off x="1371600" y="5320605"/>
            <a:ext cx="4423023" cy="9525"/>
          </a:xfrm>
          <a:prstGeom prst="rect">
            <a:avLst/>
          </a:prstGeom>
          <a:solidFill>
            <a:srgbClr val="261A1A">
              <a:alpha val="8000"/>
            </a:srgbClr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1371600" y="4841528"/>
            <a:ext cx="4289014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13521"/>
              </a:lnSpc>
              <a:buNone/>
            </a:pPr>
            <a:r>
              <a:rPr lang="en-US" sz="2325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 to Care</a:t>
            </a:r>
            <a:endParaRPr lang="en-US" sz="2325" dirty="0"/>
          </a:p>
        </p:txBody>
      </p:sp>
      <p:sp>
        <p:nvSpPr>
          <p:cNvPr id="23" name="Shape 21"/>
          <p:cNvSpPr/>
          <p:nvPr/>
        </p:nvSpPr>
        <p:spPr>
          <a:xfrm>
            <a:off x="5794623" y="5320605"/>
            <a:ext cx="1980084" cy="9525"/>
          </a:xfrm>
          <a:prstGeom prst="rect">
            <a:avLst/>
          </a:prstGeom>
          <a:solidFill>
            <a:srgbClr val="261A1A">
              <a:alpha val="8000"/>
            </a:srgbClr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061323" y="4841528"/>
            <a:ext cx="1522884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13521"/>
              </a:lnSpc>
              <a:buNone/>
            </a:pPr>
            <a:r>
              <a:rPr lang="en-US" sz="2325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2325" dirty="0"/>
          </a:p>
        </p:txBody>
      </p:sp>
      <p:sp>
        <p:nvSpPr>
          <p:cNvPr id="25" name="Shape 23"/>
          <p:cNvSpPr/>
          <p:nvPr/>
        </p:nvSpPr>
        <p:spPr>
          <a:xfrm>
            <a:off x="7774707" y="5320605"/>
            <a:ext cx="8455893" cy="9525"/>
          </a:xfrm>
          <a:prstGeom prst="rect">
            <a:avLst/>
          </a:prstGeom>
          <a:solidFill>
            <a:srgbClr val="261A1A">
              <a:alpha val="8000"/>
            </a:srgbClr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8041407" y="4841528"/>
            <a:ext cx="8176170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13521"/>
              </a:lnSpc>
              <a:buNone/>
            </a:pPr>
            <a:r>
              <a:rPr lang="en-US" sz="2325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a found patient actually get treated?</a:t>
            </a:r>
            <a:endParaRPr lang="en-US" sz="2325" dirty="0"/>
          </a:p>
        </p:txBody>
      </p:sp>
      <p:sp>
        <p:nvSpPr>
          <p:cNvPr id="27" name="Shape 25"/>
          <p:cNvSpPr/>
          <p:nvPr/>
        </p:nvSpPr>
        <p:spPr>
          <a:xfrm>
            <a:off x="1371600" y="5904458"/>
            <a:ext cx="4423023" cy="9525"/>
          </a:xfrm>
          <a:prstGeom prst="rect">
            <a:avLst/>
          </a:prstGeom>
          <a:solidFill>
            <a:srgbClr val="261A1A">
              <a:alpha val="8000"/>
            </a:srgbClr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1371600" y="5425380"/>
            <a:ext cx="4289014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13521"/>
              </a:lnSpc>
              <a:buNone/>
            </a:pPr>
            <a:r>
              <a:rPr lang="en-US" sz="2325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 Determinants</a:t>
            </a:r>
            <a:endParaRPr lang="en-US" sz="2325" dirty="0"/>
          </a:p>
        </p:txBody>
      </p:sp>
      <p:sp>
        <p:nvSpPr>
          <p:cNvPr id="29" name="Shape 27"/>
          <p:cNvSpPr/>
          <p:nvPr/>
        </p:nvSpPr>
        <p:spPr>
          <a:xfrm>
            <a:off x="5794623" y="5904458"/>
            <a:ext cx="1980084" cy="9525"/>
          </a:xfrm>
          <a:prstGeom prst="rect">
            <a:avLst/>
          </a:prstGeom>
          <a:solidFill>
            <a:srgbClr val="261A1A">
              <a:alpha val="8000"/>
            </a:srgbClr>
          </a:solidFill>
          <a:ln/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6061323" y="5425380"/>
            <a:ext cx="1522884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13521"/>
              </a:lnSpc>
              <a:buNone/>
            </a:pPr>
            <a:r>
              <a:rPr lang="en-US" sz="2325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</a:t>
            </a:r>
            <a:endParaRPr lang="en-US" sz="2325" dirty="0"/>
          </a:p>
        </p:txBody>
      </p:sp>
      <p:sp>
        <p:nvSpPr>
          <p:cNvPr id="31" name="Shape 29"/>
          <p:cNvSpPr/>
          <p:nvPr/>
        </p:nvSpPr>
        <p:spPr>
          <a:xfrm>
            <a:off x="7774707" y="5904458"/>
            <a:ext cx="8455893" cy="9525"/>
          </a:xfrm>
          <a:prstGeom prst="rect">
            <a:avLst/>
          </a:prstGeom>
          <a:solidFill>
            <a:srgbClr val="261A1A">
              <a:alpha val="8000"/>
            </a:srgbClr>
          </a:solidFill>
          <a:ln/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8041407" y="5425380"/>
            <a:ext cx="8176170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13521"/>
              </a:lnSpc>
              <a:buNone/>
            </a:pPr>
            <a:r>
              <a:rPr lang="en-US" sz="2325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What’s causing the gap?</a:t>
            </a:r>
            <a:endParaRPr lang="en-US" sz="2325" dirty="0"/>
          </a:p>
        </p:txBody>
      </p:sp>
      <p:sp>
        <p:nvSpPr>
          <p:cNvPr id="33" name="Shape 31"/>
          <p:cNvSpPr/>
          <p:nvPr/>
        </p:nvSpPr>
        <p:spPr>
          <a:xfrm>
            <a:off x="1371600" y="6488311"/>
            <a:ext cx="4423023" cy="9525"/>
          </a:xfrm>
          <a:prstGeom prst="rect">
            <a:avLst/>
          </a:prstGeom>
          <a:solidFill>
            <a:srgbClr val="261A1A">
              <a:alpha val="8000"/>
            </a:srgbClr>
          </a:solidFill>
          <a:ln/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1371600" y="6009233"/>
            <a:ext cx="4289014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13521"/>
              </a:lnSpc>
              <a:buNone/>
            </a:pPr>
            <a:r>
              <a:rPr lang="en-US" sz="2325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Payer Landscape</a:t>
            </a:r>
            <a:endParaRPr lang="en-US" sz="2325" dirty="0"/>
          </a:p>
        </p:txBody>
      </p:sp>
      <p:sp>
        <p:nvSpPr>
          <p:cNvPr id="35" name="Shape 33"/>
          <p:cNvSpPr/>
          <p:nvPr/>
        </p:nvSpPr>
        <p:spPr>
          <a:xfrm>
            <a:off x="5794623" y="6488311"/>
            <a:ext cx="1980084" cy="9525"/>
          </a:xfrm>
          <a:prstGeom prst="rect">
            <a:avLst/>
          </a:prstGeom>
          <a:solidFill>
            <a:srgbClr val="261A1A">
              <a:alpha val="8000"/>
            </a:srgbClr>
          </a:solidFill>
          <a:ln/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6061323" y="6009233"/>
            <a:ext cx="1522884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13521"/>
              </a:lnSpc>
              <a:buNone/>
            </a:pPr>
            <a:r>
              <a:rPr lang="en-US" sz="2325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2325" dirty="0"/>
          </a:p>
        </p:txBody>
      </p:sp>
      <p:sp>
        <p:nvSpPr>
          <p:cNvPr id="37" name="Shape 35"/>
          <p:cNvSpPr/>
          <p:nvPr/>
        </p:nvSpPr>
        <p:spPr>
          <a:xfrm>
            <a:off x="7774707" y="6488311"/>
            <a:ext cx="8455893" cy="9525"/>
          </a:xfrm>
          <a:prstGeom prst="rect">
            <a:avLst/>
          </a:prstGeom>
          <a:solidFill>
            <a:srgbClr val="261A1A">
              <a:alpha val="8000"/>
            </a:srgbClr>
          </a:solidFill>
          <a:ln/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8041407" y="6009233"/>
            <a:ext cx="8176170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13521"/>
              </a:lnSpc>
              <a:buNone/>
            </a:pPr>
            <a:r>
              <a:rPr lang="en-US" sz="2325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pays — and what are their incentives?</a:t>
            </a:r>
            <a:endParaRPr lang="en-US" sz="2325" dirty="0"/>
          </a:p>
        </p:txBody>
      </p:sp>
      <p:sp>
        <p:nvSpPr>
          <p:cNvPr id="39" name="Shape 37"/>
          <p:cNvSpPr/>
          <p:nvPr/>
        </p:nvSpPr>
        <p:spPr>
          <a:xfrm>
            <a:off x="1371600" y="7072164"/>
            <a:ext cx="4423023" cy="9525"/>
          </a:xfrm>
          <a:prstGeom prst="rect">
            <a:avLst/>
          </a:prstGeom>
          <a:solidFill>
            <a:srgbClr val="261A1A">
              <a:alpha val="8000"/>
            </a:srgbClr>
          </a:solidFill>
          <a:ln/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1371600" y="6593086"/>
            <a:ext cx="4289014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13521"/>
              </a:lnSpc>
              <a:buNone/>
            </a:pPr>
            <a:r>
              <a:rPr lang="en-US" sz="2325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Commercial Readiness</a:t>
            </a:r>
            <a:endParaRPr lang="en-US" sz="2325" dirty="0"/>
          </a:p>
        </p:txBody>
      </p:sp>
      <p:sp>
        <p:nvSpPr>
          <p:cNvPr id="41" name="Shape 39"/>
          <p:cNvSpPr/>
          <p:nvPr/>
        </p:nvSpPr>
        <p:spPr>
          <a:xfrm>
            <a:off x="5794623" y="7072164"/>
            <a:ext cx="1980084" cy="9525"/>
          </a:xfrm>
          <a:prstGeom prst="rect">
            <a:avLst/>
          </a:prstGeom>
          <a:solidFill>
            <a:srgbClr val="261A1A">
              <a:alpha val="8000"/>
            </a:srgbClr>
          </a:solidFill>
          <a:ln/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6061323" y="6593086"/>
            <a:ext cx="1522884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13521"/>
              </a:lnSpc>
              <a:buNone/>
            </a:pPr>
            <a:r>
              <a:rPr lang="en-US" sz="2325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2325" dirty="0"/>
          </a:p>
        </p:txBody>
      </p:sp>
      <p:sp>
        <p:nvSpPr>
          <p:cNvPr id="43" name="Shape 41"/>
          <p:cNvSpPr/>
          <p:nvPr/>
        </p:nvSpPr>
        <p:spPr>
          <a:xfrm>
            <a:off x="7774707" y="7072164"/>
            <a:ext cx="8455893" cy="9525"/>
          </a:xfrm>
          <a:prstGeom prst="rect">
            <a:avLst/>
          </a:prstGeom>
          <a:solidFill>
            <a:srgbClr val="261A1A">
              <a:alpha val="8000"/>
            </a:srgbClr>
          </a:solidFill>
          <a:ln/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8041407" y="6593086"/>
            <a:ext cx="8176170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13521"/>
              </a:lnSpc>
              <a:buNone/>
            </a:pPr>
            <a:r>
              <a:rPr lang="en-US" sz="2325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easy is it to run a program here?</a:t>
            </a:r>
            <a:endParaRPr lang="en-US" sz="2325" dirty="0"/>
          </a:p>
        </p:txBody>
      </p:sp>
      <p:sp>
        <p:nvSpPr>
          <p:cNvPr id="45" name="Shape 43"/>
          <p:cNvSpPr/>
          <p:nvPr/>
        </p:nvSpPr>
        <p:spPr>
          <a:xfrm>
            <a:off x="1371600" y="7656016"/>
            <a:ext cx="4423023" cy="9525"/>
          </a:xfrm>
          <a:prstGeom prst="rect">
            <a:avLst/>
          </a:prstGeom>
          <a:solidFill>
            <a:srgbClr val="261A1A">
              <a:alpha val="8000"/>
            </a:srgbClr>
          </a:solidFill>
          <a:ln/>
        </p:spPr>
        <p:txBody>
          <a:bodyPr/>
          <a:p/>
        </p:txBody>
      </p:sp>
      <p:sp>
        <p:nvSpPr>
          <p:cNvPr id="46" name="Text 44"/>
          <p:cNvSpPr/>
          <p:nvPr/>
        </p:nvSpPr>
        <p:spPr>
          <a:xfrm>
            <a:off x="1371600" y="7176939"/>
            <a:ext cx="4289014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13521"/>
              </a:lnSpc>
              <a:buNone/>
            </a:pPr>
            <a:r>
              <a:rPr lang="en-US" sz="2325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Trajectory</a:t>
            </a:r>
            <a:endParaRPr lang="en-US" sz="2325" dirty="0"/>
          </a:p>
        </p:txBody>
      </p:sp>
      <p:sp>
        <p:nvSpPr>
          <p:cNvPr id="47" name="Shape 45"/>
          <p:cNvSpPr/>
          <p:nvPr/>
        </p:nvSpPr>
        <p:spPr>
          <a:xfrm>
            <a:off x="5794623" y="7656016"/>
            <a:ext cx="1980084" cy="9525"/>
          </a:xfrm>
          <a:prstGeom prst="rect">
            <a:avLst/>
          </a:prstGeom>
          <a:solidFill>
            <a:srgbClr val="261A1A">
              <a:alpha val="8000"/>
            </a:srgbClr>
          </a:solidFill>
          <a:ln/>
        </p:spPr>
        <p:txBody>
          <a:bodyPr/>
          <a:p/>
        </p:txBody>
      </p:sp>
      <p:sp>
        <p:nvSpPr>
          <p:cNvPr id="48" name="Text 46"/>
          <p:cNvSpPr/>
          <p:nvPr/>
        </p:nvSpPr>
        <p:spPr>
          <a:xfrm>
            <a:off x="6061323" y="7176939"/>
            <a:ext cx="1522884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13521"/>
              </a:lnSpc>
              <a:buNone/>
            </a:pPr>
            <a:r>
              <a:rPr lang="en-US" sz="2325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5%</a:t>
            </a:r>
            <a:endParaRPr lang="en-US" sz="2325" dirty="0"/>
          </a:p>
        </p:txBody>
      </p:sp>
      <p:sp>
        <p:nvSpPr>
          <p:cNvPr id="49" name="Shape 47"/>
          <p:cNvSpPr/>
          <p:nvPr/>
        </p:nvSpPr>
        <p:spPr>
          <a:xfrm>
            <a:off x="7774707" y="7656016"/>
            <a:ext cx="8455893" cy="9525"/>
          </a:xfrm>
          <a:prstGeom prst="rect">
            <a:avLst/>
          </a:prstGeom>
          <a:solidFill>
            <a:srgbClr val="261A1A">
              <a:alpha val="8000"/>
            </a:srgbClr>
          </a:solidFill>
          <a:ln/>
        </p:spPr>
        <p:txBody>
          <a:bodyPr/>
          <a:p/>
        </p:txBody>
      </p:sp>
      <p:sp>
        <p:nvSpPr>
          <p:cNvPr id="50" name="Text 48"/>
          <p:cNvSpPr/>
          <p:nvPr/>
        </p:nvSpPr>
        <p:spPr>
          <a:xfrm>
            <a:off x="8041407" y="7176939"/>
            <a:ext cx="8176170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13521"/>
              </a:lnSpc>
              <a:buNone/>
            </a:pPr>
            <a:r>
              <a:rPr lang="en-US" sz="2325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Growing or shrinking? (real 3-yr CDC trend)</a:t>
            </a:r>
            <a:endParaRPr lang="en-US" sz="2325" dirty="0"/>
          </a:p>
        </p:txBody>
      </p:sp>
      <p:sp>
        <p:nvSpPr>
          <p:cNvPr id="51" name="Text 49"/>
          <p:cNvSpPr/>
          <p:nvPr/>
        </p:nvSpPr>
        <p:spPr>
          <a:xfrm>
            <a:off x="1371600" y="8526661"/>
            <a:ext cx="11210085" cy="12391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just" indent="0" marL="0">
              <a:lnSpc>
                <a:spcPct val="174194"/>
              </a:lnSpc>
              <a:buNone/>
            </a:pPr>
            <a:r>
              <a:rPr lang="en-US" sz="2025" dirty="0">
                <a:solidFill>
                  <a:srgbClr val="211D1D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Skeptical of the weights? Good — live sliders re-weight any need-side dimension and the ranking holds (Spearman 0.97–0.99). Trajectory runs on the real +0.9pp national diabetes-prevalence trend (2020→2023 BRFSS) — measured data, not a proxy.</a:t>
            </a:r>
            <a:endParaRPr lang="en-US" sz="2025" dirty="0"/>
          </a:p>
        </p:txBody>
      </p:sp>
      <p:pic>
        <p:nvPicPr>
          <p:cNvPr id="5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990439" y="9771906"/>
            <a:ext cx="2925961" cy="15314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48978" y="1623417"/>
            <a:ext cx="6302181" cy="20151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3846"/>
              </a:lnSpc>
              <a:buNone/>
            </a:pPr>
            <a:r>
              <a:rPr lang="en-US" sz="5100" b="1" spc="-76" kern="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hot ZIPs to a rep’s Monday call list</a:t>
            </a:r>
            <a:endParaRPr lang="en-US" sz="5100" dirty="0"/>
          </a:p>
        </p:txBody>
      </p:sp>
      <p:sp>
        <p:nvSpPr>
          <p:cNvPr id="3" name="Text 1"/>
          <p:cNvSpPr/>
          <p:nvPr/>
        </p:nvSpPr>
        <p:spPr>
          <a:xfrm>
            <a:off x="1371600" y="4933429"/>
            <a:ext cx="6278880" cy="809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645"/>
              </a:lnSpc>
              <a:buNone/>
            </a:pPr>
            <a:r>
              <a:rPr lang="en-US" sz="2025" dirty="0">
                <a:solidFill>
                  <a:srgbClr val="0088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40% </a:t>
            </a:r>
            <a:pPr algn="l" indent="0" marL="0">
              <a:lnSpc>
                <a:spcPct val="130645"/>
              </a:lnSpc>
              <a:buNone/>
            </a:pPr>
            <a:r>
              <a:rPr lang="en-US" sz="2025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Geography </a:t>
            </a:r>
            <a:pPr algn="l" indent="0" marL="0">
              <a:lnSpc>
                <a:spcPct val="130645"/>
              </a:lnSpc>
              <a:buNone/>
            </a:pPr>
            <a:r>
              <a:rPr lang="en-US" sz="2025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ZIP opportunity percentile at the practice address</a:t>
            </a:r>
            <a:endParaRPr lang="en-US" sz="2025" dirty="0"/>
          </a:p>
        </p:txBody>
      </p:sp>
      <p:sp>
        <p:nvSpPr>
          <p:cNvPr id="4" name="Text 2"/>
          <p:cNvSpPr/>
          <p:nvPr/>
        </p:nvSpPr>
        <p:spPr>
          <a:xfrm>
            <a:off x="1371600" y="5933554"/>
            <a:ext cx="670560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645"/>
              </a:lnSpc>
              <a:buNone/>
            </a:pPr>
            <a:r>
              <a:rPr lang="en-US" sz="2025" dirty="0">
                <a:solidFill>
                  <a:srgbClr val="0088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 </a:t>
            </a:r>
            <a:pPr algn="l" indent="0" marL="0">
              <a:lnSpc>
                <a:spcPct val="130645"/>
              </a:lnSpc>
              <a:buNone/>
            </a:pPr>
            <a:r>
              <a:rPr lang="en-US" sz="2025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Reach </a:t>
            </a:r>
            <a:pPr algn="l" indent="0" marL="0">
              <a:lnSpc>
                <a:spcPct val="130645"/>
              </a:lnSpc>
              <a:buNone/>
            </a:pPr>
            <a:r>
              <a:rPr lang="en-US" sz="2025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Medicare panel size percentile</a:t>
            </a:r>
            <a:endParaRPr lang="en-US" sz="2025" dirty="0"/>
          </a:p>
        </p:txBody>
      </p:sp>
      <p:sp>
        <p:nvSpPr>
          <p:cNvPr id="5" name="Text 3"/>
          <p:cNvSpPr/>
          <p:nvPr/>
        </p:nvSpPr>
        <p:spPr>
          <a:xfrm>
            <a:off x="1371600" y="6547917"/>
            <a:ext cx="670560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645"/>
              </a:lnSpc>
              <a:buNone/>
            </a:pPr>
            <a:r>
              <a:rPr lang="en-US" sz="2025" dirty="0">
                <a:solidFill>
                  <a:srgbClr val="0088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 </a:t>
            </a:r>
            <a:pPr algn="l" indent="0" marL="0">
              <a:lnSpc>
                <a:spcPct val="130645"/>
              </a:lnSpc>
              <a:buNone/>
            </a:pPr>
            <a:r>
              <a:rPr lang="en-US" sz="2025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Burden </a:t>
            </a:r>
            <a:pPr algn="l" indent="0" marL="0">
              <a:lnSpc>
                <a:spcPct val="130645"/>
              </a:lnSpc>
              <a:buNone/>
            </a:pPr>
            <a:r>
              <a:rPr lang="en-US" sz="2025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share of panel already diabetic</a:t>
            </a:r>
            <a:endParaRPr lang="en-US" sz="2025" dirty="0"/>
          </a:p>
        </p:txBody>
      </p:sp>
      <p:sp>
        <p:nvSpPr>
          <p:cNvPr id="6" name="Text 4"/>
          <p:cNvSpPr/>
          <p:nvPr/>
        </p:nvSpPr>
        <p:spPr>
          <a:xfrm>
            <a:off x="1371600" y="7162279"/>
            <a:ext cx="6278880" cy="809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645"/>
              </a:lnSpc>
              <a:buNone/>
            </a:pPr>
            <a:r>
              <a:rPr lang="en-US" sz="2025" dirty="0">
                <a:solidFill>
                  <a:srgbClr val="0088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 </a:t>
            </a:r>
            <a:pPr algn="l" indent="0" marL="0">
              <a:lnSpc>
                <a:spcPct val="130645"/>
              </a:lnSpc>
              <a:buNone/>
            </a:pPr>
            <a:r>
              <a:rPr lang="en-US" sz="2025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 </a:t>
            </a:r>
            <a:pPr algn="l" indent="0" marL="0">
              <a:lnSpc>
                <a:spcPct val="130645"/>
              </a:lnSpc>
              <a:buNone/>
            </a:pPr>
            <a:r>
              <a:rPr lang="en-US" sz="2025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primary care owns the undiagnosed funnel</a:t>
            </a:r>
            <a:endParaRPr lang="en-US" sz="2025" dirty="0"/>
          </a:p>
        </p:txBody>
      </p:sp>
      <p:sp>
        <p:nvSpPr>
          <p:cNvPr id="7" name="Text 5"/>
          <p:cNvSpPr/>
          <p:nvPr/>
        </p:nvSpPr>
        <p:spPr>
          <a:xfrm>
            <a:off x="1371600" y="8638654"/>
            <a:ext cx="6278880" cy="1581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just" indent="0" marL="0">
              <a:lnSpc>
                <a:spcPct val="130645"/>
              </a:lnSpc>
              <a:buNone/>
            </a:pPr>
            <a:r>
              <a:rPr lang="en-US" sz="2025" dirty="0">
                <a:solidFill>
                  <a:srgbClr val="211D1D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row exports CRM-ready with a plain-language why. Public CMS aggregate data only — scores rank conversation value, never prescribing quality.</a:t>
            </a:r>
            <a:endParaRPr lang="en-US" sz="2025" dirty="0"/>
          </a:p>
        </p:txBody>
      </p:sp>
      <p:sp>
        <p:nvSpPr>
          <p:cNvPr id="8" name="Shape 6"/>
          <p:cNvSpPr/>
          <p:nvPr/>
        </p:nvSpPr>
        <p:spPr>
          <a:xfrm>
            <a:off x="8382000" y="1601912"/>
            <a:ext cx="8534400" cy="6082978"/>
          </a:xfrm>
          <a:prstGeom prst="roundRect">
            <a:avLst>
              <a:gd name="adj" fmla="val 1879"/>
            </a:avLst>
          </a:prstGeom>
          <a:solidFill>
            <a:srgbClr val="000000">
              <a:alpha val="4000"/>
            </a:srgbClr>
          </a:solidFill>
          <a:ln/>
        </p:spPr>
        <p:txBody>
          <a:bodyPr/>
          <a:p/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rcRect l="8904" r="8904" t="0" b="0"/>
          <a:stretch/>
        </p:blipFill>
        <p:spPr>
          <a:xfrm>
            <a:off x="8382000" y="1601912"/>
            <a:ext cx="8534400" cy="608297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382000" y="7913489"/>
            <a:ext cx="8790432" cy="809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645"/>
              </a:lnSpc>
              <a:buNone/>
            </a:pPr>
            <a:r>
              <a:rPr lang="en-US" sz="2025" i="1" dirty="0">
                <a:solidFill>
                  <a:srgbClr val="1F1E1C">
                    <a:alpha val="7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real row: “ZIP in top 6% of US opportunity; 1,840-bene panel, 68% diabetic; primary care.”</a:t>
            </a:r>
            <a:endParaRPr lang="en-US" sz="2025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90439" y="9771906"/>
            <a:ext cx="2925961" cy="15314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48978" y="1623417"/>
            <a:ext cx="6302181" cy="201513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3846"/>
              </a:lnSpc>
              <a:buNone/>
            </a:pPr>
            <a:r>
              <a:rPr lang="en-US" sz="5100" b="1" spc="-76" kern="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Campaign ROI, measured like a clinical trial</a:t>
            </a:r>
            <a:endParaRPr lang="en-US" sz="5100" dirty="0"/>
          </a:p>
        </p:txBody>
      </p:sp>
      <p:sp>
        <p:nvSpPr>
          <p:cNvPr id="3" name="Text 1"/>
          <p:cNvSpPr/>
          <p:nvPr/>
        </p:nvSpPr>
        <p:spPr>
          <a:xfrm>
            <a:off x="1371600" y="4933429"/>
            <a:ext cx="670560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645"/>
              </a:lnSpc>
              <a:buNone/>
            </a:pPr>
            <a:r>
              <a:rPr lang="en-US" sz="2025" dirty="0">
                <a:solidFill>
                  <a:srgbClr val="0088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</a:t>
            </a:r>
            <a:pPr algn="l" indent="0" marL="0">
              <a:lnSpc>
                <a:spcPct val="130645"/>
              </a:lnSpc>
              <a:buNone/>
            </a:pPr>
            <a:r>
              <a:rPr lang="en-US" sz="2025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campaign counties </a:t>
            </a:r>
            <a:pPr algn="l" indent="0" marL="0">
              <a:lnSpc>
                <a:spcPct val="130645"/>
              </a:lnSpc>
              <a:buNone/>
            </a:pPr>
            <a:r>
              <a:rPr lang="en-US" sz="2025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select or paste FIPS</a:t>
            </a:r>
            <a:endParaRPr lang="en-US" sz="2025" dirty="0"/>
          </a:p>
        </p:txBody>
      </p:sp>
      <p:sp>
        <p:nvSpPr>
          <p:cNvPr id="4" name="Text 2"/>
          <p:cNvSpPr/>
          <p:nvPr/>
        </p:nvSpPr>
        <p:spPr>
          <a:xfrm>
            <a:off x="1371600" y="5547792"/>
            <a:ext cx="6278880" cy="809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645"/>
              </a:lnSpc>
              <a:buNone/>
            </a:pPr>
            <a:r>
              <a:rPr lang="en-US" sz="2025" dirty="0">
                <a:solidFill>
                  <a:srgbClr val="0088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</a:t>
            </a:r>
            <a:pPr algn="l" indent="0" marL="0">
              <a:lnSpc>
                <a:spcPct val="130645"/>
              </a:lnSpc>
              <a:buNone/>
            </a:pPr>
            <a:r>
              <a:rPr lang="en-US" sz="2025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Auto-match controls </a:t>
            </a:r>
            <a:pPr algn="l" indent="0" marL="0">
              <a:lnSpc>
                <a:spcPct val="130645"/>
              </a:lnSpc>
              <a:buNone/>
            </a:pPr>
            <a:r>
              <a:rPr lang="en-US" sz="2025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k-nearest statistical twin counties</a:t>
            </a:r>
            <a:endParaRPr lang="en-US" sz="2025" dirty="0"/>
          </a:p>
        </p:txBody>
      </p:sp>
      <p:sp>
        <p:nvSpPr>
          <p:cNvPr id="5" name="Text 3"/>
          <p:cNvSpPr/>
          <p:nvPr/>
        </p:nvSpPr>
        <p:spPr>
          <a:xfrm>
            <a:off x="1371600" y="6547917"/>
            <a:ext cx="670560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645"/>
              </a:lnSpc>
              <a:buNone/>
            </a:pPr>
            <a:r>
              <a:rPr lang="en-US" sz="2025" dirty="0">
                <a:solidFill>
                  <a:srgbClr val="0088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</a:t>
            </a:r>
            <a:pPr algn="l" indent="0" marL="0">
              <a:lnSpc>
                <a:spcPct val="130645"/>
              </a:lnSpc>
              <a:buNone/>
            </a:pPr>
            <a:r>
              <a:rPr lang="en-US" sz="2025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Pre-register both lists </a:t>
            </a:r>
            <a:pPr algn="l" indent="0" marL="0">
              <a:lnSpc>
                <a:spcPct val="130645"/>
              </a:lnSpc>
              <a:buNone/>
            </a:pPr>
            <a:r>
              <a:rPr lang="en-US" sz="2025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locked before launch</a:t>
            </a:r>
            <a:endParaRPr lang="en-US" sz="2025" dirty="0"/>
          </a:p>
        </p:txBody>
      </p:sp>
      <p:sp>
        <p:nvSpPr>
          <p:cNvPr id="6" name="Text 4"/>
          <p:cNvSpPr/>
          <p:nvPr/>
        </p:nvSpPr>
        <p:spPr>
          <a:xfrm>
            <a:off x="1371600" y="7162279"/>
            <a:ext cx="670560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645"/>
              </a:lnSpc>
              <a:buNone/>
            </a:pPr>
            <a:r>
              <a:rPr lang="en-US" sz="2025" dirty="0">
                <a:solidFill>
                  <a:srgbClr val="0088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</a:t>
            </a:r>
            <a:pPr algn="l" indent="0" marL="0">
              <a:lnSpc>
                <a:spcPct val="130645"/>
              </a:lnSpc>
              <a:buNone/>
            </a:pPr>
            <a:r>
              <a:rPr lang="en-US" sz="2025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Diff-in-diff lift </a:t>
            </a:r>
            <a:pPr algn="l" indent="0" marL="0">
              <a:lnSpc>
                <a:spcPct val="130645"/>
              </a:lnSpc>
              <a:buNone/>
            </a:pPr>
            <a:r>
              <a:rPr lang="en-US" sz="2025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vs controls, bootstrap 95% CI</a:t>
            </a:r>
            <a:endParaRPr lang="en-US" sz="2025" dirty="0"/>
          </a:p>
        </p:txBody>
      </p:sp>
      <p:sp>
        <p:nvSpPr>
          <p:cNvPr id="7" name="Text 5"/>
          <p:cNvSpPr/>
          <p:nvPr/>
        </p:nvSpPr>
        <p:spPr>
          <a:xfrm>
            <a:off x="1371600" y="8252892"/>
            <a:ext cx="6278880" cy="11953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just" indent="0" marL="0">
              <a:lnSpc>
                <a:spcPct val="130645"/>
              </a:lnSpc>
              <a:buNone/>
            </a:pPr>
            <a:r>
              <a:rPr lang="en-US" sz="2025" dirty="0">
                <a:solidFill>
                  <a:srgbClr val="211D1D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Validated: recovers a known +1.5pp synthetic lift within ±0.3pp; a real-data placebo reads not significant — it refuses to hallucinate lift.</a:t>
            </a:r>
            <a:endParaRPr lang="en-US" sz="2025" dirty="0"/>
          </a:p>
        </p:txBody>
      </p:sp>
      <p:sp>
        <p:nvSpPr>
          <p:cNvPr id="8" name="Shape 6"/>
          <p:cNvSpPr/>
          <p:nvPr/>
        </p:nvSpPr>
        <p:spPr>
          <a:xfrm>
            <a:off x="8382000" y="2369790"/>
            <a:ext cx="8534400" cy="5547345"/>
          </a:xfrm>
          <a:prstGeom prst="roundRect">
            <a:avLst>
              <a:gd name="adj" fmla="val 2060"/>
            </a:avLst>
          </a:prstGeom>
          <a:solidFill>
            <a:srgbClr val="000000">
              <a:alpha val="4000"/>
            </a:srgbClr>
          </a:solidFill>
          <a:ln/>
        </p:spPr>
        <p:txBody>
          <a:bodyPr/>
          <a:p/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rcRect l="11538" r="11538" t="0" b="0"/>
          <a:stretch/>
        </p:blipFill>
        <p:spPr>
          <a:xfrm>
            <a:off x="8382000" y="2369790"/>
            <a:ext cx="8534400" cy="5547345"/>
          </a:xfrm>
          <a:prstGeom prst="rect">
            <a:avLst/>
          </a:prstGeom>
        </p:spPr>
      </p:pic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90439" y="9771906"/>
            <a:ext cx="2925961" cy="15314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48978" y="1623492"/>
            <a:ext cx="17124164" cy="4720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3846"/>
              </a:lnSpc>
              <a:buNone/>
            </a:pPr>
            <a:r>
              <a:rPr lang="en-US" sz="5100" b="1" spc="-76" kern="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Designed to survive your analysts</a:t>
            </a:r>
            <a:endParaRPr lang="en-US" sz="5100" dirty="0"/>
          </a:p>
        </p:txBody>
      </p:sp>
      <p:sp>
        <p:nvSpPr>
          <p:cNvPr id="3" name="Text 1"/>
          <p:cNvSpPr/>
          <p:nvPr/>
        </p:nvSpPr>
        <p:spPr>
          <a:xfrm>
            <a:off x="1371600" y="4019104"/>
            <a:ext cx="8046720" cy="2678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8341"/>
              </a:lnSpc>
              <a:buNone/>
            </a:pPr>
            <a:r>
              <a:rPr lang="en-US" sz="2700" b="1" spc="-40" kern="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60+ automated QA gates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371600" y="4533379"/>
            <a:ext cx="7534656" cy="12582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just" indent="0" marL="0">
              <a:lnSpc>
                <a:spcPct val="156522"/>
              </a:lnSpc>
              <a:buNone/>
            </a:pPr>
            <a:r>
              <a:rPr lang="en-US" sz="225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Fail-loudly data contracts on every pipeline — corrupt or degraded data cannot ship. Re-run live on the dashboard’s provenance page.</a:t>
            </a:r>
            <a:endParaRPr lang="en-US" sz="2250" dirty="0"/>
          </a:p>
        </p:txBody>
      </p:sp>
      <p:sp>
        <p:nvSpPr>
          <p:cNvPr id="5" name="Text 3"/>
          <p:cNvSpPr/>
          <p:nvPr/>
        </p:nvSpPr>
        <p:spPr>
          <a:xfrm>
            <a:off x="9601200" y="4019104"/>
            <a:ext cx="8046720" cy="2678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8341"/>
              </a:lnSpc>
              <a:buNone/>
            </a:pPr>
            <a:r>
              <a:rPr lang="en-US" sz="2700" b="1" spc="-40" kern="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Confidence grades A/B/C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601200" y="4533379"/>
            <a:ext cx="7534656" cy="12582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just" indent="0" marL="0">
              <a:lnSpc>
                <a:spcPct val="156522"/>
              </a:lnSpc>
              <a:buNone/>
            </a:pPr>
            <a:r>
              <a:rPr lang="en-US" sz="225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county graded on true pre-imputation source coverage: 3,123 A, 21 B. Low-coverage geographies can’t masquerade as corroborated.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1371600" y="6782246"/>
            <a:ext cx="8046720" cy="2678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8341"/>
              </a:lnSpc>
              <a:buNone/>
            </a:pPr>
            <a:r>
              <a:rPr lang="en-US" sz="2700" b="1" spc="-40" kern="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provenance page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1371600" y="7296522"/>
            <a:ext cx="7534656" cy="12582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just" indent="0" marL="0">
              <a:lnSpc>
                <a:spcPct val="156522"/>
              </a:lnSpc>
              <a:buNone/>
            </a:pPr>
            <a:r>
              <a:rPr lang="en-US" sz="225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Source, vintage, real coverage and refresh date for all 11 datasets — computed from the exact files behind the current session.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9601200" y="6782246"/>
            <a:ext cx="8046720" cy="2678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8341"/>
              </a:lnSpc>
              <a:buNone/>
            </a:pPr>
            <a:r>
              <a:rPr lang="en-US" sz="2700" b="1" spc="-40" kern="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black box anywhere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9601200" y="7296522"/>
            <a:ext cx="7534656" cy="12582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just" indent="0" marL="0">
              <a:lnSpc>
                <a:spcPct val="156522"/>
              </a:lnSpc>
              <a:buNone/>
            </a:pPr>
            <a:r>
              <a:rPr lang="en-US" sz="225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Percentile ranks, weight sensitivity exposed — and the seams disclosed: modeled payer mix and the hypothyroid proxy are labeled as such in the app.</a:t>
            </a:r>
            <a:endParaRPr lang="en-US" sz="225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990439" y="9771906"/>
            <a:ext cx="2925961" cy="15314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48978" y="1623492"/>
            <a:ext cx="17124164" cy="4720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3846"/>
              </a:lnSpc>
              <a:buNone/>
            </a:pPr>
            <a:r>
              <a:rPr lang="en-US" sz="5100" b="1" spc="-76" kern="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plays, one platform</a:t>
            </a:r>
            <a:endParaRPr lang="en-US" sz="5100" dirty="0"/>
          </a:p>
        </p:txBody>
      </p:sp>
      <p:sp>
        <p:nvSpPr>
          <p:cNvPr id="3" name="Text 1"/>
          <p:cNvSpPr/>
          <p:nvPr/>
        </p:nvSpPr>
        <p:spPr>
          <a:xfrm>
            <a:off x="1371600" y="4019104"/>
            <a:ext cx="4945380" cy="2678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8341"/>
              </a:lnSpc>
              <a:buNone/>
            </a:pPr>
            <a:r>
              <a:rPr lang="en-US" sz="2700" b="1" spc="-40" kern="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expansion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371600" y="4533379"/>
            <a:ext cx="4630674" cy="38300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just" indent="0" marL="0">
              <a:lnSpc>
                <a:spcPct val="156522"/>
              </a:lnSpc>
              <a:buNone/>
            </a:pPr>
            <a:r>
              <a:rPr lang="en-US" sz="225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Starr County, TX scores #1 of 3,144: 26% diabetes prevalence, a huge detection deficit. SPPF hands a GLP-1 brand 24 Priority counties, ZIP heatmaps, and the internists with 60–75% diabetic panels — before a claims dollar is spent.</a:t>
            </a:r>
            <a:endParaRPr lang="en-US" sz="2250" dirty="0"/>
          </a:p>
        </p:txBody>
      </p:sp>
      <p:sp>
        <p:nvSpPr>
          <p:cNvPr id="5" name="Text 3"/>
          <p:cNvSpPr/>
          <p:nvPr/>
        </p:nvSpPr>
        <p:spPr>
          <a:xfrm>
            <a:off x="6896100" y="4019104"/>
            <a:ext cx="4945380" cy="2678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8341"/>
              </a:lnSpc>
              <a:buNone/>
            </a:pPr>
            <a:r>
              <a:rPr lang="en-US" sz="2700" b="1" spc="-40" kern="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 Stars partnership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6896100" y="4533379"/>
            <a:ext cx="4630674" cy="38300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just" indent="0" marL="0">
              <a:lnSpc>
                <a:spcPct val="156522"/>
              </a:lnSpc>
              <a:buNone/>
            </a:pPr>
            <a:r>
              <a:rPr lang="en-US" sz="225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Counties with 40%+ MA penetration and high diagnosis gaps are co-funding opportunities: plans earn Stars and HEDIS credit for the screening pharma wants run. The payer view ranks them and sizes the dual-eligible upside.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12420600" y="4019104"/>
            <a:ext cx="4945380" cy="2678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8341"/>
              </a:lnSpc>
              <a:buNone/>
            </a:pPr>
            <a:r>
              <a:rPr lang="en-US" sz="2700" b="1" spc="-40" kern="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Territory design + proof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12420600" y="4533379"/>
            <a:ext cx="4630674" cy="33156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just" indent="0" marL="0">
              <a:lnSpc>
                <a:spcPct val="156522"/>
              </a:lnSpc>
              <a:buNone/>
            </a:pPr>
            <a:r>
              <a:rPr lang="en-US" sz="225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Territory Builder assembles rep geographies ZIP-by-ZIP; the measurement engine then proves last cycle’s diagnosis-rate lift to justify next cycle’s budget — a renewable engagement, not a one-off report.</a:t>
            </a:r>
            <a:endParaRPr lang="en-US" sz="225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990439" y="9771906"/>
            <a:ext cx="2925961" cy="15314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48978" y="1623492"/>
            <a:ext cx="17124164" cy="4720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3846"/>
              </a:lnSpc>
              <a:buNone/>
            </a:pPr>
            <a:r>
              <a:rPr lang="en-US" sz="5100" b="1" spc="-76" kern="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Upstream of claims — and better together</a:t>
            </a:r>
            <a:endParaRPr lang="en-US" sz="5100" dirty="0"/>
          </a:p>
        </p:txBody>
      </p:sp>
      <p:sp>
        <p:nvSpPr>
          <p:cNvPr id="3" name="Text 1"/>
          <p:cNvSpPr/>
          <p:nvPr/>
        </p:nvSpPr>
        <p:spPr>
          <a:xfrm>
            <a:off x="1371600" y="4019104"/>
            <a:ext cx="7983855" cy="2678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8341"/>
              </a:lnSpc>
              <a:buNone/>
            </a:pPr>
            <a:r>
              <a:rPr lang="en-US" sz="2700" b="1" spc="-40" kern="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Claims &amp; Rx analytics see…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171575" y="4533379"/>
            <a:ext cx="6372225" cy="17726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6522"/>
              </a:lnSpc>
              <a:buNone/>
            </a:pPr>
            <a:r>
              <a:rPr lang="en-US" sz="225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Diagnosed, treated patients</a:t>
            </a:r>
            <a:endParaRPr lang="en-US" sz="2250" dirty="0"/>
          </a:p>
          <a:p>
            <a:pPr algn="l" indent="0" marL="0">
              <a:lnSpc>
                <a:spcPct val="156522"/>
              </a:lnSpc>
              <a:buNone/>
            </a:pPr>
            <a:r>
              <a:rPr lang="en-US" sz="225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Rich longitudinal detail, patient-level</a:t>
            </a:r>
            <a:endParaRPr lang="en-US" sz="2250" dirty="0"/>
          </a:p>
          <a:p>
            <a:pPr algn="l" indent="0" marL="0">
              <a:lnSpc>
                <a:spcPct val="156522"/>
              </a:lnSpc>
              <a:buNone/>
            </a:pPr>
            <a:r>
              <a:rPr lang="en-US" sz="225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Post-diagnosis market-share battles</a:t>
            </a:r>
            <a:endParaRPr lang="en-US" sz="2250" dirty="0"/>
          </a:p>
          <a:p>
            <a:pPr algn="l" indent="0" marL="0">
              <a:lnSpc>
                <a:spcPct val="156522"/>
              </a:lnSpc>
              <a:buNone/>
            </a:pPr>
            <a:r>
              <a:rPr lang="en-US" sz="225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Licensing cost, DUAs, PHI governance</a:t>
            </a:r>
            <a:endParaRPr lang="en-US" sz="2250" dirty="0"/>
          </a:p>
        </p:txBody>
      </p:sp>
      <p:sp>
        <p:nvSpPr>
          <p:cNvPr id="5" name="Text 3"/>
          <p:cNvSpPr/>
          <p:nvPr/>
        </p:nvSpPr>
        <p:spPr>
          <a:xfrm>
            <a:off x="9658350" y="4019104"/>
            <a:ext cx="7983855" cy="2678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8341"/>
              </a:lnSpc>
              <a:buNone/>
            </a:pPr>
            <a:r>
              <a:rPr lang="en-US" sz="2700" b="1" spc="-40" kern="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SPPF sees…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458325" y="4533379"/>
            <a:ext cx="6372225" cy="22869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6522"/>
              </a:lnSpc>
              <a:buNone/>
            </a:pPr>
            <a:r>
              <a:rPr lang="en-US" sz="225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pre-diagnosis whitespace claims can’t</a:t>
            </a:r>
            <a:endParaRPr lang="en-US" sz="2250" dirty="0"/>
          </a:p>
          <a:p>
            <a:pPr algn="l" indent="0" marL="0">
              <a:lnSpc>
                <a:spcPct val="156522"/>
              </a:lnSpc>
              <a:buNone/>
            </a:pPr>
            <a:r>
              <a:rPr lang="en-US" sz="225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US geography, no sampling gaps</a:t>
            </a:r>
            <a:endParaRPr lang="en-US" sz="2250" dirty="0"/>
          </a:p>
          <a:p>
            <a:pPr algn="l" indent="0" marL="0">
              <a:lnSpc>
                <a:spcPct val="156522"/>
              </a:lnSpc>
              <a:buNone/>
            </a:pPr>
            <a:r>
              <a:rPr lang="en-US" sz="225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PHI, zero licensing, procurement-light</a:t>
            </a:r>
            <a:endParaRPr lang="en-US" sz="2250" dirty="0"/>
          </a:p>
          <a:p>
            <a:pPr algn="l" indent="0" marL="0">
              <a:lnSpc>
                <a:spcPct val="156522"/>
              </a:lnSpc>
              <a:buNone/>
            </a:pPr>
            <a:r>
              <a:rPr lang="en-US" sz="225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next diagnosed patient comes from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1371600" y="7581156"/>
            <a:ext cx="16011144" cy="181086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just" indent="0" marL="0">
              <a:lnSpc>
                <a:spcPct val="131707"/>
              </a:lnSpc>
              <a:buNone/>
            </a:pPr>
            <a:r>
              <a:rPr lang="en-US" sz="270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IQVIA asset — claims, LRx, OCE — starts after diagnosis: the product boundary, not a criticism. SPPF is the demand-generation layer upstream — it creates the diagnosed patients every downstream product then tracks, and claims verify the new diagnoses quarterly. A new SKU for an existing sales force.</a:t>
            </a:r>
            <a:endParaRPr lang="en-US" sz="27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860363" y="9771906"/>
            <a:ext cx="3056037" cy="15314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48978" y="1623492"/>
            <a:ext cx="17124164" cy="4720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3846"/>
              </a:lnSpc>
              <a:buNone/>
            </a:pPr>
            <a:r>
              <a:rPr lang="en-US" sz="5100" b="1" spc="-76" kern="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MVP is live. Here’s the roadmap.</a:t>
            </a:r>
            <a:endParaRPr lang="en-US" sz="5100" dirty="0"/>
          </a:p>
        </p:txBody>
      </p:sp>
      <p:sp>
        <p:nvSpPr>
          <p:cNvPr id="3" name="Text 1"/>
          <p:cNvSpPr/>
          <p:nvPr/>
        </p:nvSpPr>
        <p:spPr>
          <a:xfrm>
            <a:off x="1371600" y="4019104"/>
            <a:ext cx="4945380" cy="2424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745"/>
              </a:lnSpc>
              <a:buNone/>
            </a:pPr>
            <a:r>
              <a:rPr lang="en-US" sz="1800" b="1" spc="-40" kern="0" dirty="0">
                <a:solidFill>
                  <a:srgbClr val="0088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371600" y="4366320"/>
            <a:ext cx="2307431" cy="50958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8341"/>
              </a:lnSpc>
              <a:buNone/>
            </a:pPr>
            <a:r>
              <a:rPr lang="en-US" sz="2700" b="1" spc="-40" kern="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MVP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371600" y="5008066"/>
            <a:ext cx="4630674" cy="22869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just" indent="0" marL="0">
              <a:lnSpc>
                <a:spcPct val="156522"/>
              </a:lnSpc>
              <a:buNone/>
            </a:pPr>
            <a:r>
              <a:rPr lang="en-US" sz="225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11-view dashboard, 3,144 counties, 33,791 ZIPs, 411k HCPs, measurement engine, 35-test CI suite — all public data, open for audit.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6896100" y="4019104"/>
            <a:ext cx="4945380" cy="2424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745"/>
              </a:lnSpc>
              <a:buNone/>
            </a:pPr>
            <a:r>
              <a:rPr lang="en-US" sz="1800" b="1" spc="-40" kern="0" dirty="0">
                <a:solidFill>
                  <a:srgbClr val="0088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896100" y="4366320"/>
            <a:ext cx="3161054" cy="50958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8341"/>
              </a:lnSpc>
              <a:buNone/>
            </a:pPr>
            <a:r>
              <a:rPr lang="en-US" sz="2700" b="1" spc="-40" kern="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Condition modules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896100" y="5008066"/>
            <a:ext cx="4630674" cy="28013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just" indent="0" marL="0">
              <a:lnSpc>
                <a:spcPct val="156522"/>
              </a:lnSpc>
              <a:buNone/>
            </a:pPr>
            <a:r>
              <a:rPr lang="en-US" sz="225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condition with a silent pool: CKD (~90% of early stages undiagnosed), MASH, COPD, AFib, GLP-1-adjacent metabolic expansion — each a config file on the same engine.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12420600" y="4019104"/>
            <a:ext cx="4945380" cy="2424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7745"/>
              </a:lnSpc>
              <a:buNone/>
            </a:pPr>
            <a:r>
              <a:rPr lang="en-US" sz="1800" b="1" spc="-40" kern="0" dirty="0">
                <a:solidFill>
                  <a:srgbClr val="0088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420600" y="4366320"/>
            <a:ext cx="3018032" cy="8935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98341"/>
              </a:lnSpc>
              <a:buNone/>
            </a:pPr>
            <a:r>
              <a:rPr lang="en-US" sz="2700" b="1" spc="-40" kern="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Claims-sharpened measurement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12420600" y="5392043"/>
            <a:ext cx="4630674" cy="22869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just" indent="0" marL="0">
              <a:lnSpc>
                <a:spcPct val="156522"/>
              </a:lnSpc>
              <a:buNone/>
            </a:pPr>
            <a:r>
              <a:rPr lang="en-US" sz="225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Quarterly lift windows via claims integration, Veeva CRM push, and a formal validation study against NHANES measured-vs-reported ground truth.</a:t>
            </a:r>
            <a:endParaRPr lang="en-US" sz="225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860363" y="9771906"/>
            <a:ext cx="3056037" cy="15314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29630" y="1623417"/>
            <a:ext cx="16054373" cy="212809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3426"/>
              </a:lnSpc>
              <a:buNone/>
            </a:pPr>
            <a:r>
              <a:rPr lang="en-US" sz="9450" b="1" spc="-189" kern="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pilot brand. One condition. 90 days.</a:t>
            </a:r>
            <a:endParaRPr lang="en-US" sz="9450" dirty="0"/>
          </a:p>
        </p:txBody>
      </p:sp>
      <p:sp>
        <p:nvSpPr>
          <p:cNvPr id="3" name="Text 1"/>
          <p:cNvSpPr/>
          <p:nvPr/>
        </p:nvSpPr>
        <p:spPr>
          <a:xfrm>
            <a:off x="1371600" y="4113461"/>
            <a:ext cx="7847067" cy="15811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340"/>
              </a:lnSpc>
              <a:buNone/>
            </a:pPr>
            <a:r>
              <a:rPr lang="en-US" sz="3150" dirty="0">
                <a:solidFill>
                  <a:srgbClr val="211D1D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market opportunity assessment — 90 days to a measurable diagnosis-rate story.</a:t>
            </a:r>
            <a:endParaRPr lang="en-US" sz="3150" dirty="0"/>
          </a:p>
        </p:txBody>
      </p:sp>
      <p:sp>
        <p:nvSpPr>
          <p:cNvPr id="4" name="Text 2"/>
          <p:cNvSpPr/>
          <p:nvPr/>
        </p:nvSpPr>
        <p:spPr>
          <a:xfrm>
            <a:off x="1371600" y="6170861"/>
            <a:ext cx="12049125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645"/>
              </a:lnSpc>
              <a:buNone/>
            </a:pPr>
            <a:r>
              <a:rPr lang="en-US" sz="2025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 </a:t>
            </a:r>
            <a:pPr algn="l" indent="0" marL="0">
              <a:lnSpc>
                <a:spcPct val="130645"/>
              </a:lnSpc>
              <a:buNone/>
            </a:pPr>
            <a:r>
              <a:rPr lang="en-US" sz="2025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$25–75k market opportunity assessment, brand-director budget</a:t>
            </a:r>
            <a:endParaRPr lang="en-US" sz="2025" dirty="0"/>
          </a:p>
        </p:txBody>
      </p:sp>
      <p:sp>
        <p:nvSpPr>
          <p:cNvPr id="5" name="Text 3"/>
          <p:cNvSpPr/>
          <p:nvPr/>
        </p:nvSpPr>
        <p:spPr>
          <a:xfrm>
            <a:off x="1371600" y="6785223"/>
            <a:ext cx="12049125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645"/>
              </a:lnSpc>
              <a:buNone/>
            </a:pPr>
            <a:r>
              <a:rPr lang="en-US" sz="2025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Expand </a:t>
            </a:r>
            <a:pPr algn="l" indent="0" marL="0">
              <a:lnSpc>
                <a:spcPct val="130645"/>
              </a:lnSpc>
              <a:buNone/>
            </a:pPr>
            <a:r>
              <a:rPr lang="en-US" sz="2025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$150–400k/yr multi-brand platform license with quarterly measurement</a:t>
            </a:r>
            <a:endParaRPr lang="en-US" sz="2025" dirty="0"/>
          </a:p>
        </p:txBody>
      </p:sp>
      <p:sp>
        <p:nvSpPr>
          <p:cNvPr id="6" name="Text 4"/>
          <p:cNvSpPr/>
          <p:nvPr/>
        </p:nvSpPr>
        <p:spPr>
          <a:xfrm>
            <a:off x="1371600" y="7399586"/>
            <a:ext cx="12049125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645"/>
              </a:lnSpc>
              <a:buNone/>
            </a:pPr>
            <a:r>
              <a:rPr lang="en-US" sz="2025" b="1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Renew </a:t>
            </a:r>
            <a:pPr algn="l" indent="0" marL="0">
              <a:lnSpc>
                <a:spcPct val="130645"/>
              </a:lnSpc>
              <a:buNone/>
            </a:pPr>
            <a:r>
              <a:rPr lang="en-US" sz="2025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the measurement loop turns a report into a subscription</a:t>
            </a:r>
            <a:endParaRPr lang="en-US" sz="2025" dirty="0"/>
          </a:p>
        </p:txBody>
      </p:sp>
      <p:sp>
        <p:nvSpPr>
          <p:cNvPr id="7" name="Text 5"/>
          <p:cNvSpPr/>
          <p:nvPr/>
        </p:nvSpPr>
        <p:spPr>
          <a:xfrm>
            <a:off x="1371600" y="9105156"/>
            <a:ext cx="2848816" cy="1912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273"/>
              </a:lnSpc>
              <a:buNone/>
            </a:pPr>
            <a:r>
              <a:rPr lang="en-US" sz="1800" dirty="0">
                <a:solidFill>
                  <a:srgbClr val="211D1D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Zorawar Singh Nandwal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132883" y="9105156"/>
            <a:ext cx="145256" cy="1912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273"/>
              </a:lnSpc>
              <a:buNone/>
            </a:pPr>
            <a:r>
              <a:rPr lang="en-US" sz="1800" dirty="0">
                <a:solidFill>
                  <a:srgbClr val="211D1D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373389" y="9105156"/>
            <a:ext cx="3475747" cy="1912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273"/>
              </a:lnSpc>
              <a:buNone/>
            </a:pPr>
            <a:r>
              <a:rPr lang="en-US" sz="1800" dirty="0">
                <a:solidFill>
                  <a:srgbClr val="211D1D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zorawarnandwal@gmail.com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704609" y="9105156"/>
            <a:ext cx="145256" cy="1912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273"/>
              </a:lnSpc>
              <a:buNone/>
            </a:pPr>
            <a:r>
              <a:rPr lang="en-US" sz="1800" dirty="0">
                <a:solidFill>
                  <a:srgbClr val="211D1D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945115" y="9105156"/>
            <a:ext cx="5775067" cy="1912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273"/>
              </a:lnSpc>
              <a:buNone/>
            </a:pPr>
            <a:r>
              <a:rPr lang="en-US" sz="1800" dirty="0">
                <a:solidFill>
                  <a:srgbClr val="211D1D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github.com/zorawar91/silent-patient-pool-finder</a:t>
            </a:r>
            <a:endParaRPr lang="en-US" sz="18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316200" y="7113315"/>
            <a:ext cx="1600200" cy="1600200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5788208" y="8904015"/>
            <a:ext cx="1204392" cy="3923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5273"/>
              </a:lnSpc>
              <a:buNone/>
            </a:pPr>
            <a:r>
              <a:rPr lang="en-US" sz="1800" dirty="0">
                <a:solidFill>
                  <a:srgbClr val="211D1D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4410075" y="190500"/>
            <a:ext cx="609600" cy="152400"/>
          </a:xfrm>
          <a:prstGeom prst="rect">
            <a:avLst/>
          </a:prstGeom>
          <a:gradFill rotWithShape="1">
            <a:gsLst>
              <a:gs pos="0">
                <a:srgbClr val="0088B0">
                  <a:alpha val="100000"/>
                </a:srgbClr>
              </a:gs>
              <a:gs pos="25000">
                <a:srgbClr val="0088B0">
                  <a:alpha val="100000"/>
                </a:srgbClr>
              </a:gs>
              <a:gs pos="25000">
                <a:srgbClr val="D6006C">
                  <a:alpha val="100000"/>
                </a:srgbClr>
              </a:gs>
              <a:gs pos="50000">
                <a:srgbClr val="D6006C">
                  <a:alpha val="100000"/>
                </a:srgbClr>
              </a:gs>
              <a:gs pos="50000">
                <a:srgbClr val="EDBB00">
                  <a:alpha val="100000"/>
                </a:srgbClr>
              </a:gs>
              <a:gs pos="75000">
                <a:srgbClr val="EDBB00">
                  <a:alpha val="100000"/>
                </a:srgbClr>
              </a:gs>
              <a:gs pos="75000">
                <a:srgbClr val="201E1D">
                  <a:alpha val="100000"/>
                </a:srgbClr>
              </a:gs>
            </a:gsLst>
            <a:lin ang="0" scaled="0"/>
          </a:gradFill>
          <a:ln/>
        </p:spPr>
        <p:txBody>
          <a:bodyPr/>
          <a:p/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3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48978" y="1623492"/>
            <a:ext cx="17124164" cy="4720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3846"/>
              </a:lnSpc>
              <a:buNone/>
            </a:pPr>
            <a:r>
              <a:rPr lang="en-US" sz="5100" b="1" spc="-76" kern="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— the two hardest questions</a:t>
            </a:r>
            <a:endParaRPr lang="en-US" sz="5100" dirty="0"/>
          </a:p>
        </p:txBody>
      </p:sp>
      <p:sp>
        <p:nvSpPr>
          <p:cNvPr id="3" name="Text 1"/>
          <p:cNvSpPr/>
          <p:nvPr/>
        </p:nvSpPr>
        <p:spPr>
          <a:xfrm>
            <a:off x="1371600" y="4019104"/>
            <a:ext cx="7983855" cy="2678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8341"/>
              </a:lnSpc>
              <a:buNone/>
            </a:pPr>
            <a:r>
              <a:rPr lang="en-US" sz="2700" b="1" spc="-40" kern="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“Isn’t this just demand creation?”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371600" y="4533379"/>
            <a:ext cx="7475792" cy="43443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just" indent="0" marL="0">
              <a:lnSpc>
                <a:spcPct val="156522"/>
              </a:lnSpc>
              <a:buNone/>
            </a:pPr>
            <a:r>
              <a:rPr lang="en-US" sz="225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Undiagnosed T2D and hypertension cause strokes, amputations and dialysis — every year of delayed diagnosis costs the patient and the health system more. SPPF targets screening programs, not prescriptions: payer partnerships, community health centers, pharmacy screening. And the measurement engine holds campaigns accountable for diagnosis-rate lift — not scripts. The commercial incentive and the public-health good point the same direction.</a:t>
            </a:r>
            <a:endParaRPr lang="en-US" sz="2250" dirty="0"/>
          </a:p>
        </p:txBody>
      </p:sp>
      <p:sp>
        <p:nvSpPr>
          <p:cNvPr id="5" name="Text 3"/>
          <p:cNvSpPr/>
          <p:nvPr/>
        </p:nvSpPr>
        <p:spPr>
          <a:xfrm>
            <a:off x="9658350" y="4019104"/>
            <a:ext cx="7983855" cy="2678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8341"/>
              </a:lnSpc>
              <a:buNone/>
            </a:pPr>
            <a:r>
              <a:rPr lang="en-US" sz="2700" b="1" spc="-40" kern="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“Is this diagnosing patients?”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658350" y="4533379"/>
            <a:ext cx="7475792" cy="38300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just" indent="0" marL="0">
              <a:lnSpc>
                <a:spcPct val="156522"/>
              </a:lnSpc>
              <a:buNone/>
            </a:pPr>
            <a:r>
              <a:rPr lang="en-US" sz="225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— and it can’t, by design. SPPF is a population-level planning tool, not a clinical diagnostic instrument. It never sees an individual patient: all eleven datasets are aggregate, county- or ZIP-level public data. It answers where screening effort will find the most undiagnosed people; every actual diagnosis happens through a licensed clinician, in the normal standard of care.</a:t>
            </a:r>
            <a:endParaRPr lang="en-US" sz="225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860363" y="9771906"/>
            <a:ext cx="3056037" cy="15314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48978" y="1623492"/>
            <a:ext cx="17124164" cy="4720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3846"/>
              </a:lnSpc>
              <a:buNone/>
            </a:pPr>
            <a:r>
              <a:rPr lang="en-US" sz="5100" b="1" spc="-76" kern="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Does the score beat a spreadsheet?</a:t>
            </a:r>
            <a:endParaRPr lang="en-US" sz="5100" dirty="0"/>
          </a:p>
        </p:txBody>
      </p:sp>
      <p:sp>
        <p:nvSpPr>
          <p:cNvPr id="3" name="Text 1"/>
          <p:cNvSpPr/>
          <p:nvPr/>
        </p:nvSpPr>
        <p:spPr>
          <a:xfrm>
            <a:off x="1371600" y="4019104"/>
            <a:ext cx="8046720" cy="2678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8341"/>
              </a:lnSpc>
              <a:buNone/>
            </a:pPr>
            <a:r>
              <a:rPr lang="en-US" sz="2700" b="1" spc="-40" kern="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Lift over a naive baseline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371600" y="4533379"/>
            <a:ext cx="7534656" cy="12582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just" indent="0" marL="0">
              <a:lnSpc>
                <a:spcPct val="156522"/>
              </a:lnSpc>
              <a:buNone/>
            </a:pPr>
            <a:r>
              <a:rPr lang="en-US" sz="225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number is reported against the 5-minute Excel version — rank by population × prevalence. Ranking is judged on Spearman ρ; the model earns its keep only if it beats that. Δρ = [ __ ].</a:t>
            </a:r>
            <a:endParaRPr lang="en-US" sz="2250" dirty="0"/>
          </a:p>
        </p:txBody>
      </p:sp>
      <p:sp>
        <p:nvSpPr>
          <p:cNvPr id="5" name="Text 3"/>
          <p:cNvSpPr/>
          <p:nvPr/>
        </p:nvSpPr>
        <p:spPr>
          <a:xfrm>
            <a:off x="9601200" y="4019104"/>
            <a:ext cx="8046720" cy="2678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8341"/>
              </a:lnSpc>
              <a:buNone/>
            </a:pPr>
            <a:r>
              <a:rPr lang="en-US" sz="2700" b="1" spc="-40" kern="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Temporal out-of-time test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601200" y="4533379"/>
            <a:ext cx="7534656" cy="12582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just" indent="0" marL="0">
              <a:lnSpc>
                <a:spcPct val="156522"/>
              </a:lnSpc>
              <a:buNone/>
            </a:pPr>
            <a:r>
              <a:rPr lang="en-US" sz="225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frozen on the old PLACES vintage predicts the diagnosis-gap move in the new one — coherence, not curve-fitting. Runs today on repo data. ρ = [ __ ] vs baseline [ __ ].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1371600" y="6782246"/>
            <a:ext cx="8046720" cy="2678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8341"/>
              </a:lnSpc>
              <a:buNone/>
            </a:pPr>
            <a:r>
              <a:rPr lang="en-US" sz="2700" b="1" spc="-40" kern="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Predicts a source it never saw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1371600" y="7296522"/>
            <a:ext cx="7534656" cy="12582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just" indent="0" marL="0">
              <a:lnSpc>
                <a:spcPct val="156522"/>
              </a:lnSpc>
              <a:buNone/>
            </a:pPr>
            <a:r>
              <a:rPr lang="en-US" sz="225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Held out USRDS CKD prevalence — never ingested — and the composite still tracks it. A model, not a restatement of its own inputs. ρ = [ __ ] vs baseline [ __ ].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9601200" y="6782246"/>
            <a:ext cx="8046720" cy="2678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8341"/>
              </a:lnSpc>
              <a:buNone/>
            </a:pPr>
            <a:r>
              <a:rPr lang="en-US" sz="2700" b="1" spc="-40" kern="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than a poverty map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9601200" y="7296522"/>
            <a:ext cx="7534656" cy="12582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just" indent="0" marL="0">
              <a:lnSpc>
                <a:spcPct val="156522"/>
              </a:lnSpc>
              <a:buNone/>
            </a:pPr>
            <a:r>
              <a:rPr lang="en-US" sz="225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Diagnosis Gap adds independent signal over an SDoH-only model: ΔR² = [ __ ]. If it added nothing, the honest read is “a well-built access map.” The test is built to be able to fail.</a:t>
            </a:r>
            <a:endParaRPr lang="en-US" sz="2250" dirty="0"/>
          </a:p>
        </p:txBody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990439" y="9771906"/>
            <a:ext cx="2925961" cy="15314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3F2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348978" y="1623492"/>
            <a:ext cx="17124164" cy="4720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3846"/>
              </a:lnSpc>
              <a:buNone/>
            </a:pPr>
            <a:r>
              <a:rPr lang="en-US" sz="5100" b="1" spc="-76" kern="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— if the analysts push harder</a:t>
            </a:r>
            <a:endParaRPr lang="en-US" sz="5100" dirty="0"/>
          </a:p>
        </p:txBody>
      </p:sp>
      <p:sp>
        <p:nvSpPr>
          <p:cNvPr id="3" name="Text 1"/>
          <p:cNvSpPr/>
          <p:nvPr/>
        </p:nvSpPr>
        <p:spPr>
          <a:xfrm>
            <a:off x="1371600" y="4019104"/>
            <a:ext cx="7983855" cy="2678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8341"/>
              </a:lnSpc>
              <a:buNone/>
            </a:pPr>
            <a:r>
              <a:rPr lang="en-US" sz="2700" b="1" spc="-40" kern="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“Aren’t you just rediscovering poverty?”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1371600" y="4533379"/>
            <a:ext cx="7475792" cy="434436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just" indent="0" marL="0">
              <a:lnSpc>
                <a:spcPct val="156522"/>
              </a:lnSpc>
              <a:buNone/>
            </a:pPr>
            <a:r>
              <a:rPr lang="en-US" sz="225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No. Fit an SDoH-only baseline, then add the Diagnosis Gap dimension: it carries independent predictive value — ΔR² = [ __ ], partial r = [ __ ] controlling for social determinants. High-opportunity is not the same as high-deprivation; the gap dimension moves the ranking on its own. And every number is reported as lift over a population × prevalence baseline, so the composite must beat the naive map to survive at all. If it doesn’t on your data, that is a finding we report — not one we bury.</a:t>
            </a:r>
            <a:endParaRPr lang="en-US" sz="2250" dirty="0"/>
          </a:p>
        </p:txBody>
      </p:sp>
      <p:sp>
        <p:nvSpPr>
          <p:cNvPr id="5" name="Text 3"/>
          <p:cNvSpPr/>
          <p:nvPr/>
        </p:nvSpPr>
        <p:spPr>
          <a:xfrm>
            <a:off x="9658350" y="4019104"/>
            <a:ext cx="7983855" cy="2678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8341"/>
              </a:lnSpc>
              <a:buNone/>
            </a:pPr>
            <a:r>
              <a:rPr lang="en-US" sz="2700" b="1" spc="-40" kern="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“Can we trust the undiagnosed number?”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658350" y="4533379"/>
            <a:ext cx="7475792" cy="38300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just" indent="0" marL="0">
              <a:lnSpc>
                <a:spcPct val="156522"/>
              </a:lnSpc>
              <a:buNone/>
            </a:pPr>
            <a:r>
              <a:rPr lang="en-US" sz="2250" dirty="0">
                <a:solidFill>
                  <a:srgbClr val="201E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Treat it as an interval, never a point: population × prevalence × (1 − diagnosis-rate proxy) × published undiagnosis rate, shown as a low–central–high band (e.g. 38k–52k, central 45k). The absolute count is labeled directional; the ranking is the robust deliverable. A backdated IQVIA claims cut then calibrates the count to real local diagnosis rates and runs one falsifiable test: does the public-data prioritization predict where diagnoses actually landed? If Δρ ≤ 0, the undiagnosed-targeting thesis is not supported — and we say so.</a:t>
            </a:r>
            <a:endParaRPr lang="en-US" sz="225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860363" y="9771906"/>
            <a:ext cx="3056037" cy="15314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2026-07-13T05:35:04Z</dcterms:created>
  <dcterms:modified xsi:type="dcterms:W3CDTF">2026-07-13T05:35:04Z</dcterms:modified>
</cp:coreProperties>
</file>