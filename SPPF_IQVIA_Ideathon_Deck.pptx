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Open: every chronic-disease brand fights over the same diagnosed patients. The bigger market is the one nobody can see — because undiagnosed patients generate no claims. SPPF finds them geographically, then tells you which prescribers to talk to, then measures whether it worked.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the numbers: CDC-published undiagnosis rates — 23% of T2D is undiagnosed, ~50% of hypothyroidism. These patients cost health systems more each year they stay invisible, and for pharma they are the only genuinely uncontested market left in chronic disease.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trick: undiagnosed disease leaves population-level fingerprints — high obesity + low checkup rates + Medicare cohorts diagnosing less than demographically identical peers + poverty + food deserts. Each signal is weak alone; seven dimensions together are highly discriminating.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down the funnel: a brand director thinks in markets (counties), a field ops lead thinks in territories (ZIPs), a rep thinks in call lists (NPIs). SPPF speaks all three languages from the same scoring engine, so the numbers reconcile at every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Diagnosis Gap carries the heaviest weight because it IS the addressable market. Trajectory is a tiebreaker. The sensitivity panel is the anti-black-box move: let their analyst break the weighting and watch the answer not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converts field-force people. The demo moment: filter to their state, export the CSV live. Top targets nationally sit in the Rio Grande Valley, the Bronx, Memphis — internists with 60-75% diabetic Medicare panels in top-percentile ZIPs.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honest limitation, stated proudly: outcome windows follow CDC release cycles (~3 years), so this measures multi-year campaigns. Claims integration — where IQVIA comes in — tightens the window to quarters. That's the partnership pitch.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check class here corresponds to a real bug we found and killed during the platform audit — wrong Census columns, comma-mangled CMS numerics, CDC's rolling dataset IDs. The QA gate caught the last one in production before it shipped. If a judge asks 'what's the weakest part of your data?', the scripted answer: 'Payer mix beyond MA penetration is modeled, and hypothyroidism is a proxy — both labeled as such in the app. That's why the provenance page exists: we'd rather show you the seams than have you find them.' Honesty as a feature. Also know cold: pool estimates apply uniform national undiagnosis rates; Diagnosis Gap currently runs on its CDC-only fallback (full CMS GV PUF endpoint is a data-refresh roadmap item — the code supports it already); ZIP payer/trajectory dims are county downscales; dimension and specialty-fit weights are judgment calls defended by the live sensitivity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GLP-1 story — most topical budget in pharma. The Starr County numbers are real and verifiable live in the dashboard. Use case 3 is the renewal engine: measurement turns a report into a subscription.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carefully for the IQVIA room: this is not a claims-data replacement — it's the demand-generation layer upstream of every claims product they sell. SPPF creates the diagnosed patients that claims analytics then tracks. Natural fit as an IQVIA offering for launch and market-expansion teams.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ask, small and concrete: one pilot brand assessment. Everything shown today runs live — offer to demo any view on request. The repo is open for their technical diligence.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645920"/>
            <a:ext cx="4937760" cy="4937760"/>
          </a:xfrm>
          <a:prstGeom prst="ellipse">
            <a:avLst/>
          </a:prstGeom>
          <a:solidFill>
            <a:srgbClr val="2A3670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566160"/>
            <a:ext cx="3108960" cy="3108960"/>
          </a:xfrm>
          <a:prstGeom prst="ellipse">
            <a:avLst/>
          </a:prstGeom>
          <a:solidFill>
            <a:srgbClr val="2A3670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713232"/>
            <a:ext cx="777240" cy="77724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466" y="899770"/>
            <a:ext cx="404165" cy="4041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73736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SILENT PATIENT POOL FINDER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66928" y="24871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</a:rPr>
              <a:t>Finding the patients your claims data can't see.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66928" y="310896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4E8"/>
                </a:solidFill>
              </a:rPr>
              <a:t>County → ZIP → Prescriber intelligence for undiagnosed chronic disease,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9FB4E8"/>
                </a:solidFill>
              </a:rPr>
              <a:t>built entirely on public, PHI-free data — with campaign ROI measurement built in.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66928" y="4434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IQVIA Ideathon · MVP Demo      </a:t>
            </a:r>
            <a:pPr indent="0" marL="0">
              <a:buNone/>
            </a:pPr>
            <a:r>
              <a:rPr lang="en-US" sz="1300" dirty="0">
                <a:solidFill>
                  <a:srgbClr val="9FB4E8"/>
                </a:solidFill>
              </a:rPr>
              <a:t>Zoraawar Nandwal · July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A9D8F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2E"/>
                </a:solidFill>
              </a:rPr>
              <a:t>The biggest patient pool generates zero claims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606040" cy="160020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53619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76F51"/>
                </a:solidFill>
              </a:rPr>
              <a:t>8.7M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85800" y="22402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8"/>
                </a:solidFill>
              </a:rPr>
              <a:t>US adults with undiagnosed Type 2 Diabetes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371600"/>
            <a:ext cx="2606040" cy="160020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53619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76F51"/>
                </a:solidFill>
              </a:rPr>
              <a:t>34.9M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474720" y="22402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8"/>
                </a:solidFill>
              </a:rPr>
              <a:t>US adults with undiagnosed or uncontrolled hypertension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0760" y="1371600"/>
            <a:ext cx="2606040" cy="160020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80760" y="153619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76F51"/>
                </a:solidFill>
              </a:rPr>
              <a:t>2.1M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263640" y="22402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8"/>
                </a:solidFill>
              </a:rPr>
              <a:t>US adults with undiagnosed hypothyroidism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2461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Claims analytics can't reach them — by definition. </a:t>
            </a:r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</a:rPr>
              <a:t>No diagnosis code, no prescription, no claim. Traditional targeting (Rx data, claims cohorts, physician decile lists) starts after a patient enters the system. The commercial question every metabolic, cardiovascular and thyroid franchise faces is upstream of all of that: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4114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1E2761"/>
                </a:solidFill>
              </a:rPr>
              <a:t>“Where are the patients who should be diagnosed but aren't — and who will find them?”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A9D8F"/>
                </a:solidFill>
              </a:rPr>
              <a:t>THE INSIGHT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2E"/>
                </a:solidFill>
              </a:rPr>
              <a:t>Invisible individually — loud in aggregate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651760" cy="2286000"/>
          </a:xfrm>
          <a:prstGeom prst="roundRect">
            <a:avLst>
              <a:gd name="adj" fmla="val 2800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7048" y="1691640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1889" y="1836481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377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1A2E"/>
                </a:solidFill>
              </a:rPr>
              <a:t>11 public datasets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04088" y="2852928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</a:rPr>
              <a:t>CDC PLACES · Census ACS · CMS Medicare · HRSA · USDA · County Health Rankings — zero PHI, zero data licensing cost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118104" y="23317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</a:rPr>
              <a:t>→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3383280" y="1463040"/>
            <a:ext cx="2651760" cy="2286000"/>
          </a:xfrm>
          <a:prstGeom prst="roundRect">
            <a:avLst>
              <a:gd name="adj" fmla="val 2800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07408" y="1691640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2249" y="1836481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2377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1A2E"/>
                </a:solidFill>
              </a:rPr>
              <a:t>7-dimension scoring engine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584448" y="2852928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</a:rPr>
              <a:t>Disease burden · diagnosis gap · access · SDoH · payer mix · commercial readiness · trajectory — every US geography, 0–100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998464" y="23317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</a:rPr>
              <a:t>→</a:t>
            </a:r>
            <a:endParaRPr lang="en-US" sz="2400" dirty="0"/>
          </a:p>
        </p:txBody>
      </p:sp>
      <p:sp>
        <p:nvSpPr>
          <p:cNvPr id="16" name="Shape 12"/>
          <p:cNvSpPr/>
          <p:nvPr/>
        </p:nvSpPr>
        <p:spPr>
          <a:xfrm>
            <a:off x="6263640" y="1463040"/>
            <a:ext cx="2651760" cy="2286000"/>
          </a:xfrm>
          <a:prstGeom prst="roundRect">
            <a:avLst>
              <a:gd name="adj" fmla="val 2800"/>
            </a:avLst>
          </a:prstGeom>
          <a:solidFill>
            <a:srgbClr val="EAF6F4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287768" y="1691640"/>
            <a:ext cx="603504" cy="603504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2609" y="1836481"/>
            <a:ext cx="313822" cy="31382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00800" y="2377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1A2E"/>
                </a:solidFill>
              </a:rPr>
              <a:t>Actionable outputs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6464808" y="2852928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</a:rPr>
              <a:t>Ranked geographies → prescriber call lists → pre-registered campaign measurement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502920" y="4069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The compliance story is the moat: </a:t>
            </a:r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</a:rPr>
              <a:t>no patient-level data at any stage means no HIPAA exposure, no data-use agreements, no procurement friction — and a marginal data cost of zero.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A9D8F"/>
                </a:solidFill>
              </a:rPr>
              <a:t>THE PLATFORM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2E"/>
                </a:solidFill>
              </a:rPr>
              <a:t>Three resolutions: market → territory → prescriber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3931920" cy="1024128"/>
          </a:xfrm>
          <a:prstGeom prst="roundRect">
            <a:avLst>
              <a:gd name="adj" fmla="val 6250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08176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A9D8F"/>
                </a:solidFill>
              </a:rPr>
              <a:t>3,144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19019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</a:rPr>
              <a:t>US counties scored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148840" y="1408176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</a:rPr>
              <a:t>7 dimensions + opportunity percentile + data-confidence grade (A/B/C)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2468880"/>
            <a:ext cx="3931920" cy="1024128"/>
          </a:xfrm>
          <a:prstGeom prst="roundRect">
            <a:avLst>
              <a:gd name="adj" fmla="val 6250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57860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A9D8F"/>
                </a:solidFill>
              </a:rPr>
              <a:t>33,791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640080" y="307238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</a:rPr>
              <a:t>ZIP codes scored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148840" y="2578608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</a:rPr>
              <a:t>ZCTA-level CDC + Census data, county signals downscaled via Census crosswalk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3639312"/>
            <a:ext cx="3931920" cy="1024128"/>
          </a:xfrm>
          <a:prstGeom prst="roundRect">
            <a:avLst>
              <a:gd name="adj" fmla="val 6250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7490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A9D8F"/>
                </a:solidFill>
              </a:rPr>
              <a:t>411,115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640080" y="424281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</a:rPr>
              <a:t>prescribers ranked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148840" y="3749040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</a:rPr>
              <a:t>CMS Medicare panel data — 20,612 Priority-tier NPIs with rep-ready rationale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09160" y="1298448"/>
            <a:ext cx="3977640" cy="3383280"/>
          </a:xfrm>
          <a:prstGeom prst="roundRect">
            <a:avLst>
              <a:gd name="adj" fmla="val 1622"/>
            </a:avLst>
          </a:prstGeom>
          <a:solidFill>
            <a:srgbClr val="EDF2FA"/>
          </a:solidFill>
          <a:ln w="19050">
            <a:solidFill>
              <a:srgbClr val="2A9D8F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846320" y="1298448"/>
            <a:ext cx="37033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[ SCREENSHOT GOES HERE ]</a:t>
            </a:r>
            <a:endParaRPr lang="en-US" sz="130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A9D8F"/>
                </a:solidFill>
              </a:rPr>
              <a:t>Dashboard ▸ Geographic Intelligence (US opportunity map)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6478"/>
                </a:solidFill>
              </a:rPr>
              <a:t>Run: python3 -m streamlit run src/output/dashboard.py → open Geographic Intelligence → wait for choropleth to render → screenshot the full map with the color legend visible. Replace this box (keep roughly 4.3 × 3.7).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4736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8"/>
                </a:solidFill>
              </a:rPr>
              <a:t>One pipeline, one afternoon of compute, every US geography — refreshed with each public data release.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A9D8F"/>
                </a:solidFill>
              </a:rPr>
              <a:t>SCORING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2E"/>
                </a:solidFill>
              </a:rPr>
              <a:t>Seven questions, answered per geography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4041648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30936" y="1344168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30936" y="13441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20%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88720" y="12984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Disease Burden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5727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78"/>
                </a:solidFill>
              </a:rPr>
              <a:t>How big is the problem here?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27448" y="1207008"/>
            <a:ext cx="4041648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55464" y="1344168"/>
            <a:ext cx="438912" cy="43891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4855464" y="13441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25%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13248" y="12984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Diagnosis Gap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13248" y="15727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78"/>
                </a:solidFill>
              </a:rPr>
              <a:t>How much of it is still invisible?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1993392"/>
            <a:ext cx="4041648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" y="2130552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" y="2130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15%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88720" y="20848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Access to Care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23591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78"/>
                </a:solidFill>
              </a:rPr>
              <a:t>Can a found patient get treated?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27448" y="1993392"/>
            <a:ext cx="4041648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55464" y="2130552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4855464" y="2130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15%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13248" y="20848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Social Determinants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13248" y="23591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78"/>
                </a:solidFill>
              </a:rPr>
              <a:t>What's causing the gap?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2779776"/>
            <a:ext cx="4041648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0936" y="2916936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" y="29169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10%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188720" y="28712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Payer Landscape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88720" y="31455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78"/>
                </a:solidFill>
              </a:rPr>
              <a:t>Who pays — and what are their incentives?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27448" y="2779776"/>
            <a:ext cx="4041648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55464" y="2916936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4855464" y="29169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10%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413248" y="28712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Commercial Readiness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13248" y="31455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78"/>
                </a:solidFill>
              </a:rPr>
              <a:t>How easy is it to run a program here?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02920" y="3566160"/>
            <a:ext cx="4041648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0936" y="3703320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630936" y="3703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5%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188720" y="3657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Trajectory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188720" y="3931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78"/>
                </a:solidFill>
              </a:rPr>
              <a:t>Growing or shrinking? (real 3-yr CDC trend)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02920" y="440740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Skeptical of the weights? Good. </a:t>
            </a:r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</a:rPr>
              <a:t>Live sensitivity sliders in the dashboard: re-weight any need-side dimension and the ranking holds (Spearman 0.97–0.99, top-50 overlap 82–88%). The map is driven by where the patients are — not by our weight vector.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A9D8F"/>
                </a:solidFill>
              </a:rPr>
              <a:t>ACTIVATION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2E"/>
                </a:solidFill>
              </a:rPr>
              <a:t>From hot ZIP codes to a rep's Monday call list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4297680" cy="3063240"/>
          </a:xfrm>
          <a:prstGeom prst="roundRect">
            <a:avLst>
              <a:gd name="adj" fmla="val 1791"/>
            </a:avLst>
          </a:prstGeom>
          <a:solidFill>
            <a:srgbClr val="EDF2FA"/>
          </a:solidFill>
          <a:ln w="19050">
            <a:solidFill>
              <a:srgbClr val="2A9D8F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40080" y="1298448"/>
            <a:ext cx="402336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[ SCREENSHOT GOES HERE ]</a:t>
            </a:r>
            <a:endParaRPr lang="en-US" sz="130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A9D8F"/>
                </a:solidFill>
              </a:rPr>
              <a:t>Dashboard ▸ HCP Targeting (top of the ranked prescriber table)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6478"/>
                </a:solidFill>
              </a:rPr>
              <a:t>Open HCP Targeting → leave filters on defaults → screenshot the banner + first 6–8 rows of the table (shows names, scores, tiers, panel %, rationale). Replace this box (~4.7 × 3.35).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0" y="12984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HCP Priority Score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0" y="1664208"/>
            <a:ext cx="475488" cy="47548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6642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40%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23560" y="168249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</a:rPr>
              <a:t>Geography — ZIP opportunity percentile at the practice address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0" y="2231136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22311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25%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23560" y="224942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</a:rPr>
              <a:t>Reach — Medicare panel size percentile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0" y="2798064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27980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20%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23560" y="281635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</a:rPr>
              <a:t>Burden — share of panel already diabetic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0" y="3364992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33649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15%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23560" y="33832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</a:rPr>
              <a:t>Fit — primary care owns the undiagnosed funnel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0" y="4005072"/>
            <a:ext cx="3657600" cy="777240"/>
          </a:xfrm>
          <a:prstGeom prst="roundRect">
            <a:avLst>
              <a:gd name="adj" fmla="val 7059"/>
            </a:avLst>
          </a:prstGeom>
          <a:solidFill>
            <a:srgbClr val="EAF6F4"/>
          </a:solidFill>
          <a:ln/>
        </p:spPr>
      </p:sp>
      <p:sp>
        <p:nvSpPr>
          <p:cNvPr id="20" name="Text 18"/>
          <p:cNvSpPr/>
          <p:nvPr/>
        </p:nvSpPr>
        <p:spPr>
          <a:xfrm>
            <a:off x="5166360" y="4059936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Every row exports CRM-ready, </a:t>
            </a:r>
            <a:pPr indent="0" marL="0">
              <a:buNone/>
            </a:pPr>
            <a:r>
              <a:rPr lang="en-US" sz="1000" i="1" dirty="0">
                <a:solidFill>
                  <a:srgbClr val="5A6478"/>
                </a:solidFill>
              </a:rPr>
              <a:t>with a plain-language why: “ZIP in top 6% of US opportunity; 1,840-bene panel, 68% diabetic; primary care.”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459028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8"/>
                </a:solidFill>
              </a:rPr>
              <a:t>Public CMS aggregate data only — scores rank conversation value, never individual prescribing quality.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A9D8F"/>
                </a:solidFill>
              </a:rPr>
              <a:t>CLOSING THE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2E"/>
                </a:solidFill>
              </a:rPr>
              <a:t>Campaign ROI, measured like a clinical trial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815" y="1494495"/>
            <a:ext cx="266273" cy="2662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3167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Pick campaign counties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70432" y="159105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</a:rPr>
              <a:t>Select geographies (or paste FIPS) in the dashboard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02920" y="224028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815" y="2363175"/>
            <a:ext cx="266273" cy="26627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0432" y="21854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Auto-match controls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170432" y="245973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</a:rPr>
              <a:t>k-nearest untouched counties on baseline prevalence, SDoH, income, rurality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02920" y="310896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815" y="3231855"/>
            <a:ext cx="266273" cy="26627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70432" y="30540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Pre-register both lists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170432" y="332841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</a:rPr>
              <a:t>One-click export — locked before launch, so the readout is credible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502920" y="3977640"/>
            <a:ext cx="512064" cy="512064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815" y="4100535"/>
            <a:ext cx="266273" cy="26627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70432" y="39227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Diff-in-diff lift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170432" y="419709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</a:rPr>
              <a:t>Diagnosed-prevalence rise vs controls, bootstrap 95% CI, in percentage points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029200" y="1298448"/>
            <a:ext cx="3657600" cy="2377440"/>
          </a:xfrm>
          <a:prstGeom prst="roundRect">
            <a:avLst>
              <a:gd name="adj" fmla="val 2308"/>
            </a:avLst>
          </a:prstGeom>
          <a:solidFill>
            <a:srgbClr val="EDF2FA"/>
          </a:solidFill>
          <a:ln w="19050">
            <a:solidFill>
              <a:srgbClr val="2A9D8F"/>
            </a:solidFill>
            <a:prstDash val="dash"/>
          </a:ln>
        </p:spPr>
      </p:sp>
      <p:sp>
        <p:nvSpPr>
          <p:cNvPr id="21" name="Text 15"/>
          <p:cNvSpPr/>
          <p:nvPr/>
        </p:nvSpPr>
        <p:spPr>
          <a:xfrm>
            <a:off x="5166360" y="1298448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[ SCREENSHOT GOES HERE ]</a:t>
            </a:r>
            <a:endParaRPr lang="en-US" sz="130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A9D8F"/>
                </a:solidFill>
              </a:rPr>
              <a:t>Dashboard ▸ Campaign Measurement (results cards)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6478"/>
                </a:solidFill>
              </a:rPr>
              <a:t>Open Campaign Measurement → paste FIPS: 48479, 48215, 48061, 48323, 48505, 48427, 48131, 48247 → screenshot the four result cards + balance expander. Replace this box (~4.0 × 2.6).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5029200" y="3822192"/>
            <a:ext cx="3657600" cy="987552"/>
          </a:xfrm>
          <a:prstGeom prst="roundRect">
            <a:avLst>
              <a:gd name="adj" fmla="val 5556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5166360" y="3895344"/>
            <a:ext cx="340156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</a:rPr>
              <a:t>Validated: </a:t>
            </a:r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</a:rPr>
              <a:t>recovers a known +1.5pp synthetic lift within ±0.3pp; a real-data placebo (8 TX counties, no campaign) correctly reads not significant (+0.17pp, CI −0.72 to +1.07).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A9D8F"/>
                </a:solidFill>
              </a:rPr>
              <a:t>BUILT FOR DUE DILIGENCE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2E"/>
                </a:solidFill>
              </a:rPr>
              <a:t>Designed to survive your analysts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4041648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67512" y="1444752"/>
            <a:ext cx="475488" cy="475488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629" y="1558869"/>
            <a:ext cx="247254" cy="2472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435608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</a:rPr>
              <a:t>60+ automated QA gates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80160" y="1755648"/>
            <a:ext cx="3154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</a:rPr>
              <a:t>Fail-loudly data contracts on every pipeline — corrupt or degraded data cannot ship. Re-run live on the dashboard's provenance page.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27448" y="1298448"/>
            <a:ext cx="4041648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92040" y="1444752"/>
            <a:ext cx="475488" cy="475488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157" y="1558869"/>
            <a:ext cx="247254" cy="24725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04688" y="1435608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</a:rPr>
              <a:t>Confidence grades A/B/C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504688" y="1755648"/>
            <a:ext cx="3154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</a:rPr>
              <a:t>Every county graded on true pre-imputation source coverage: 3,123 A · 21 B. Low-coverage geographies can't masquerade as corroborated.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02920" y="2926080"/>
            <a:ext cx="4041648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67512" y="3072384"/>
            <a:ext cx="475488" cy="475488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629" y="3186501"/>
            <a:ext cx="247254" cy="24725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306324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</a:rPr>
              <a:t>Full provenance page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280160" y="3383280"/>
            <a:ext cx="3154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</a:rPr>
              <a:t>Source, vintage, real coverage and refresh date for all 11 datasets — computed from the exact files behind the current session.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727448" y="2926080"/>
            <a:ext cx="4041648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92040" y="3072384"/>
            <a:ext cx="475488" cy="475488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157" y="3186501"/>
            <a:ext cx="247254" cy="24725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04688" y="306324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</a:rPr>
              <a:t>Percentile scoring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5504688" y="3383280"/>
            <a:ext cx="3154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</a:rPr>
              <a:t>Buyer-facing 0–100 percentile ranks, uncertainty acknowledged, weight sensitivity exposed — no black box anywhere.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02920" y="4590288"/>
            <a:ext cx="8247888" cy="457200"/>
          </a:xfrm>
          <a:prstGeom prst="roundRect">
            <a:avLst>
              <a:gd name="adj" fmla="val 12000"/>
            </a:avLst>
          </a:prstGeom>
          <a:solidFill>
            <a:srgbClr val="EAF6F4"/>
          </a:solidFill>
          <a:ln/>
        </p:spPr>
      </p:sp>
      <p:sp>
        <p:nvSpPr>
          <p:cNvPr id="25" name="Text 19"/>
          <p:cNvSpPr/>
          <p:nvPr/>
        </p:nvSpPr>
        <p:spPr>
          <a:xfrm>
            <a:off x="658368" y="459028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</a:rPr>
              <a:t>Disclosed by design: </a:t>
            </a:r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</a:rPr>
              <a:t>pool estimates use national undiagnosis rates · payer mix beyond MA penetration is modeled · hypothyroidism is a proxy · ZIP payer/trend dims are county downscales — every assumption is labeled in the app itself.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A9D8F"/>
                </a:solidFill>
              </a:rPr>
              <a:t>REAL-WORLD USE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2E"/>
                </a:solidFill>
              </a:rPr>
              <a:t>Three plays, one platform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2670048" cy="3310128"/>
          </a:xfrm>
          <a:prstGeom prst="roundRect">
            <a:avLst>
              <a:gd name="adj" fmla="val 2397"/>
            </a:avLst>
          </a:prstGeom>
          <a:solidFill>
            <a:srgbClr val="EAF6F4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54480" y="1463040"/>
            <a:ext cx="566928" cy="566928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0543" y="1599103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121408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2A9D8F"/>
                </a:solidFill>
              </a:rPr>
              <a:t>MARKET EXPANSION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40080" y="2359152"/>
            <a:ext cx="2395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2E"/>
                </a:solidFill>
              </a:rPr>
              <a:t>GLP-1 / metabolic brand team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04088" y="2871216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A6478"/>
                </a:solidFill>
              </a:rPr>
              <a:t>Starr County, TX scores #1 of 3,144 (99.9th pctile): 26% diabetes prevalence, huge detection deficit vs Medicare peers. SPPF hands the brand 24 Priority counties, their ZIP heatmaps, and the exact internists with 60–75% diabetic panels — before a single claims dollar is spent.</a:t>
            </a:r>
            <a:endParaRPr lang="en-US" sz="930" dirty="0"/>
          </a:p>
        </p:txBody>
      </p:sp>
      <p:sp>
        <p:nvSpPr>
          <p:cNvPr id="10" name="Shape 7"/>
          <p:cNvSpPr/>
          <p:nvPr/>
        </p:nvSpPr>
        <p:spPr>
          <a:xfrm>
            <a:off x="3383280" y="1298448"/>
            <a:ext cx="2670048" cy="3310128"/>
          </a:xfrm>
          <a:prstGeom prst="roundRect">
            <a:avLst>
              <a:gd name="adj" fmla="val 2397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34840" y="14630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0903" y="1599103"/>
            <a:ext cx="294803" cy="29480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2121408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2A9D8F"/>
                </a:solidFill>
              </a:rPr>
              <a:t>MA STARS PARTNERSHIP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3520440" y="2359152"/>
            <a:ext cx="2395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2E"/>
                </a:solidFill>
              </a:rPr>
              <a:t>Market access / payer team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3584448" y="2871216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A6478"/>
                </a:solidFill>
              </a:rPr>
              <a:t>Counties with 40%+ Medicare Advantage penetration and high diagnosis gaps are co-funding opportunities: plans earn Stars/HEDIS credit for screening programs pharma wants run. SPPF's payer view ranks these counties and sizes the dual-eligible upside.</a:t>
            </a:r>
            <a:endParaRPr lang="en-US" sz="930" dirty="0"/>
          </a:p>
        </p:txBody>
      </p:sp>
      <p:sp>
        <p:nvSpPr>
          <p:cNvPr id="16" name="Shape 12"/>
          <p:cNvSpPr/>
          <p:nvPr/>
        </p:nvSpPr>
        <p:spPr>
          <a:xfrm>
            <a:off x="6263640" y="1298448"/>
            <a:ext cx="2670048" cy="3310128"/>
          </a:xfrm>
          <a:prstGeom prst="roundRect">
            <a:avLst>
              <a:gd name="adj" fmla="val 2397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15200" y="14630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1263" y="1599103"/>
            <a:ext cx="294803" cy="29480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00800" y="2121408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2A9D8F"/>
                </a:solidFill>
              </a:rPr>
              <a:t>TERRITORY DESIGN + PROOF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6400800" y="2359152"/>
            <a:ext cx="2395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2E"/>
                </a:solidFill>
              </a:rPr>
              <a:t>Field force &amp; HQ analytics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6464808" y="2871216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A6478"/>
                </a:solidFill>
              </a:rPr>
              <a:t>Territory Builder assembles rep geographies ZIP-by-ZIP with pool estimates; the measurement engine then proves the diagnosis-rate lift of last cycle's targeting to justify next cycle's budget — a renewable engagement, not a one-off report.</a:t>
            </a:r>
            <a:endParaRPr lang="en-US" sz="9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A9D8F"/>
                </a:solidFill>
              </a:rPr>
              <a:t>WHERE SPPF FITS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2E"/>
                </a:solidFill>
              </a:rPr>
              <a:t>Upstream of claims — and better together with them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4041648" cy="2331720"/>
          </a:xfrm>
          <a:prstGeom prst="roundRect">
            <a:avLst>
              <a:gd name="adj" fmla="val 2745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1790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</a:rPr>
              <a:t>Claims &amp; Rx analytics see…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3657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A6478"/>
                </a:solidFill>
              </a:rPr>
              <a:t>Diagnosed, treated patients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A6478"/>
                </a:solidFill>
              </a:rPr>
              <a:t>Rich longitudinal detail, patient-level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A6478"/>
                </a:solidFill>
              </a:rPr>
              <a:t>Post-diagnosis market share battles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A6478"/>
                </a:solidFill>
              </a:rPr>
              <a:t>Licensing cost, DUAs, PHI governance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1371600"/>
            <a:ext cx="4041648" cy="2331720"/>
          </a:xfrm>
          <a:prstGeom prst="roundRect">
            <a:avLst>
              <a:gd name="adj" fmla="val 2745"/>
            </a:avLst>
          </a:prstGeom>
          <a:solidFill>
            <a:srgbClr val="EAF6F4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51790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9D8F"/>
                </a:solidFill>
              </a:rPr>
              <a:t>SPPF sees…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937760" y="1874520"/>
            <a:ext cx="3657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A6478"/>
                </a:solidFill>
              </a:rPr>
              <a:t>The pre-diagnosis whitespace claims can't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A6478"/>
                </a:solidFill>
              </a:rPr>
              <a:t>Every US geography, no sampling gaps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A6478"/>
                </a:solidFill>
              </a:rPr>
              <a:t>Zero PHI, zero licensing, procurement-light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A6478"/>
                </a:solidFill>
              </a:rPr>
              <a:t>Where the next diagnosed patient comes from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886200"/>
            <a:ext cx="8247888" cy="868680"/>
          </a:xfrm>
          <a:prstGeom prst="roundRect">
            <a:avLst>
              <a:gd name="adj" fmla="val 7368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950208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The integration play: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SPPF finds and activates the whitespace; claims data then verifies the new diagnoses quarterly instead of waiting for CDC release cycles. Targeting from public data, measurement sharpened by claims — each layer makes the other more valuable.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108960"/>
            <a:ext cx="4206240" cy="4206240"/>
          </a:xfrm>
          <a:prstGeom prst="ellipse">
            <a:avLst/>
          </a:prstGeom>
          <a:solidFill>
            <a:srgbClr val="2A367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THE MVP IS LIVE. HERE'S THE ROADMAP.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2651760" cy="2286000"/>
          </a:xfrm>
          <a:prstGeom prst="roundRect">
            <a:avLst>
              <a:gd name="adj" fmla="val 2800"/>
            </a:avLst>
          </a:prstGeom>
          <a:solidFill>
            <a:srgbClr val="2A367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9D8F"/>
                </a:solidFill>
              </a:rPr>
              <a:t>NOW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71907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Working MVP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4E8"/>
                </a:solidFill>
              </a:rPr>
              <a:t>11-view dashboard · 3,144 counties · 33,791 ZIPs · 411k HCPs · measurement engine · 41-test CI suite — all public data, open for audit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234440"/>
            <a:ext cx="2651760" cy="2286000"/>
          </a:xfrm>
          <a:prstGeom prst="roundRect">
            <a:avLst>
              <a:gd name="adj" fmla="val 2800"/>
            </a:avLst>
          </a:prstGeom>
          <a:solidFill>
            <a:srgbClr val="2A3670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9D8F"/>
                </a:solidFill>
              </a:rPr>
              <a:t>NEXT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66160" y="171907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Condition modules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3566160" y="228600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4E8"/>
                </a:solidFill>
              </a:rPr>
              <a:t>CKD (~90% of early stages undiagnosed) · MASH · COPD · AFib — each a config file on the same engine, priced per module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234440"/>
            <a:ext cx="2651760" cy="2286000"/>
          </a:xfrm>
          <a:prstGeom prst="roundRect">
            <a:avLst>
              <a:gd name="adj" fmla="val 2800"/>
            </a:avLst>
          </a:prstGeom>
          <a:solidFill>
            <a:srgbClr val="2A367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9D8F"/>
                </a:solidFill>
              </a:rPr>
              <a:t>THEN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171907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Claims-sharpened measurement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228600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4E8"/>
                </a:solidFill>
              </a:rPr>
              <a:t>Quarterly lift windows via claims integration · Veeva CRM push · validation study against NHANES ground truth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8862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The ask: </a:t>
            </a:r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one pilot brand, one condition, one market opportunity assessment — 90 days to a measurable diagnosis-rate story.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45262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4E8"/>
                </a:solidFill>
              </a:rPr>
              <a:t>Zoraawar Nandwal  ·  zorawarnandwal@gmail.com  ·  github.com/zorawar91/silent-patient-pool-finder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Silent Patient Pool Finder — IQVIA Ideathon MVP</dc:title>
  <dc:subject>PptxGenJS Presentation</dc:subject>
  <dc:creator>Zoraawar Nandwal</dc:creator>
  <cp:lastModifiedBy>Zoraawar Nandwal</cp:lastModifiedBy>
  <cp:revision>1</cp:revision>
  <dcterms:created xsi:type="dcterms:W3CDTF">2026-07-10T19:54:53Z</dcterms:created>
  <dcterms:modified xsi:type="dcterms:W3CDTF">2026-07-10T19:54:53Z</dcterms:modified>
</cp:coreProperties>
</file>