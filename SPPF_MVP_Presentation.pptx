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I'm presenting the Silent Patient Pool Finder — a market access intelligence platform built to answer the question every launch team faces: where do we go first, and how do we make the case to a payer? This is a live, working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 estimates 23% of US adults with T2D have never been diagnosed. AHA: 27% for hypertension. ATA: up to 50% for hypothyroidism. Combined, that's 86 million Americans who have these conditions but have never been found by the healthcare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insight: claims-based segmentation is backward-looking. You can only see markets where diagnosis and treatment are already happening. SPPF inverts the approach — starting from population-level disease burden, then finding where the gap is widest and the system is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scoring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Diagnosis Gap carries the highest weight at 25% because it directly quantifies the addressable market. The other six dimensions explain why the gap exists, whether you can do something about it, and how to structure the program. A county scoring 55+ on the composite is confirmed by multiple real data sources as a high-priority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critical for credibility in any payer or health system conversation. Every score is reproducible from public data — CDC, Census, CMS, HRSA, USDA. No black box. No proprietary data vendor. The methodology document is available for independent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County-level scoring drives the strategic decisions: which markets to enter, which payers to approach, where to pilot a program. ZIP-level scoring is the field-facing tool — it lets account managers and MSLs define their territory in seconds and walk into a payer meeting with a real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three moments that make this real for a buyer.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Geographic Intelligence view and switch between conditions. The clustering in the Deep South and Appalachia is immediately recognizable to anyone in healthcare. Don't narrate — let them react. The pattern does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tip: Ask the audience for a real territory — a set of ZIPs a rep currently covers. Paste them in live. Show the aggregate pool, the dimension radar, and the per-ZIP table. This is the demo that closes the conversation: 'This is what your field team gets the night before every payer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intervention recommendation is rule-based and transparent — not a black box. A county with 40% MA penetration gets a Payer Partnership recommendation. An adjacent county with high poverty and no primary care gets a Community Health Center recommendation. The logic adapts to what will actually work in each geography.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use cases map to three different buyer conversations. Market entry prioritization speaks to brand teams and commercial leadership. Payer partnership development is the market access team's daily work. Territory design is what field teams need to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MVP is complete and demo-ready today. V2 features were deliberately excluded to keep the build focused and the commercial conversation clean. The platform is architected to accommodate every V2 item without structural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strategic framing for IQVIA: this is not just an internal analytics tool. It's a client-facing capability that differentiates the market access consulting practice. The public data version is the MVP — but the real value is layering IQVIA's proprietary data on top once the framework is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The platform is built and running. The next step is a pilot client — one real market access team, one real territory, two weeks. That turns this from a demo into a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6217920" y="-1097280"/>
            <a:ext cx="5029200" cy="5029200"/>
          </a:xfrm>
          <a:prstGeom prst="ellipse">
            <a:avLst/>
          </a:prstGeom>
          <a:solidFill>
            <a:srgbClr val="0077C8">
              <a:alpha val="22000"/>
            </a:srgbClr>
          </a:solidFill>
          <a:ln w="12700">
            <a:solidFill>
              <a:srgbClr val="0077C8"/>
            </a:solidFill>
            <a:prstDash val="solid"/>
          </a:ln>
        </p:spPr>
      </p:sp>
      <p:sp>
        <p:nvSpPr>
          <p:cNvPr id="3" name="Shape 1"/>
          <p:cNvSpPr/>
          <p:nvPr/>
        </p:nvSpPr>
        <p:spPr>
          <a:xfrm>
            <a:off x="7498080" y="2286000"/>
            <a:ext cx="2743200" cy="2743200"/>
          </a:xfrm>
          <a:prstGeom prst="ellipse">
            <a:avLst/>
          </a:prstGeom>
          <a:solidFill>
            <a:srgbClr val="00A9E0">
              <a:alpha val="12000"/>
            </a:srgbClr>
          </a:solidFill>
          <a:ln w="12700">
            <a:solidFill>
              <a:srgbClr val="00A9E0"/>
            </a:solidFill>
            <a:prstDash val="solid"/>
          </a:ln>
        </p:spPr>
      </p:sp>
      <p:sp>
        <p:nvSpPr>
          <p:cNvPr id="4" name="Text 2"/>
          <p:cNvSpPr/>
          <p:nvPr/>
        </p:nvSpPr>
        <p:spPr>
          <a:xfrm>
            <a:off x="548640" y="411480"/>
            <a:ext cx="7315200" cy="274320"/>
          </a:xfrm>
          <a:prstGeom prst="rect">
            <a:avLst/>
          </a:prstGeom>
          <a:noFill/>
          <a:ln/>
        </p:spPr>
        <p:txBody>
          <a:bodyPr wrap="square" lIns="0" tIns="0" rIns="0" bIns="0" rtlCol="0" anchor="ctr"/>
          <a:lstStyle/>
          <a:p>
            <a:pPr algn="l" indent="0" marL="0">
              <a:buNone/>
            </a:pPr>
            <a:r>
              <a:rPr lang="en-US" sz="900" b="1" spc="300" kern="0" dirty="0">
                <a:solidFill>
                  <a:srgbClr val="00A9E0"/>
                </a:solidFill>
                <a:latin typeface="Calibri" pitchFamily="34" charset="0"/>
                <a:ea typeface="Calibri" pitchFamily="34" charset="-122"/>
                <a:cs typeface="Calibri" pitchFamily="34" charset="-120"/>
              </a:rPr>
              <a:t>IQVIA  ·  MARKET ACCESS INTELLIGENCE</a:t>
            </a:r>
            <a:endParaRPr lang="en-US" sz="900" dirty="0"/>
          </a:p>
        </p:txBody>
      </p:sp>
      <p:sp>
        <p:nvSpPr>
          <p:cNvPr id="5" name="Text 3"/>
          <p:cNvSpPr/>
          <p:nvPr/>
        </p:nvSpPr>
        <p:spPr>
          <a:xfrm>
            <a:off x="548640" y="868680"/>
            <a:ext cx="713232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Calibri" pitchFamily="34" charset="0"/>
                <a:ea typeface="Calibri" pitchFamily="34" charset="-122"/>
                <a:cs typeface="Calibri" pitchFamily="34" charset="-120"/>
              </a:rPr>
              <a:t>Silent Patient
</a:t>
            </a:r>
            <a:pPr algn="l" indent="0" marL="0">
              <a:buNone/>
            </a:pPr>
            <a:r>
              <a:rPr lang="en-US" sz="5400" b="1" dirty="0">
                <a:solidFill>
                  <a:srgbClr val="FFFFFF"/>
                </a:solidFill>
                <a:latin typeface="Calibri" pitchFamily="34" charset="0"/>
                <a:ea typeface="Calibri" pitchFamily="34" charset="-122"/>
                <a:cs typeface="Calibri" pitchFamily="34" charset="-120"/>
              </a:rPr>
              <a:t>Pool Finder</a:t>
            </a:r>
            <a:endParaRPr lang="en-US" sz="5400" dirty="0"/>
          </a:p>
        </p:txBody>
      </p:sp>
      <p:sp>
        <p:nvSpPr>
          <p:cNvPr id="6" name="Text 4"/>
          <p:cNvSpPr/>
          <p:nvPr/>
        </p:nvSpPr>
        <p:spPr>
          <a:xfrm>
            <a:off x="548640" y="3246120"/>
            <a:ext cx="6858000" cy="457200"/>
          </a:xfrm>
          <a:prstGeom prst="rect">
            <a:avLst/>
          </a:prstGeom>
          <a:noFill/>
          <a:ln/>
        </p:spPr>
        <p:txBody>
          <a:bodyPr wrap="square" lIns="0" tIns="0" rIns="0" bIns="0" rtlCol="0" anchor="ctr"/>
          <a:lstStyle/>
          <a:p>
            <a:pPr algn="l" indent="0" marL="0">
              <a:buNone/>
            </a:pPr>
            <a:r>
              <a:rPr lang="en-US" sz="2000" dirty="0">
                <a:solidFill>
                  <a:srgbClr val="A8C4DC"/>
                </a:solidFill>
                <a:latin typeface="Calibri" pitchFamily="34" charset="0"/>
                <a:ea typeface="Calibri" pitchFamily="34" charset="-122"/>
                <a:cs typeface="Calibri" pitchFamily="34" charset="-120"/>
              </a:rPr>
              <a:t>Market Access Intelligence Platform</a:t>
            </a:r>
            <a:endParaRPr lang="en-US" sz="2000" dirty="0"/>
          </a:p>
        </p:txBody>
      </p:sp>
      <p:sp>
        <p:nvSpPr>
          <p:cNvPr id="7" name="Shape 5"/>
          <p:cNvSpPr/>
          <p:nvPr/>
        </p:nvSpPr>
        <p:spPr>
          <a:xfrm>
            <a:off x="548640" y="3794760"/>
            <a:ext cx="64008" cy="64008"/>
          </a:xfrm>
          <a:prstGeom prst="ellipse">
            <a:avLst/>
          </a:prstGeom>
          <a:solidFill>
            <a:srgbClr val="00A9E0"/>
          </a:solidFill>
          <a:ln w="12700">
            <a:solidFill>
              <a:srgbClr val="00A9E0"/>
            </a:solidFill>
            <a:prstDash val="solid"/>
          </a:ln>
        </p:spPr>
      </p:sp>
      <p:sp>
        <p:nvSpPr>
          <p:cNvPr id="8" name="Text 6"/>
          <p:cNvSpPr/>
          <p:nvPr/>
        </p:nvSpPr>
        <p:spPr>
          <a:xfrm>
            <a:off x="731520" y="3721608"/>
            <a:ext cx="7772400" cy="320040"/>
          </a:xfrm>
          <a:prstGeom prst="rect">
            <a:avLst/>
          </a:prstGeom>
          <a:noFill/>
          <a:ln/>
        </p:spPr>
        <p:txBody>
          <a:bodyPr wrap="square" lIns="0" tIns="0" rIns="0" bIns="0" rtlCol="0" anchor="ctr"/>
          <a:lstStyle/>
          <a:p>
            <a:pPr algn="l" indent="0" marL="0">
              <a:buNone/>
            </a:pPr>
            <a:r>
              <a:rPr lang="en-US" sz="1050" dirty="0">
                <a:solidFill>
                  <a:srgbClr val="6A90B0"/>
                </a:solidFill>
                <a:latin typeface="Calibri" pitchFamily="34" charset="0"/>
                <a:ea typeface="Calibri" pitchFamily="34" charset="-122"/>
                <a:cs typeface="Calibri" pitchFamily="34" charset="-120"/>
              </a:rPr>
              <a:t>MVP Presentation for IQVIA Leadership   ·   July 2026   ·   Confidential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49808"/>
          </a:xfrm>
          <a:prstGeom prst="rect">
            <a:avLst/>
          </a:prstGeom>
          <a:noFill/>
          <a:ln/>
        </p:spPr>
        <p:txBody>
          <a:bodyPr wrap="square" lIns="0" tIns="0" rIns="0" bIns="0" rtlCol="0" anchor="ctr"/>
          <a:lstStyle/>
          <a:p>
            <a:pPr algn="l" indent="0" marL="0">
              <a:buNone/>
            </a:pPr>
            <a:r>
              <a:rPr lang="en-US" sz="2800" b="1" dirty="0">
                <a:solidFill>
                  <a:srgbClr val="003087"/>
                </a:solidFill>
                <a:latin typeface="Calibri" pitchFamily="34" charset="0"/>
                <a:ea typeface="Calibri" pitchFamily="34" charset="-122"/>
                <a:cs typeface="Calibri" pitchFamily="34" charset="-120"/>
              </a:rPr>
              <a:t>86 Million Americans Are Flying Under Healthcare's Radar</a:t>
            </a:r>
            <a:endParaRPr lang="en-US" sz="2800" dirty="0"/>
          </a:p>
        </p:txBody>
      </p:sp>
      <p:sp>
        <p:nvSpPr>
          <p:cNvPr id="3" name="Text 1"/>
          <p:cNvSpPr/>
          <p:nvPr/>
        </p:nvSpPr>
        <p:spPr>
          <a:xfrm>
            <a:off x="457200" y="1024128"/>
            <a:ext cx="8229600" cy="347472"/>
          </a:xfrm>
          <a:prstGeom prst="rect">
            <a:avLst/>
          </a:prstGeom>
          <a:noFill/>
          <a:ln/>
        </p:spPr>
        <p:txBody>
          <a:bodyPr wrap="square" lIns="0" tIns="0" rIns="0" bIns="0" rtlCol="0" anchor="ctr"/>
          <a:lstStyle/>
          <a:p>
            <a:pPr algn="l" indent="0" marL="0">
              <a:buNone/>
            </a:pPr>
            <a:r>
              <a:rPr lang="en-US" sz="1200" dirty="0">
                <a:solidFill>
                  <a:srgbClr val="5A7A9B"/>
                </a:solidFill>
                <a:latin typeface="Calibri" pitchFamily="34" charset="0"/>
                <a:ea typeface="Calibri" pitchFamily="34" charset="-122"/>
                <a:cs typeface="Calibri" pitchFamily="34" charset="-120"/>
              </a:rPr>
              <a:t>Undiagnosed chronic disease is the majority of the addressable opportunity — invisible to claims-based analytics.</a:t>
            </a:r>
            <a:endParaRPr lang="en-US" sz="1200" dirty="0"/>
          </a:p>
        </p:txBody>
      </p:sp>
      <p:sp>
        <p:nvSpPr>
          <p:cNvPr id="4" name="Shape 2"/>
          <p:cNvSpPr/>
          <p:nvPr/>
        </p:nvSpPr>
        <p:spPr>
          <a:xfrm>
            <a:off x="457200" y="1508760"/>
            <a:ext cx="2633472" cy="2697480"/>
          </a:xfrm>
          <a:prstGeom prst="roundRect">
            <a:avLst>
              <a:gd name="adj" fmla="val 4167"/>
            </a:avLst>
          </a:prstGeom>
          <a:solidFill>
            <a:srgbClr val="F5FAFF"/>
          </a:solidFill>
          <a:ln w="12700">
            <a:solidFill>
              <a:srgbClr val="DAE9F6"/>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66928" y="1627632"/>
            <a:ext cx="2414016" cy="896112"/>
          </a:xfrm>
          <a:prstGeom prst="rect">
            <a:avLst/>
          </a:prstGeom>
          <a:noFill/>
          <a:ln/>
        </p:spPr>
        <p:txBody>
          <a:bodyPr wrap="square" lIns="0" tIns="0" rIns="0" bIns="0" rtlCol="0" anchor="ctr"/>
          <a:lstStyle/>
          <a:p>
            <a:pPr algn="ctr" indent="0" marL="0">
              <a:buNone/>
            </a:pPr>
            <a:r>
              <a:rPr lang="en-US" sz="5000" b="1" dirty="0">
                <a:solidFill>
                  <a:srgbClr val="E63946"/>
                </a:solidFill>
                <a:latin typeface="Calibri" pitchFamily="34" charset="0"/>
                <a:ea typeface="Calibri" pitchFamily="34" charset="-122"/>
                <a:cs typeface="Calibri" pitchFamily="34" charset="-120"/>
              </a:rPr>
              <a:t>8.5M</a:t>
            </a:r>
            <a:endParaRPr lang="en-US" sz="5000" dirty="0"/>
          </a:p>
        </p:txBody>
      </p:sp>
      <p:sp>
        <p:nvSpPr>
          <p:cNvPr id="6" name="Text 4"/>
          <p:cNvSpPr/>
          <p:nvPr/>
        </p:nvSpPr>
        <p:spPr>
          <a:xfrm>
            <a:off x="566928" y="2542032"/>
            <a:ext cx="2414016" cy="530352"/>
          </a:xfrm>
          <a:prstGeom prst="rect">
            <a:avLst/>
          </a:prstGeom>
          <a:noFill/>
          <a:ln/>
        </p:spPr>
        <p:txBody>
          <a:bodyPr wrap="square" lIns="0" tIns="0" rIns="0" bIns="0" rtlCol="0" anchor="ctr"/>
          <a:lstStyle/>
          <a:p>
            <a:pPr algn="ctr" indent="0" marL="0">
              <a:buNone/>
            </a:pPr>
            <a:r>
              <a:rPr lang="en-US" sz="1300" b="1" dirty="0">
                <a:solidFill>
                  <a:srgbClr val="0A1F3C"/>
                </a:solidFill>
                <a:latin typeface="Calibri" pitchFamily="34" charset="0"/>
                <a:ea typeface="Calibri" pitchFamily="34" charset="-122"/>
                <a:cs typeface="Calibri" pitchFamily="34" charset="-120"/>
              </a:rPr>
              <a:t>Undiagnosed Type 2</a:t>
            </a:r>
            <a:endParaRPr lang="en-US" sz="1300" dirty="0"/>
          </a:p>
          <a:p>
            <a:pPr algn="ctr" indent="0" marL="0">
              <a:buNone/>
            </a:pPr>
            <a:r>
              <a:rPr lang="en-US" sz="1300" b="1" dirty="0">
                <a:solidFill>
                  <a:srgbClr val="0A1F3C"/>
                </a:solidFill>
                <a:latin typeface="Calibri" pitchFamily="34" charset="0"/>
                <a:ea typeface="Calibri" pitchFamily="34" charset="-122"/>
                <a:cs typeface="Calibri" pitchFamily="34" charset="-120"/>
              </a:rPr>
              <a:t>Diabetes</a:t>
            </a:r>
            <a:endParaRPr lang="en-US" sz="1300" dirty="0"/>
          </a:p>
        </p:txBody>
      </p:sp>
      <p:sp>
        <p:nvSpPr>
          <p:cNvPr id="7" name="Text 5"/>
          <p:cNvSpPr/>
          <p:nvPr/>
        </p:nvSpPr>
        <p:spPr>
          <a:xfrm>
            <a:off x="566928" y="3090672"/>
            <a:ext cx="2414016" cy="292608"/>
          </a:xfrm>
          <a:prstGeom prst="rect">
            <a:avLst/>
          </a:prstGeom>
          <a:noFill/>
          <a:ln/>
        </p:spPr>
        <p:txBody>
          <a:bodyPr wrap="square" lIns="0" tIns="0" rIns="0" bIns="0" rtlCol="0" anchor="ctr"/>
          <a:lstStyle/>
          <a:p>
            <a:pPr algn="ctr" indent="0" marL="0">
              <a:buNone/>
            </a:pPr>
            <a:r>
              <a:rPr lang="en-US" sz="1100" b="1" dirty="0">
                <a:solidFill>
                  <a:srgbClr val="E63946"/>
                </a:solidFill>
                <a:latin typeface="Calibri" pitchFamily="34" charset="0"/>
                <a:ea typeface="Calibri" pitchFamily="34" charset="-122"/>
                <a:cs typeface="Calibri" pitchFamily="34" charset="-120"/>
              </a:rPr>
              <a:t>23% of all T2D cases</a:t>
            </a:r>
            <a:endParaRPr lang="en-US" sz="1100" dirty="0"/>
          </a:p>
        </p:txBody>
      </p:sp>
      <p:sp>
        <p:nvSpPr>
          <p:cNvPr id="8" name="Text 6"/>
          <p:cNvSpPr/>
          <p:nvPr/>
        </p:nvSpPr>
        <p:spPr>
          <a:xfrm>
            <a:off x="566928" y="3410712"/>
            <a:ext cx="2414016" cy="228600"/>
          </a:xfrm>
          <a:prstGeom prst="rect">
            <a:avLst/>
          </a:prstGeom>
          <a:noFill/>
          <a:ln/>
        </p:spPr>
        <p:txBody>
          <a:bodyPr wrap="square" lIns="0" tIns="0" rIns="0" bIns="0" rtlCol="0" anchor="ctr"/>
          <a:lstStyle/>
          <a:p>
            <a:pPr algn="ctr" indent="0" marL="0">
              <a:buNone/>
            </a:pPr>
            <a:r>
              <a:rPr lang="en-US" sz="800" i="1" dirty="0">
                <a:solidFill>
                  <a:srgbClr val="5A7A9B"/>
                </a:solidFill>
                <a:latin typeface="Calibri" pitchFamily="34" charset="0"/>
                <a:ea typeface="Calibri" pitchFamily="34" charset="-122"/>
                <a:cs typeface="Calibri" pitchFamily="34" charset="-120"/>
              </a:rPr>
              <a:t>Source: ADA / CDC 2022</a:t>
            </a:r>
            <a:endParaRPr lang="en-US" sz="800" dirty="0"/>
          </a:p>
        </p:txBody>
      </p:sp>
      <p:sp>
        <p:nvSpPr>
          <p:cNvPr id="9" name="Shape 7"/>
          <p:cNvSpPr/>
          <p:nvPr/>
        </p:nvSpPr>
        <p:spPr>
          <a:xfrm>
            <a:off x="3273552" y="1508760"/>
            <a:ext cx="2633472" cy="2697480"/>
          </a:xfrm>
          <a:prstGeom prst="roundRect">
            <a:avLst>
              <a:gd name="adj" fmla="val 4167"/>
            </a:avLst>
          </a:prstGeom>
          <a:solidFill>
            <a:srgbClr val="F5FAFF"/>
          </a:solidFill>
          <a:ln w="12700">
            <a:solidFill>
              <a:srgbClr val="DAE9F6"/>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3383280" y="1627632"/>
            <a:ext cx="2414016" cy="896112"/>
          </a:xfrm>
          <a:prstGeom prst="rect">
            <a:avLst/>
          </a:prstGeom>
          <a:noFill/>
          <a:ln/>
        </p:spPr>
        <p:txBody>
          <a:bodyPr wrap="square" lIns="0" tIns="0" rIns="0" bIns="0" rtlCol="0" anchor="ctr"/>
          <a:lstStyle/>
          <a:p>
            <a:pPr algn="ctr" indent="0" marL="0">
              <a:buNone/>
            </a:pPr>
            <a:r>
              <a:rPr lang="en-US" sz="5000" b="1" dirty="0">
                <a:solidFill>
                  <a:srgbClr val="E8A020"/>
                </a:solidFill>
                <a:latin typeface="Calibri" pitchFamily="34" charset="0"/>
                <a:ea typeface="Calibri" pitchFamily="34" charset="-122"/>
                <a:cs typeface="Calibri" pitchFamily="34" charset="-120"/>
              </a:rPr>
              <a:t>33M</a:t>
            </a:r>
            <a:endParaRPr lang="en-US" sz="5000" dirty="0"/>
          </a:p>
        </p:txBody>
      </p:sp>
      <p:sp>
        <p:nvSpPr>
          <p:cNvPr id="11" name="Text 9"/>
          <p:cNvSpPr/>
          <p:nvPr/>
        </p:nvSpPr>
        <p:spPr>
          <a:xfrm>
            <a:off x="3383280" y="2542032"/>
            <a:ext cx="2414016" cy="530352"/>
          </a:xfrm>
          <a:prstGeom prst="rect">
            <a:avLst/>
          </a:prstGeom>
          <a:noFill/>
          <a:ln/>
        </p:spPr>
        <p:txBody>
          <a:bodyPr wrap="square" lIns="0" tIns="0" rIns="0" bIns="0" rtlCol="0" anchor="ctr"/>
          <a:lstStyle/>
          <a:p>
            <a:pPr algn="ctr" indent="0" marL="0">
              <a:buNone/>
            </a:pPr>
            <a:r>
              <a:rPr lang="en-US" sz="1300" b="1" dirty="0">
                <a:solidFill>
                  <a:srgbClr val="0A1F3C"/>
                </a:solidFill>
                <a:latin typeface="Calibri" pitchFamily="34" charset="0"/>
                <a:ea typeface="Calibri" pitchFamily="34" charset="-122"/>
                <a:cs typeface="Calibri" pitchFamily="34" charset="-120"/>
              </a:rPr>
              <a:t>Undiagnosed</a:t>
            </a:r>
            <a:endParaRPr lang="en-US" sz="1300" dirty="0"/>
          </a:p>
          <a:p>
            <a:pPr algn="ctr" indent="0" marL="0">
              <a:buNone/>
            </a:pPr>
            <a:r>
              <a:rPr lang="en-US" sz="1300" b="1" dirty="0">
                <a:solidFill>
                  <a:srgbClr val="0A1F3C"/>
                </a:solidFill>
                <a:latin typeface="Calibri" pitchFamily="34" charset="0"/>
                <a:ea typeface="Calibri" pitchFamily="34" charset="-122"/>
                <a:cs typeface="Calibri" pitchFamily="34" charset="-120"/>
              </a:rPr>
              <a:t>Hypertension</a:t>
            </a:r>
            <a:endParaRPr lang="en-US" sz="1300" dirty="0"/>
          </a:p>
        </p:txBody>
      </p:sp>
      <p:sp>
        <p:nvSpPr>
          <p:cNvPr id="12" name="Text 10"/>
          <p:cNvSpPr/>
          <p:nvPr/>
        </p:nvSpPr>
        <p:spPr>
          <a:xfrm>
            <a:off x="3383280" y="3090672"/>
            <a:ext cx="2414016" cy="292608"/>
          </a:xfrm>
          <a:prstGeom prst="rect">
            <a:avLst/>
          </a:prstGeom>
          <a:noFill/>
          <a:ln/>
        </p:spPr>
        <p:txBody>
          <a:bodyPr wrap="square" lIns="0" tIns="0" rIns="0" bIns="0" rtlCol="0" anchor="ctr"/>
          <a:lstStyle/>
          <a:p>
            <a:pPr algn="ctr" indent="0" marL="0">
              <a:buNone/>
            </a:pPr>
            <a:r>
              <a:rPr lang="en-US" sz="1100" b="1" dirty="0">
                <a:solidFill>
                  <a:srgbClr val="E8A020"/>
                </a:solidFill>
                <a:latin typeface="Calibri" pitchFamily="34" charset="0"/>
                <a:ea typeface="Calibri" pitchFamily="34" charset="-122"/>
                <a:cs typeface="Calibri" pitchFamily="34" charset="-120"/>
              </a:rPr>
              <a:t>27% of all HTN cases</a:t>
            </a:r>
            <a:endParaRPr lang="en-US" sz="1100" dirty="0"/>
          </a:p>
        </p:txBody>
      </p:sp>
      <p:sp>
        <p:nvSpPr>
          <p:cNvPr id="13" name="Text 11"/>
          <p:cNvSpPr/>
          <p:nvPr/>
        </p:nvSpPr>
        <p:spPr>
          <a:xfrm>
            <a:off x="3383280" y="3410712"/>
            <a:ext cx="2414016" cy="228600"/>
          </a:xfrm>
          <a:prstGeom prst="rect">
            <a:avLst/>
          </a:prstGeom>
          <a:noFill/>
          <a:ln/>
        </p:spPr>
        <p:txBody>
          <a:bodyPr wrap="square" lIns="0" tIns="0" rIns="0" bIns="0" rtlCol="0" anchor="ctr"/>
          <a:lstStyle/>
          <a:p>
            <a:pPr algn="ctr" indent="0" marL="0">
              <a:buNone/>
            </a:pPr>
            <a:r>
              <a:rPr lang="en-US" sz="800" i="1" dirty="0">
                <a:solidFill>
                  <a:srgbClr val="5A7A9B"/>
                </a:solidFill>
                <a:latin typeface="Calibri" pitchFamily="34" charset="0"/>
                <a:ea typeface="Calibri" pitchFamily="34" charset="-122"/>
                <a:cs typeface="Calibri" pitchFamily="34" charset="-120"/>
              </a:rPr>
              <a:t>Source: AHA 2023</a:t>
            </a:r>
            <a:endParaRPr lang="en-US" sz="800" dirty="0"/>
          </a:p>
        </p:txBody>
      </p:sp>
      <p:sp>
        <p:nvSpPr>
          <p:cNvPr id="14" name="Shape 12"/>
          <p:cNvSpPr/>
          <p:nvPr/>
        </p:nvSpPr>
        <p:spPr>
          <a:xfrm>
            <a:off x="6089904" y="1508760"/>
            <a:ext cx="2633472" cy="2697480"/>
          </a:xfrm>
          <a:prstGeom prst="roundRect">
            <a:avLst>
              <a:gd name="adj" fmla="val 4167"/>
            </a:avLst>
          </a:prstGeom>
          <a:solidFill>
            <a:srgbClr val="F5FAFF"/>
          </a:solidFill>
          <a:ln w="12700">
            <a:solidFill>
              <a:srgbClr val="DAE9F6"/>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6199632" y="1627632"/>
            <a:ext cx="2414016" cy="896112"/>
          </a:xfrm>
          <a:prstGeom prst="rect">
            <a:avLst/>
          </a:prstGeom>
          <a:noFill/>
          <a:ln/>
        </p:spPr>
        <p:txBody>
          <a:bodyPr wrap="square" lIns="0" tIns="0" rIns="0" bIns="0" rtlCol="0" anchor="ctr"/>
          <a:lstStyle/>
          <a:p>
            <a:pPr algn="ctr" indent="0" marL="0">
              <a:buNone/>
            </a:pPr>
            <a:r>
              <a:rPr lang="en-US" sz="5000" b="1" dirty="0">
                <a:solidFill>
                  <a:srgbClr val="0077C8"/>
                </a:solidFill>
                <a:latin typeface="Calibri" pitchFamily="34" charset="0"/>
                <a:ea typeface="Calibri" pitchFamily="34" charset="-122"/>
                <a:cs typeface="Calibri" pitchFamily="34" charset="-120"/>
              </a:rPr>
              <a:t>~10M</a:t>
            </a:r>
            <a:endParaRPr lang="en-US" sz="5000" dirty="0"/>
          </a:p>
        </p:txBody>
      </p:sp>
      <p:sp>
        <p:nvSpPr>
          <p:cNvPr id="16" name="Text 14"/>
          <p:cNvSpPr/>
          <p:nvPr/>
        </p:nvSpPr>
        <p:spPr>
          <a:xfrm>
            <a:off x="6199632" y="2542032"/>
            <a:ext cx="2414016" cy="530352"/>
          </a:xfrm>
          <a:prstGeom prst="rect">
            <a:avLst/>
          </a:prstGeom>
          <a:noFill/>
          <a:ln/>
        </p:spPr>
        <p:txBody>
          <a:bodyPr wrap="square" lIns="0" tIns="0" rIns="0" bIns="0" rtlCol="0" anchor="ctr"/>
          <a:lstStyle/>
          <a:p>
            <a:pPr algn="ctr" indent="0" marL="0">
              <a:buNone/>
            </a:pPr>
            <a:r>
              <a:rPr lang="en-US" sz="1300" b="1" dirty="0">
                <a:solidFill>
                  <a:srgbClr val="0A1F3C"/>
                </a:solidFill>
                <a:latin typeface="Calibri" pitchFamily="34" charset="0"/>
                <a:ea typeface="Calibri" pitchFamily="34" charset="-122"/>
                <a:cs typeface="Calibri" pitchFamily="34" charset="-120"/>
              </a:rPr>
              <a:t>Undiagnosed</a:t>
            </a:r>
            <a:endParaRPr lang="en-US" sz="1300" dirty="0"/>
          </a:p>
          <a:p>
            <a:pPr algn="ctr" indent="0" marL="0">
              <a:buNone/>
            </a:pPr>
            <a:r>
              <a:rPr lang="en-US" sz="1300" b="1" dirty="0">
                <a:solidFill>
                  <a:srgbClr val="0A1F3C"/>
                </a:solidFill>
                <a:latin typeface="Calibri" pitchFamily="34" charset="0"/>
                <a:ea typeface="Calibri" pitchFamily="34" charset="-122"/>
                <a:cs typeface="Calibri" pitchFamily="34" charset="-120"/>
              </a:rPr>
              <a:t>Hypothyroidism</a:t>
            </a:r>
            <a:endParaRPr lang="en-US" sz="1300" dirty="0"/>
          </a:p>
        </p:txBody>
      </p:sp>
      <p:sp>
        <p:nvSpPr>
          <p:cNvPr id="17" name="Text 15"/>
          <p:cNvSpPr/>
          <p:nvPr/>
        </p:nvSpPr>
        <p:spPr>
          <a:xfrm>
            <a:off x="6199632" y="3090672"/>
            <a:ext cx="2414016" cy="292608"/>
          </a:xfrm>
          <a:prstGeom prst="rect">
            <a:avLst/>
          </a:prstGeom>
          <a:noFill/>
          <a:ln/>
        </p:spPr>
        <p:txBody>
          <a:bodyPr wrap="square" lIns="0" tIns="0" rIns="0" bIns="0" rtlCol="0" anchor="ctr"/>
          <a:lstStyle/>
          <a:p>
            <a:pPr algn="ctr" indent="0" marL="0">
              <a:buNone/>
            </a:pPr>
            <a:r>
              <a:rPr lang="en-US" sz="1100" b="1" dirty="0">
                <a:solidFill>
                  <a:srgbClr val="0077C8"/>
                </a:solidFill>
                <a:latin typeface="Calibri" pitchFamily="34" charset="0"/>
                <a:ea typeface="Calibri" pitchFamily="34" charset="-122"/>
                <a:cs typeface="Calibri" pitchFamily="34" charset="-120"/>
              </a:rPr>
              <a:t>~50% of all cases</a:t>
            </a:r>
            <a:endParaRPr lang="en-US" sz="1100" dirty="0"/>
          </a:p>
        </p:txBody>
      </p:sp>
      <p:sp>
        <p:nvSpPr>
          <p:cNvPr id="18" name="Text 16"/>
          <p:cNvSpPr/>
          <p:nvPr/>
        </p:nvSpPr>
        <p:spPr>
          <a:xfrm>
            <a:off x="6199632" y="3410712"/>
            <a:ext cx="2414016" cy="228600"/>
          </a:xfrm>
          <a:prstGeom prst="rect">
            <a:avLst/>
          </a:prstGeom>
          <a:noFill/>
          <a:ln/>
        </p:spPr>
        <p:txBody>
          <a:bodyPr wrap="square" lIns="0" tIns="0" rIns="0" bIns="0" rtlCol="0" anchor="ctr"/>
          <a:lstStyle/>
          <a:p>
            <a:pPr algn="ctr" indent="0" marL="0">
              <a:buNone/>
            </a:pPr>
            <a:r>
              <a:rPr lang="en-US" sz="800" i="1" dirty="0">
                <a:solidFill>
                  <a:srgbClr val="5A7A9B"/>
                </a:solidFill>
                <a:latin typeface="Calibri" pitchFamily="34" charset="0"/>
                <a:ea typeface="Calibri" pitchFamily="34" charset="-122"/>
                <a:cs typeface="Calibri" pitchFamily="34" charset="-120"/>
              </a:rPr>
              <a:t>Source: ATA literature</a:t>
            </a:r>
            <a:endParaRPr lang="en-US" sz="800" dirty="0"/>
          </a:p>
        </p:txBody>
      </p:sp>
      <p:sp>
        <p:nvSpPr>
          <p:cNvPr id="19" name="Shape 17"/>
          <p:cNvSpPr/>
          <p:nvPr/>
        </p:nvSpPr>
        <p:spPr>
          <a:xfrm>
            <a:off x="457200" y="4370832"/>
            <a:ext cx="8229600" cy="502920"/>
          </a:xfrm>
          <a:prstGeom prst="roundRect">
            <a:avLst>
              <a:gd name="adj" fmla="val 14545"/>
            </a:avLst>
          </a:prstGeom>
          <a:solidFill>
            <a:srgbClr val="DDEEF9"/>
          </a:solidFill>
          <a:ln w="12700">
            <a:solidFill>
              <a:srgbClr val="DDEEF9"/>
            </a:solidFill>
            <a:prstDash val="solid"/>
          </a:ln>
        </p:spPr>
      </p:sp>
      <p:sp>
        <p:nvSpPr>
          <p:cNvPr id="20" name="Text 18"/>
          <p:cNvSpPr/>
          <p:nvPr/>
        </p:nvSpPr>
        <p:spPr>
          <a:xfrm>
            <a:off x="594360" y="4407408"/>
            <a:ext cx="7955280" cy="429768"/>
          </a:xfrm>
          <a:prstGeom prst="rect">
            <a:avLst/>
          </a:prstGeom>
          <a:noFill/>
          <a:ln/>
        </p:spPr>
        <p:txBody>
          <a:bodyPr wrap="square" lIns="0" tIns="0" rIns="0" bIns="0" rtlCol="0" anchor="ctr"/>
          <a:lstStyle/>
          <a:p>
            <a:pPr algn="ctr" indent="0" marL="0">
              <a:buNone/>
            </a:pPr>
            <a:r>
              <a:rPr lang="en-US" sz="1100" i="1" dirty="0">
                <a:solidFill>
                  <a:srgbClr val="003087"/>
                </a:solidFill>
                <a:latin typeface="Calibri" pitchFamily="34" charset="0"/>
                <a:ea typeface="Calibri" pitchFamily="34" charset="-122"/>
                <a:cs typeface="Calibri" pitchFamily="34" charset="-120"/>
              </a:rPr>
              <a:t>Traditional pharma segmentation misses all of them — because undiagnosed patients have no claims, no Rx, no HCP relationship to target.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003087"/>
                </a:solidFill>
                <a:latin typeface="Calibri" pitchFamily="34" charset="0"/>
                <a:ea typeface="Calibri" pitchFamily="34" charset="-122"/>
                <a:cs typeface="Calibri" pitchFamily="34" charset="-120"/>
              </a:rPr>
              <a:t>Claims Data Only Sees Who's Already Found</a:t>
            </a:r>
            <a:endParaRPr lang="en-US" sz="2800" dirty="0"/>
          </a:p>
        </p:txBody>
      </p:sp>
      <p:sp>
        <p:nvSpPr>
          <p:cNvPr id="3" name="Shape 1"/>
          <p:cNvSpPr/>
          <p:nvPr/>
        </p:nvSpPr>
        <p:spPr>
          <a:xfrm>
            <a:off x="457200" y="1051560"/>
            <a:ext cx="3840480" cy="3657600"/>
          </a:xfrm>
          <a:prstGeom prst="roundRect">
            <a:avLst>
              <a:gd name="adj" fmla="val 3000"/>
            </a:avLst>
          </a:prstGeom>
          <a:solidFill>
            <a:srgbClr val="F8FAFF"/>
          </a:solidFill>
          <a:ln w="12700">
            <a:solidFill>
              <a:srgbClr val="D8E8F5"/>
            </a:solidFill>
            <a:prstDash val="solid"/>
          </a:ln>
        </p:spPr>
      </p:sp>
      <p:sp>
        <p:nvSpPr>
          <p:cNvPr id="4" name="Text 2"/>
          <p:cNvSpPr/>
          <p:nvPr/>
        </p:nvSpPr>
        <p:spPr>
          <a:xfrm>
            <a:off x="594360" y="1170432"/>
            <a:ext cx="3566160" cy="347472"/>
          </a:xfrm>
          <a:prstGeom prst="rect">
            <a:avLst/>
          </a:prstGeom>
          <a:noFill/>
          <a:ln/>
        </p:spPr>
        <p:txBody>
          <a:bodyPr wrap="square" lIns="0" tIns="0" rIns="0" bIns="0" rtlCol="0" anchor="ctr"/>
          <a:lstStyle/>
          <a:p>
            <a:pPr algn="l" indent="0" marL="0">
              <a:buNone/>
            </a:pPr>
            <a:r>
              <a:rPr lang="en-US" sz="1200" b="1" dirty="0">
                <a:solidFill>
                  <a:srgbClr val="5A7A9B"/>
                </a:solidFill>
                <a:latin typeface="Calibri" pitchFamily="34" charset="0"/>
                <a:ea typeface="Calibri" pitchFamily="34" charset="-122"/>
                <a:cs typeface="Calibri" pitchFamily="34" charset="-120"/>
              </a:rPr>
              <a:t>What Pharma Currently Does</a:t>
            </a:r>
            <a:endParaRPr lang="en-US" sz="1200" dirty="0"/>
          </a:p>
        </p:txBody>
      </p:sp>
      <p:sp>
        <p:nvSpPr>
          <p:cNvPr id="5" name="Text 3"/>
          <p:cNvSpPr/>
          <p:nvPr/>
        </p:nvSpPr>
        <p:spPr>
          <a:xfrm>
            <a:off x="640080" y="1627632"/>
            <a:ext cx="3520440" cy="457200"/>
          </a:xfrm>
          <a:prstGeom prst="rect">
            <a:avLst/>
          </a:prstGeom>
          <a:noFill/>
          <a:ln/>
        </p:spPr>
        <p:txBody>
          <a:bodyPr wrap="square" lIns="0" tIns="0" rIns="0" bIns="0" rtlCol="0" anchor="ctr"/>
          <a:lstStyle/>
          <a:p>
            <a:pPr algn="l" indent="0" marL="0">
              <a:buNone/>
            </a:pPr>
            <a:r>
              <a:rPr lang="en-US" sz="1150" dirty="0">
                <a:solidFill>
                  <a:srgbClr val="8A94A0"/>
                </a:solidFill>
                <a:latin typeface="Calibri" pitchFamily="34" charset="0"/>
                <a:ea typeface="Calibri" pitchFamily="34" charset="-122"/>
                <a:cs typeface="Calibri" pitchFamily="34" charset="-120"/>
              </a:rPr>
              <a:t>✗   Build HCP target lists from Rx claims data</a:t>
            </a:r>
            <a:endParaRPr lang="en-US" sz="1150" dirty="0"/>
          </a:p>
        </p:txBody>
      </p:sp>
      <p:sp>
        <p:nvSpPr>
          <p:cNvPr id="6" name="Text 4"/>
          <p:cNvSpPr/>
          <p:nvPr/>
        </p:nvSpPr>
        <p:spPr>
          <a:xfrm>
            <a:off x="640080" y="2139696"/>
            <a:ext cx="3520440" cy="457200"/>
          </a:xfrm>
          <a:prstGeom prst="rect">
            <a:avLst/>
          </a:prstGeom>
          <a:noFill/>
          <a:ln/>
        </p:spPr>
        <p:txBody>
          <a:bodyPr wrap="square" lIns="0" tIns="0" rIns="0" bIns="0" rtlCol="0" anchor="ctr"/>
          <a:lstStyle/>
          <a:p>
            <a:pPr algn="l" indent="0" marL="0">
              <a:buNone/>
            </a:pPr>
            <a:r>
              <a:rPr lang="en-US" sz="1150" dirty="0">
                <a:solidFill>
                  <a:srgbClr val="8A94A0"/>
                </a:solidFill>
                <a:latin typeface="Calibri" pitchFamily="34" charset="0"/>
                <a:ea typeface="Calibri" pitchFamily="34" charset="-122"/>
                <a:cs typeface="Calibri" pitchFamily="34" charset="-120"/>
              </a:rPr>
              <a:t>✗   Analyze diagnosed patient treatment journeys</a:t>
            </a:r>
            <a:endParaRPr lang="en-US" sz="1150" dirty="0"/>
          </a:p>
        </p:txBody>
      </p:sp>
      <p:sp>
        <p:nvSpPr>
          <p:cNvPr id="7" name="Text 5"/>
          <p:cNvSpPr/>
          <p:nvPr/>
        </p:nvSpPr>
        <p:spPr>
          <a:xfrm>
            <a:off x="640080" y="2651760"/>
            <a:ext cx="3520440" cy="457200"/>
          </a:xfrm>
          <a:prstGeom prst="rect">
            <a:avLst/>
          </a:prstGeom>
          <a:noFill/>
          <a:ln/>
        </p:spPr>
        <p:txBody>
          <a:bodyPr wrap="square" lIns="0" tIns="0" rIns="0" bIns="0" rtlCol="0" anchor="ctr"/>
          <a:lstStyle/>
          <a:p>
            <a:pPr algn="l" indent="0" marL="0">
              <a:buNone/>
            </a:pPr>
            <a:r>
              <a:rPr lang="en-US" sz="1150" dirty="0">
                <a:solidFill>
                  <a:srgbClr val="8A94A0"/>
                </a:solidFill>
                <a:latin typeface="Calibri" pitchFamily="34" charset="0"/>
                <a:ea typeface="Calibri" pitchFamily="34" charset="-122"/>
                <a:cs typeface="Calibri" pitchFamily="34" charset="-120"/>
              </a:rPr>
              <a:t>✗   Segment markets by prescribing volume</a:t>
            </a:r>
            <a:endParaRPr lang="en-US" sz="1150" dirty="0"/>
          </a:p>
        </p:txBody>
      </p:sp>
      <p:sp>
        <p:nvSpPr>
          <p:cNvPr id="8" name="Text 6"/>
          <p:cNvSpPr/>
          <p:nvPr/>
        </p:nvSpPr>
        <p:spPr>
          <a:xfrm>
            <a:off x="640080" y="3163824"/>
            <a:ext cx="3520440" cy="457200"/>
          </a:xfrm>
          <a:prstGeom prst="rect">
            <a:avLst/>
          </a:prstGeom>
          <a:noFill/>
          <a:ln/>
        </p:spPr>
        <p:txBody>
          <a:bodyPr wrap="square" lIns="0" tIns="0" rIns="0" bIns="0" rtlCol="0" anchor="ctr"/>
          <a:lstStyle/>
          <a:p>
            <a:pPr algn="l" indent="0" marL="0">
              <a:buNone/>
            </a:pPr>
            <a:r>
              <a:rPr lang="en-US" sz="1150" dirty="0">
                <a:solidFill>
                  <a:srgbClr val="8A94A0"/>
                </a:solidFill>
                <a:latin typeface="Calibri" pitchFamily="34" charset="0"/>
                <a:ea typeface="Calibri" pitchFamily="34" charset="-122"/>
                <a:cs typeface="Calibri" pitchFamily="34" charset="-120"/>
              </a:rPr>
              <a:t>✗   Run brand campaigns to identified patients</a:t>
            </a:r>
            <a:endParaRPr lang="en-US" sz="1150" dirty="0"/>
          </a:p>
        </p:txBody>
      </p:sp>
      <p:sp>
        <p:nvSpPr>
          <p:cNvPr id="9" name="Text 7"/>
          <p:cNvSpPr/>
          <p:nvPr/>
        </p:nvSpPr>
        <p:spPr>
          <a:xfrm>
            <a:off x="640080" y="3675888"/>
            <a:ext cx="3520440" cy="457200"/>
          </a:xfrm>
          <a:prstGeom prst="rect">
            <a:avLst/>
          </a:prstGeom>
          <a:noFill/>
          <a:ln/>
        </p:spPr>
        <p:txBody>
          <a:bodyPr wrap="square" lIns="0" tIns="0" rIns="0" bIns="0" rtlCol="0" anchor="ctr"/>
          <a:lstStyle/>
          <a:p>
            <a:pPr algn="l" indent="0" marL="0">
              <a:buNone/>
            </a:pPr>
            <a:r>
              <a:rPr lang="en-US" sz="1150" dirty="0">
                <a:solidFill>
                  <a:srgbClr val="8A94A0"/>
                </a:solidFill>
                <a:latin typeface="Calibri" pitchFamily="34" charset="0"/>
                <a:ea typeface="Calibri" pitchFamily="34" charset="-122"/>
                <a:cs typeface="Calibri" pitchFamily="34" charset="-120"/>
              </a:rPr>
              <a:t>✗   Measure share among existing Rx fillers</a:t>
            </a:r>
            <a:endParaRPr lang="en-US" sz="1150" dirty="0"/>
          </a:p>
        </p:txBody>
      </p:sp>
      <p:sp>
        <p:nvSpPr>
          <p:cNvPr id="10" name="Shape 8"/>
          <p:cNvSpPr/>
          <p:nvPr/>
        </p:nvSpPr>
        <p:spPr>
          <a:xfrm>
            <a:off x="4754880" y="1051560"/>
            <a:ext cx="3931920" cy="3657600"/>
          </a:xfrm>
          <a:prstGeom prst="roundRect">
            <a:avLst>
              <a:gd name="adj" fmla="val 3000"/>
            </a:avLst>
          </a:prstGeom>
          <a:solidFill>
            <a:srgbClr val="003087"/>
          </a:solidFill>
          <a:ln w="12700">
            <a:solidFill>
              <a:srgbClr val="003087"/>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892040" y="1170432"/>
            <a:ext cx="3566160" cy="347472"/>
          </a:xfrm>
          <a:prstGeom prst="rect">
            <a:avLst/>
          </a:prstGeom>
          <a:noFill/>
          <a:ln/>
        </p:spPr>
        <p:txBody>
          <a:bodyPr wrap="square" lIns="0" tIns="0" rIns="0" bIns="0" rtlCol="0" anchor="ctr"/>
          <a:lstStyle/>
          <a:p>
            <a:pPr algn="l" indent="0" marL="0">
              <a:buNone/>
            </a:pPr>
            <a:r>
              <a:rPr lang="en-US" sz="1200" b="1" dirty="0">
                <a:solidFill>
                  <a:srgbClr val="00A9E0"/>
                </a:solidFill>
                <a:latin typeface="Calibri" pitchFamily="34" charset="0"/>
                <a:ea typeface="Calibri" pitchFamily="34" charset="-122"/>
                <a:cs typeface="Calibri" pitchFamily="34" charset="-120"/>
              </a:rPr>
              <a:t>What SPPF Finds Instead</a:t>
            </a:r>
            <a:endParaRPr lang="en-US" sz="1200" dirty="0"/>
          </a:p>
        </p:txBody>
      </p:sp>
      <p:sp>
        <p:nvSpPr>
          <p:cNvPr id="12" name="Text 10"/>
          <p:cNvSpPr/>
          <p:nvPr/>
        </p:nvSpPr>
        <p:spPr>
          <a:xfrm>
            <a:off x="4892040" y="1627632"/>
            <a:ext cx="356616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   Score every US county by undiagnosed burden</a:t>
            </a:r>
            <a:endParaRPr lang="en-US" sz="1150" dirty="0"/>
          </a:p>
        </p:txBody>
      </p:sp>
      <p:sp>
        <p:nvSpPr>
          <p:cNvPr id="13" name="Text 11"/>
          <p:cNvSpPr/>
          <p:nvPr/>
        </p:nvSpPr>
        <p:spPr>
          <a:xfrm>
            <a:off x="4892040" y="2139696"/>
            <a:ext cx="356616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   Find where the system is missing patients</a:t>
            </a:r>
            <a:endParaRPr lang="en-US" sz="1150" dirty="0"/>
          </a:p>
        </p:txBody>
      </p:sp>
      <p:sp>
        <p:nvSpPr>
          <p:cNvPr id="14" name="Text 12"/>
          <p:cNvSpPr/>
          <p:nvPr/>
        </p:nvSpPr>
        <p:spPr>
          <a:xfrm>
            <a:off x="4892040" y="2651760"/>
            <a:ext cx="356616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   Overlay SDoH, payer incentives, access gaps</a:t>
            </a:r>
            <a:endParaRPr lang="en-US" sz="1150" dirty="0"/>
          </a:p>
        </p:txBody>
      </p:sp>
      <p:sp>
        <p:nvSpPr>
          <p:cNvPr id="15" name="Text 13"/>
          <p:cNvSpPr/>
          <p:nvPr/>
        </p:nvSpPr>
        <p:spPr>
          <a:xfrm>
            <a:off x="4892040" y="3163824"/>
            <a:ext cx="356616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   Recommend the right program type per market</a:t>
            </a:r>
            <a:endParaRPr lang="en-US" sz="1150" dirty="0"/>
          </a:p>
        </p:txBody>
      </p:sp>
      <p:sp>
        <p:nvSpPr>
          <p:cNvPr id="16" name="Text 14"/>
          <p:cNvSpPr/>
          <p:nvPr/>
        </p:nvSpPr>
        <p:spPr>
          <a:xfrm>
            <a:off x="4892040" y="3675888"/>
            <a:ext cx="3566160" cy="4572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   Give field teams ZIP-level territory scorecards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5669280" y="-914400"/>
            <a:ext cx="5029200" cy="5029200"/>
          </a:xfrm>
          <a:prstGeom prst="ellipse">
            <a:avLst/>
          </a:prstGeom>
          <a:solidFill>
            <a:srgbClr val="0077C8">
              <a:alpha val="20000"/>
            </a:srgbClr>
          </a:solidFill>
          <a:ln w="12700">
            <a:solidFill>
              <a:srgbClr val="0077C8"/>
            </a:solidFill>
            <a:prstDash val="solid"/>
          </a:ln>
        </p:spPr>
      </p:sp>
      <p:sp>
        <p:nvSpPr>
          <p:cNvPr id="3" name="Text 1"/>
          <p:cNvSpPr/>
          <p:nvPr/>
        </p:nvSpPr>
        <p:spPr>
          <a:xfrm>
            <a:off x="594360" y="1325880"/>
            <a:ext cx="7315200" cy="320040"/>
          </a:xfrm>
          <a:prstGeom prst="rect">
            <a:avLst/>
          </a:prstGeom>
          <a:noFill/>
          <a:ln/>
        </p:spPr>
        <p:txBody>
          <a:bodyPr wrap="square" lIns="0" tIns="0" rIns="0" bIns="0" rtlCol="0" anchor="ctr"/>
          <a:lstStyle/>
          <a:p>
            <a:pPr algn="l" indent="0" marL="0">
              <a:buNone/>
            </a:pPr>
            <a:r>
              <a:rPr lang="en-US" sz="950" b="1" spc="350" kern="0" dirty="0">
                <a:solidFill>
                  <a:srgbClr val="00A9E0"/>
                </a:solidFill>
                <a:latin typeface="Calibri" pitchFamily="34" charset="0"/>
                <a:ea typeface="Calibri" pitchFamily="34" charset="-122"/>
                <a:cs typeface="Calibri" pitchFamily="34" charset="-120"/>
              </a:rPr>
              <a:t>THE SCORING FRAMEWORK</a:t>
            </a:r>
            <a:endParaRPr lang="en-US" sz="950" dirty="0"/>
          </a:p>
        </p:txBody>
      </p:sp>
      <p:sp>
        <p:nvSpPr>
          <p:cNvPr id="4" name="Text 2"/>
          <p:cNvSpPr/>
          <p:nvPr/>
        </p:nvSpPr>
        <p:spPr>
          <a:xfrm>
            <a:off x="594360" y="1719072"/>
            <a:ext cx="6858000" cy="210312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7 Dimensions.</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7 Real Data Sources.</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One Composite Score.</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6FC"/>
        </a:solidFill>
      </p:bgPr>
    </p:bg>
    <p:spTree>
      <p:nvGrpSpPr>
        <p:cNvPr id="1" name=""/>
        <p:cNvGrpSpPr/>
        <p:nvPr/>
      </p:nvGrpSpPr>
      <p:grpSpPr>
        <a:xfrm>
          <a:off x="0" y="0"/>
          <a:ext cx="0" cy="0"/>
          <a:chOff x="0" y="0"/>
          <a:chExt cx="0" cy="0"/>
        </a:xfrm>
      </p:grpSpPr>
      <p:sp>
        <p:nvSpPr>
          <p:cNvPr id="2" name="Text 0"/>
          <p:cNvSpPr/>
          <p:nvPr/>
        </p:nvSpPr>
        <p:spPr>
          <a:xfrm>
            <a:off x="457200" y="228600"/>
            <a:ext cx="8229600" cy="566928"/>
          </a:xfrm>
          <a:prstGeom prst="rect">
            <a:avLst/>
          </a:prstGeom>
          <a:noFill/>
          <a:ln/>
        </p:spPr>
        <p:txBody>
          <a:bodyPr wrap="square" lIns="0" tIns="0" rIns="0" bIns="0" rtlCol="0" anchor="ctr"/>
          <a:lstStyle/>
          <a:p>
            <a:pPr algn="l" indent="0" marL="0">
              <a:buNone/>
            </a:pPr>
            <a:r>
              <a:rPr lang="en-US" sz="2400" b="1" dirty="0">
                <a:solidFill>
                  <a:srgbClr val="003087"/>
                </a:solidFill>
                <a:latin typeface="Calibri" pitchFamily="34" charset="0"/>
                <a:ea typeface="Calibri" pitchFamily="34" charset="-122"/>
                <a:cs typeface="Calibri" pitchFamily="34" charset="-120"/>
              </a:rPr>
              <a:t>A Clinically Grounded 7-Dimension Opportunity Score</a:t>
            </a:r>
            <a:endParaRPr lang="en-US" sz="2400" dirty="0"/>
          </a:p>
        </p:txBody>
      </p:sp>
      <p:sp>
        <p:nvSpPr>
          <p:cNvPr id="3" name="Text 1"/>
          <p:cNvSpPr/>
          <p:nvPr/>
        </p:nvSpPr>
        <p:spPr>
          <a:xfrm>
            <a:off x="457200" y="795528"/>
            <a:ext cx="8229600" cy="256032"/>
          </a:xfrm>
          <a:prstGeom prst="rect">
            <a:avLst/>
          </a:prstGeom>
          <a:noFill/>
          <a:ln/>
        </p:spPr>
        <p:txBody>
          <a:bodyPr wrap="square" lIns="0" tIns="0" rIns="0" bIns="0" rtlCol="0" anchor="ctr"/>
          <a:lstStyle/>
          <a:p>
            <a:pPr algn="l" indent="0" marL="0">
              <a:buNone/>
            </a:pPr>
            <a:r>
              <a:rPr lang="en-US" sz="1050" dirty="0">
                <a:solidFill>
                  <a:srgbClr val="5A7A9B"/>
                </a:solidFill>
                <a:latin typeface="Calibri" pitchFamily="34" charset="0"/>
                <a:ea typeface="Calibri" pitchFamily="34" charset="-122"/>
                <a:cs typeface="Calibri" pitchFamily="34" charset="-120"/>
              </a:rPr>
              <a:t>Each dimension answers a distinct strategic question — no single factor determines the score</a:t>
            </a:r>
            <a:endParaRPr lang="en-US" sz="1050" dirty="0"/>
          </a:p>
        </p:txBody>
      </p:sp>
      <p:sp>
        <p:nvSpPr>
          <p:cNvPr id="4" name="Shape 2"/>
          <p:cNvSpPr/>
          <p:nvPr/>
        </p:nvSpPr>
        <p:spPr>
          <a:xfrm>
            <a:off x="384048" y="1170432"/>
            <a:ext cx="1938528" cy="1783080"/>
          </a:xfrm>
          <a:prstGeom prst="roundRect">
            <a:avLst>
              <a:gd name="adj" fmla="val 5128"/>
            </a:avLst>
          </a:prstGeom>
          <a:solidFill>
            <a:srgbClr val="FFFFFF"/>
          </a:solidFill>
          <a:ln w="12700">
            <a:solidFill>
              <a:srgbClr val="E0EAF5"/>
            </a:solidFill>
            <a:prstDash val="solid"/>
          </a:ln>
          <a:effectLst>
            <a:outerShdw sx="100000" sy="100000" kx="0" ky="0" algn="bl" rotWithShape="0" blurRad="63500" dist="25400" dir="2700000">
              <a:srgbClr val="000000">
                <a:alpha val="8000"/>
              </a:srgbClr>
            </a:outerShdw>
          </a:effectLst>
        </p:spPr>
      </p:sp>
      <p:sp>
        <p:nvSpPr>
          <p:cNvPr id="5" name="Text 3"/>
          <p:cNvSpPr/>
          <p:nvPr/>
        </p:nvSpPr>
        <p:spPr>
          <a:xfrm>
            <a:off x="493776" y="1243584"/>
            <a:ext cx="1719072" cy="384048"/>
          </a:xfrm>
          <a:prstGeom prst="rect">
            <a:avLst/>
          </a:prstGeom>
          <a:noFill/>
          <a:ln/>
        </p:spPr>
        <p:txBody>
          <a:bodyPr wrap="square" lIns="0" tIns="0" rIns="0" bIns="0" rtlCol="0" anchor="ctr"/>
          <a:lstStyle/>
          <a:p>
            <a:pPr algn="l" indent="0" marL="0">
              <a:buNone/>
            </a:pPr>
            <a:r>
              <a:rPr lang="en-US" sz="2000" dirty="0">
                <a:solidFill>
                  <a:srgbClr val="000000"/>
                </a:solidFill>
              </a:rPr>
              <a:t>🧬</a:t>
            </a:r>
            <a:endParaRPr lang="en-US" sz="2000" dirty="0"/>
          </a:p>
        </p:txBody>
      </p:sp>
      <p:sp>
        <p:nvSpPr>
          <p:cNvPr id="6" name="Text 4"/>
          <p:cNvSpPr/>
          <p:nvPr/>
        </p:nvSpPr>
        <p:spPr>
          <a:xfrm>
            <a:off x="493776" y="1645920"/>
            <a:ext cx="1719072" cy="347472"/>
          </a:xfrm>
          <a:prstGeom prst="rect">
            <a:avLst/>
          </a:prstGeom>
          <a:noFill/>
          <a:ln/>
        </p:spPr>
        <p:txBody>
          <a:bodyPr wrap="square" lIns="0" tIns="0" rIns="0" bIns="0" rtlCol="0" anchor="ctr"/>
          <a:lstStyle/>
          <a:p>
            <a:pPr algn="l" indent="0" marL="0">
              <a:buNone/>
            </a:pPr>
            <a:r>
              <a:rPr lang="en-US" sz="1100" b="1" dirty="0">
                <a:solidFill>
                  <a:srgbClr val="E76F51"/>
                </a:solidFill>
                <a:latin typeface="Calibri" pitchFamily="34" charset="0"/>
                <a:ea typeface="Calibri" pitchFamily="34" charset="-122"/>
                <a:cs typeface="Calibri" pitchFamily="34" charset="-120"/>
              </a:rPr>
              <a:t>Disease Burden</a:t>
            </a:r>
            <a:endParaRPr lang="en-US" sz="1100" dirty="0"/>
          </a:p>
        </p:txBody>
      </p:sp>
      <p:sp>
        <p:nvSpPr>
          <p:cNvPr id="7" name="Text 5"/>
          <p:cNvSpPr/>
          <p:nvPr/>
        </p:nvSpPr>
        <p:spPr>
          <a:xfrm>
            <a:off x="493776" y="2011680"/>
            <a:ext cx="1719072" cy="502920"/>
          </a:xfrm>
          <a:prstGeom prst="rect">
            <a:avLst/>
          </a:prstGeom>
          <a:noFill/>
          <a:ln/>
        </p:spPr>
        <p:txBody>
          <a:bodyPr wrap="square" lIns="0" tIns="0" rIns="0" bIns="0" rtlCol="0" anchor="ctr"/>
          <a:lstStyle/>
          <a:p>
            <a:pPr algn="l" indent="0" marL="0">
              <a:buNone/>
            </a:pPr>
            <a:r>
              <a:rPr lang="en-US" sz="900" dirty="0">
                <a:solidFill>
                  <a:srgbClr val="5A7A9B"/>
                </a:solidFill>
                <a:latin typeface="Calibri" pitchFamily="34" charset="0"/>
                <a:ea typeface="Calibri" pitchFamily="34" charset="-122"/>
                <a:cs typeface="Calibri" pitchFamily="34" charset="-120"/>
              </a:rPr>
              <a:t>How big is the opportunity?</a:t>
            </a:r>
            <a:endParaRPr lang="en-US" sz="900" dirty="0"/>
          </a:p>
        </p:txBody>
      </p:sp>
      <p:sp>
        <p:nvSpPr>
          <p:cNvPr id="8" name="Text 6"/>
          <p:cNvSpPr/>
          <p:nvPr/>
        </p:nvSpPr>
        <p:spPr>
          <a:xfrm>
            <a:off x="493776" y="2542032"/>
            <a:ext cx="1719072" cy="256032"/>
          </a:xfrm>
          <a:prstGeom prst="rect">
            <a:avLst/>
          </a:prstGeom>
          <a:noFill/>
          <a:ln/>
        </p:spPr>
        <p:txBody>
          <a:bodyPr wrap="square" lIns="0" tIns="0" rIns="0" bIns="0" rtlCol="0" anchor="ctr"/>
          <a:lstStyle/>
          <a:p>
            <a:pPr algn="l" indent="0" marL="0">
              <a:buNone/>
            </a:pPr>
            <a:r>
              <a:rPr lang="en-US" sz="1000" b="1" dirty="0">
                <a:solidFill>
                  <a:srgbClr val="003087"/>
                </a:solidFill>
                <a:latin typeface="Calibri" pitchFamily="34" charset="0"/>
                <a:ea typeface="Calibri" pitchFamily="34" charset="-122"/>
                <a:cs typeface="Calibri" pitchFamily="34" charset="-120"/>
              </a:rPr>
              <a:t>20% weight</a:t>
            </a:r>
            <a:endParaRPr lang="en-US" sz="1000" dirty="0"/>
          </a:p>
        </p:txBody>
      </p:sp>
      <p:sp>
        <p:nvSpPr>
          <p:cNvPr id="9" name="Shape 7"/>
          <p:cNvSpPr/>
          <p:nvPr/>
        </p:nvSpPr>
        <p:spPr>
          <a:xfrm>
            <a:off x="2468880" y="1170432"/>
            <a:ext cx="1938528" cy="1783080"/>
          </a:xfrm>
          <a:prstGeom prst="roundRect">
            <a:avLst>
              <a:gd name="adj" fmla="val 5128"/>
            </a:avLst>
          </a:prstGeom>
          <a:solidFill>
            <a:srgbClr val="FFFFFF"/>
          </a:solidFill>
          <a:ln w="12700">
            <a:solidFill>
              <a:srgbClr val="E0EAF5"/>
            </a:solidFill>
            <a:prstDash val="solid"/>
          </a:ln>
          <a:effectLst>
            <a:outerShdw sx="100000" sy="100000" kx="0" ky="0" algn="bl" rotWithShape="0" blurRad="63500" dist="25400" dir="2700000">
              <a:srgbClr val="000000">
                <a:alpha val="8000"/>
              </a:srgbClr>
            </a:outerShdw>
          </a:effectLst>
        </p:spPr>
      </p:sp>
      <p:sp>
        <p:nvSpPr>
          <p:cNvPr id="10" name="Text 8"/>
          <p:cNvSpPr/>
          <p:nvPr/>
        </p:nvSpPr>
        <p:spPr>
          <a:xfrm>
            <a:off x="2578608" y="1243584"/>
            <a:ext cx="1719072" cy="384048"/>
          </a:xfrm>
          <a:prstGeom prst="rect">
            <a:avLst/>
          </a:prstGeom>
          <a:noFill/>
          <a:ln/>
        </p:spPr>
        <p:txBody>
          <a:bodyPr wrap="square" lIns="0" tIns="0" rIns="0" bIns="0" rtlCol="0" anchor="ctr"/>
          <a:lstStyle/>
          <a:p>
            <a:pPr algn="l" indent="0" marL="0">
              <a:buNone/>
            </a:pPr>
            <a:r>
              <a:rPr lang="en-US" sz="2000" dirty="0">
                <a:solidFill>
                  <a:srgbClr val="000000"/>
                </a:solidFill>
              </a:rPr>
              <a:t>🔍</a:t>
            </a:r>
            <a:endParaRPr lang="en-US" sz="2000" dirty="0"/>
          </a:p>
        </p:txBody>
      </p:sp>
      <p:sp>
        <p:nvSpPr>
          <p:cNvPr id="11" name="Text 9"/>
          <p:cNvSpPr/>
          <p:nvPr/>
        </p:nvSpPr>
        <p:spPr>
          <a:xfrm>
            <a:off x="2578608" y="1645920"/>
            <a:ext cx="1719072" cy="347472"/>
          </a:xfrm>
          <a:prstGeom prst="rect">
            <a:avLst/>
          </a:prstGeom>
          <a:noFill/>
          <a:ln/>
        </p:spPr>
        <p:txBody>
          <a:bodyPr wrap="square" lIns="0" tIns="0" rIns="0" bIns="0" rtlCol="0" anchor="ctr"/>
          <a:lstStyle/>
          <a:p>
            <a:pPr algn="l" indent="0" marL="0">
              <a:buNone/>
            </a:pPr>
            <a:r>
              <a:rPr lang="en-US" sz="1100" b="1" dirty="0">
                <a:solidFill>
                  <a:srgbClr val="E63946"/>
                </a:solidFill>
                <a:latin typeface="Calibri" pitchFamily="34" charset="0"/>
                <a:ea typeface="Calibri" pitchFamily="34" charset="-122"/>
                <a:cs typeface="Calibri" pitchFamily="34" charset="-120"/>
              </a:rPr>
              <a:t>Diagnosis Gap</a:t>
            </a:r>
            <a:endParaRPr lang="en-US" sz="1100" dirty="0"/>
          </a:p>
        </p:txBody>
      </p:sp>
      <p:sp>
        <p:nvSpPr>
          <p:cNvPr id="12" name="Text 10"/>
          <p:cNvSpPr/>
          <p:nvPr/>
        </p:nvSpPr>
        <p:spPr>
          <a:xfrm>
            <a:off x="2578608" y="2011680"/>
            <a:ext cx="1719072" cy="502920"/>
          </a:xfrm>
          <a:prstGeom prst="rect">
            <a:avLst/>
          </a:prstGeom>
          <a:noFill/>
          <a:ln/>
        </p:spPr>
        <p:txBody>
          <a:bodyPr wrap="square" lIns="0" tIns="0" rIns="0" bIns="0" rtlCol="0" anchor="ctr"/>
          <a:lstStyle/>
          <a:p>
            <a:pPr algn="l" indent="0" marL="0">
              <a:buNone/>
            </a:pPr>
            <a:r>
              <a:rPr lang="en-US" sz="900" dirty="0">
                <a:solidFill>
                  <a:srgbClr val="5A7A9B"/>
                </a:solidFill>
                <a:latin typeface="Calibri" pitchFamily="34" charset="0"/>
                <a:ea typeface="Calibri" pitchFamily="34" charset="-122"/>
                <a:cs typeface="Calibri" pitchFamily="34" charset="-120"/>
              </a:rPr>
              <a:t>How many silent patients here?</a:t>
            </a:r>
            <a:endParaRPr lang="en-US" sz="900" dirty="0"/>
          </a:p>
        </p:txBody>
      </p:sp>
      <p:sp>
        <p:nvSpPr>
          <p:cNvPr id="13" name="Text 11"/>
          <p:cNvSpPr/>
          <p:nvPr/>
        </p:nvSpPr>
        <p:spPr>
          <a:xfrm>
            <a:off x="2578608" y="2542032"/>
            <a:ext cx="1719072" cy="256032"/>
          </a:xfrm>
          <a:prstGeom prst="rect">
            <a:avLst/>
          </a:prstGeom>
          <a:noFill/>
          <a:ln/>
        </p:spPr>
        <p:txBody>
          <a:bodyPr wrap="square" lIns="0" tIns="0" rIns="0" bIns="0" rtlCol="0" anchor="ctr"/>
          <a:lstStyle/>
          <a:p>
            <a:pPr algn="l" indent="0" marL="0">
              <a:buNone/>
            </a:pPr>
            <a:r>
              <a:rPr lang="en-US" sz="1000" b="1" dirty="0">
                <a:solidFill>
                  <a:srgbClr val="003087"/>
                </a:solidFill>
                <a:latin typeface="Calibri" pitchFamily="34" charset="0"/>
                <a:ea typeface="Calibri" pitchFamily="34" charset="-122"/>
                <a:cs typeface="Calibri" pitchFamily="34" charset="-120"/>
              </a:rPr>
              <a:t>25% weight</a:t>
            </a:r>
            <a:endParaRPr lang="en-US" sz="1000" dirty="0"/>
          </a:p>
        </p:txBody>
      </p:sp>
      <p:sp>
        <p:nvSpPr>
          <p:cNvPr id="14" name="Shape 12"/>
          <p:cNvSpPr/>
          <p:nvPr/>
        </p:nvSpPr>
        <p:spPr>
          <a:xfrm>
            <a:off x="4553712" y="1170432"/>
            <a:ext cx="1938528" cy="1783080"/>
          </a:xfrm>
          <a:prstGeom prst="roundRect">
            <a:avLst>
              <a:gd name="adj" fmla="val 5128"/>
            </a:avLst>
          </a:prstGeom>
          <a:solidFill>
            <a:srgbClr val="FFFFFF"/>
          </a:solidFill>
          <a:ln w="12700">
            <a:solidFill>
              <a:srgbClr val="E0EAF5"/>
            </a:solidFill>
            <a:prstDash val="solid"/>
          </a:ln>
          <a:effectLst>
            <a:outerShdw sx="100000" sy="100000" kx="0" ky="0" algn="bl" rotWithShape="0" blurRad="63500" dist="25400" dir="2700000">
              <a:srgbClr val="000000">
                <a:alpha val="8000"/>
              </a:srgbClr>
            </a:outerShdw>
          </a:effectLst>
        </p:spPr>
      </p:sp>
      <p:sp>
        <p:nvSpPr>
          <p:cNvPr id="15" name="Text 13"/>
          <p:cNvSpPr/>
          <p:nvPr/>
        </p:nvSpPr>
        <p:spPr>
          <a:xfrm>
            <a:off x="4663440" y="1243584"/>
            <a:ext cx="1719072" cy="384048"/>
          </a:xfrm>
          <a:prstGeom prst="rect">
            <a:avLst/>
          </a:prstGeom>
          <a:noFill/>
          <a:ln/>
        </p:spPr>
        <p:txBody>
          <a:bodyPr wrap="square" lIns="0" tIns="0" rIns="0" bIns="0" rtlCol="0" anchor="ctr"/>
          <a:lstStyle/>
          <a:p>
            <a:pPr algn="l" indent="0" marL="0">
              <a:buNone/>
            </a:pPr>
            <a:r>
              <a:rPr lang="en-US" sz="2000" dirty="0">
                <a:solidFill>
                  <a:srgbClr val="000000"/>
                </a:solidFill>
              </a:rPr>
              <a:t>🏥</a:t>
            </a:r>
            <a:endParaRPr lang="en-US" sz="2000" dirty="0"/>
          </a:p>
        </p:txBody>
      </p:sp>
      <p:sp>
        <p:nvSpPr>
          <p:cNvPr id="16" name="Text 14"/>
          <p:cNvSpPr/>
          <p:nvPr/>
        </p:nvSpPr>
        <p:spPr>
          <a:xfrm>
            <a:off x="4663440" y="1645920"/>
            <a:ext cx="1719072" cy="347472"/>
          </a:xfrm>
          <a:prstGeom prst="rect">
            <a:avLst/>
          </a:prstGeom>
          <a:noFill/>
          <a:ln/>
        </p:spPr>
        <p:txBody>
          <a:bodyPr wrap="square" lIns="0" tIns="0" rIns="0" bIns="0" rtlCol="0" anchor="ctr"/>
          <a:lstStyle/>
          <a:p>
            <a:pPr algn="l" indent="0" marL="0">
              <a:buNone/>
            </a:pPr>
            <a:r>
              <a:rPr lang="en-US" sz="1100" b="1" dirty="0">
                <a:solidFill>
                  <a:srgbClr val="2A9D8F"/>
                </a:solidFill>
                <a:latin typeface="Calibri" pitchFamily="34" charset="0"/>
                <a:ea typeface="Calibri" pitchFamily="34" charset="-122"/>
                <a:cs typeface="Calibri" pitchFamily="34" charset="-120"/>
              </a:rPr>
              <a:t>Access to Care</a:t>
            </a:r>
            <a:endParaRPr lang="en-US" sz="1100" dirty="0"/>
          </a:p>
        </p:txBody>
      </p:sp>
      <p:sp>
        <p:nvSpPr>
          <p:cNvPr id="17" name="Text 15"/>
          <p:cNvSpPr/>
          <p:nvPr/>
        </p:nvSpPr>
        <p:spPr>
          <a:xfrm>
            <a:off x="4663440" y="2011680"/>
            <a:ext cx="1719072" cy="502920"/>
          </a:xfrm>
          <a:prstGeom prst="rect">
            <a:avLst/>
          </a:prstGeom>
          <a:noFill/>
          <a:ln/>
        </p:spPr>
        <p:txBody>
          <a:bodyPr wrap="square" lIns="0" tIns="0" rIns="0" bIns="0" rtlCol="0" anchor="ctr"/>
          <a:lstStyle/>
          <a:p>
            <a:pPr algn="l" indent="0" marL="0">
              <a:buNone/>
            </a:pPr>
            <a:r>
              <a:rPr lang="en-US" sz="900" dirty="0">
                <a:solidFill>
                  <a:srgbClr val="5A7A9B"/>
                </a:solidFill>
                <a:latin typeface="Calibri" pitchFamily="34" charset="0"/>
                <a:ea typeface="Calibri" pitchFamily="34" charset="-122"/>
                <a:cs typeface="Calibri" pitchFamily="34" charset="-120"/>
              </a:rPr>
              <a:t>Can patients get treated here?</a:t>
            </a:r>
            <a:endParaRPr lang="en-US" sz="900" dirty="0"/>
          </a:p>
        </p:txBody>
      </p:sp>
      <p:sp>
        <p:nvSpPr>
          <p:cNvPr id="18" name="Text 16"/>
          <p:cNvSpPr/>
          <p:nvPr/>
        </p:nvSpPr>
        <p:spPr>
          <a:xfrm>
            <a:off x="4663440" y="2542032"/>
            <a:ext cx="1719072" cy="256032"/>
          </a:xfrm>
          <a:prstGeom prst="rect">
            <a:avLst/>
          </a:prstGeom>
          <a:noFill/>
          <a:ln/>
        </p:spPr>
        <p:txBody>
          <a:bodyPr wrap="square" lIns="0" tIns="0" rIns="0" bIns="0" rtlCol="0" anchor="ctr"/>
          <a:lstStyle/>
          <a:p>
            <a:pPr algn="l" indent="0" marL="0">
              <a:buNone/>
            </a:pPr>
            <a:r>
              <a:rPr lang="en-US" sz="1000" b="1" dirty="0">
                <a:solidFill>
                  <a:srgbClr val="003087"/>
                </a:solidFill>
                <a:latin typeface="Calibri" pitchFamily="34" charset="0"/>
                <a:ea typeface="Calibri" pitchFamily="34" charset="-122"/>
                <a:cs typeface="Calibri" pitchFamily="34" charset="-120"/>
              </a:rPr>
              <a:t>15% weight</a:t>
            </a:r>
            <a:endParaRPr lang="en-US" sz="1000" dirty="0"/>
          </a:p>
        </p:txBody>
      </p:sp>
      <p:sp>
        <p:nvSpPr>
          <p:cNvPr id="19" name="Shape 17"/>
          <p:cNvSpPr/>
          <p:nvPr/>
        </p:nvSpPr>
        <p:spPr>
          <a:xfrm>
            <a:off x="6638544" y="1170432"/>
            <a:ext cx="1938528" cy="1783080"/>
          </a:xfrm>
          <a:prstGeom prst="roundRect">
            <a:avLst>
              <a:gd name="adj" fmla="val 5128"/>
            </a:avLst>
          </a:prstGeom>
          <a:solidFill>
            <a:srgbClr val="FFFFFF"/>
          </a:solidFill>
          <a:ln w="12700">
            <a:solidFill>
              <a:srgbClr val="E0EAF5"/>
            </a:solidFill>
            <a:prstDash val="solid"/>
          </a:ln>
          <a:effectLst>
            <a:outerShdw sx="100000" sy="100000" kx="0" ky="0" algn="bl" rotWithShape="0" blurRad="63500" dist="25400" dir="2700000">
              <a:srgbClr val="000000">
                <a:alpha val="8000"/>
              </a:srgbClr>
            </a:outerShdw>
          </a:effectLst>
        </p:spPr>
      </p:sp>
      <p:sp>
        <p:nvSpPr>
          <p:cNvPr id="20" name="Text 18"/>
          <p:cNvSpPr/>
          <p:nvPr/>
        </p:nvSpPr>
        <p:spPr>
          <a:xfrm>
            <a:off x="6748272" y="1243584"/>
            <a:ext cx="1719072" cy="384048"/>
          </a:xfrm>
          <a:prstGeom prst="rect">
            <a:avLst/>
          </a:prstGeom>
          <a:noFill/>
          <a:ln/>
        </p:spPr>
        <p:txBody>
          <a:bodyPr wrap="square" lIns="0" tIns="0" rIns="0" bIns="0" rtlCol="0" anchor="ctr"/>
          <a:lstStyle/>
          <a:p>
            <a:pPr algn="l" indent="0" marL="0">
              <a:buNone/>
            </a:pPr>
            <a:r>
              <a:rPr lang="en-US" sz="2000" dirty="0">
                <a:solidFill>
                  <a:srgbClr val="000000"/>
                </a:solidFill>
              </a:rPr>
              <a:t>🏘️</a:t>
            </a:r>
            <a:endParaRPr lang="en-US" sz="2000" dirty="0"/>
          </a:p>
        </p:txBody>
      </p:sp>
      <p:sp>
        <p:nvSpPr>
          <p:cNvPr id="21" name="Text 19"/>
          <p:cNvSpPr/>
          <p:nvPr/>
        </p:nvSpPr>
        <p:spPr>
          <a:xfrm>
            <a:off x="6748272" y="1645920"/>
            <a:ext cx="1719072" cy="347472"/>
          </a:xfrm>
          <a:prstGeom prst="rect">
            <a:avLst/>
          </a:prstGeom>
          <a:noFill/>
          <a:ln/>
        </p:spPr>
        <p:txBody>
          <a:bodyPr wrap="square" lIns="0" tIns="0" rIns="0" bIns="0" rtlCol="0" anchor="ctr"/>
          <a:lstStyle/>
          <a:p>
            <a:pPr algn="l" indent="0" marL="0">
              <a:buNone/>
            </a:pPr>
            <a:r>
              <a:rPr lang="en-US" sz="1100" b="1" dirty="0">
                <a:solidFill>
                  <a:srgbClr val="E8A020"/>
                </a:solidFill>
                <a:latin typeface="Calibri" pitchFamily="34" charset="0"/>
                <a:ea typeface="Calibri" pitchFamily="34" charset="-122"/>
                <a:cs typeface="Calibri" pitchFamily="34" charset="-120"/>
              </a:rPr>
              <a:t>Social Determinants</a:t>
            </a:r>
            <a:endParaRPr lang="en-US" sz="1100" dirty="0"/>
          </a:p>
        </p:txBody>
      </p:sp>
      <p:sp>
        <p:nvSpPr>
          <p:cNvPr id="22" name="Text 20"/>
          <p:cNvSpPr/>
          <p:nvPr/>
        </p:nvSpPr>
        <p:spPr>
          <a:xfrm>
            <a:off x="6748272" y="2011680"/>
            <a:ext cx="1719072" cy="502920"/>
          </a:xfrm>
          <a:prstGeom prst="rect">
            <a:avLst/>
          </a:prstGeom>
          <a:noFill/>
          <a:ln/>
        </p:spPr>
        <p:txBody>
          <a:bodyPr wrap="square" lIns="0" tIns="0" rIns="0" bIns="0" rtlCol="0" anchor="ctr"/>
          <a:lstStyle/>
          <a:p>
            <a:pPr algn="l" indent="0" marL="0">
              <a:buNone/>
            </a:pPr>
            <a:r>
              <a:rPr lang="en-US" sz="900" dirty="0">
                <a:solidFill>
                  <a:srgbClr val="5A7A9B"/>
                </a:solidFill>
                <a:latin typeface="Calibri" pitchFamily="34" charset="0"/>
                <a:ea typeface="Calibri" pitchFamily="34" charset="-122"/>
                <a:cs typeface="Calibri" pitchFamily="34" charset="-120"/>
              </a:rPr>
              <a:t>What's driving the gap?</a:t>
            </a:r>
            <a:endParaRPr lang="en-US" sz="900" dirty="0"/>
          </a:p>
        </p:txBody>
      </p:sp>
      <p:sp>
        <p:nvSpPr>
          <p:cNvPr id="23" name="Text 21"/>
          <p:cNvSpPr/>
          <p:nvPr/>
        </p:nvSpPr>
        <p:spPr>
          <a:xfrm>
            <a:off x="6748272" y="2542032"/>
            <a:ext cx="1719072" cy="256032"/>
          </a:xfrm>
          <a:prstGeom prst="rect">
            <a:avLst/>
          </a:prstGeom>
          <a:noFill/>
          <a:ln/>
        </p:spPr>
        <p:txBody>
          <a:bodyPr wrap="square" lIns="0" tIns="0" rIns="0" bIns="0" rtlCol="0" anchor="ctr"/>
          <a:lstStyle/>
          <a:p>
            <a:pPr algn="l" indent="0" marL="0">
              <a:buNone/>
            </a:pPr>
            <a:r>
              <a:rPr lang="en-US" sz="1000" b="1" dirty="0">
                <a:solidFill>
                  <a:srgbClr val="003087"/>
                </a:solidFill>
                <a:latin typeface="Calibri" pitchFamily="34" charset="0"/>
                <a:ea typeface="Calibri" pitchFamily="34" charset="-122"/>
                <a:cs typeface="Calibri" pitchFamily="34" charset="-120"/>
              </a:rPr>
              <a:t>15% weight</a:t>
            </a:r>
            <a:endParaRPr lang="en-US" sz="1000" dirty="0"/>
          </a:p>
        </p:txBody>
      </p:sp>
      <p:sp>
        <p:nvSpPr>
          <p:cNvPr id="24" name="Shape 22"/>
          <p:cNvSpPr/>
          <p:nvPr/>
        </p:nvSpPr>
        <p:spPr>
          <a:xfrm>
            <a:off x="384048" y="3063240"/>
            <a:ext cx="1938528" cy="1783080"/>
          </a:xfrm>
          <a:prstGeom prst="roundRect">
            <a:avLst>
              <a:gd name="adj" fmla="val 5128"/>
            </a:avLst>
          </a:prstGeom>
          <a:solidFill>
            <a:srgbClr val="FFFFFF"/>
          </a:solidFill>
          <a:ln w="12700">
            <a:solidFill>
              <a:srgbClr val="E0EAF5"/>
            </a:solidFill>
            <a:prstDash val="solid"/>
          </a:ln>
          <a:effectLst>
            <a:outerShdw sx="100000" sy="100000" kx="0" ky="0" algn="bl" rotWithShape="0" blurRad="63500" dist="25400" dir="2700000">
              <a:srgbClr val="000000">
                <a:alpha val="8000"/>
              </a:srgbClr>
            </a:outerShdw>
          </a:effectLst>
        </p:spPr>
      </p:sp>
      <p:sp>
        <p:nvSpPr>
          <p:cNvPr id="25" name="Text 23"/>
          <p:cNvSpPr/>
          <p:nvPr/>
        </p:nvSpPr>
        <p:spPr>
          <a:xfrm>
            <a:off x="493776" y="3136392"/>
            <a:ext cx="1719072" cy="384048"/>
          </a:xfrm>
          <a:prstGeom prst="rect">
            <a:avLst/>
          </a:prstGeom>
          <a:noFill/>
          <a:ln/>
        </p:spPr>
        <p:txBody>
          <a:bodyPr wrap="square" lIns="0" tIns="0" rIns="0" bIns="0" rtlCol="0" anchor="ctr"/>
          <a:lstStyle/>
          <a:p>
            <a:pPr algn="l" indent="0" marL="0">
              <a:buNone/>
            </a:pPr>
            <a:r>
              <a:rPr lang="en-US" sz="2000" dirty="0">
                <a:solidFill>
                  <a:srgbClr val="000000"/>
                </a:solidFill>
              </a:rPr>
              <a:t>💳</a:t>
            </a:r>
            <a:endParaRPr lang="en-US" sz="2000" dirty="0"/>
          </a:p>
        </p:txBody>
      </p:sp>
      <p:sp>
        <p:nvSpPr>
          <p:cNvPr id="26" name="Text 24"/>
          <p:cNvSpPr/>
          <p:nvPr/>
        </p:nvSpPr>
        <p:spPr>
          <a:xfrm>
            <a:off x="493776" y="3538728"/>
            <a:ext cx="1719072" cy="347472"/>
          </a:xfrm>
          <a:prstGeom prst="rect">
            <a:avLst/>
          </a:prstGeom>
          <a:noFill/>
          <a:ln/>
        </p:spPr>
        <p:txBody>
          <a:bodyPr wrap="square" lIns="0" tIns="0" rIns="0" bIns="0" rtlCol="0" anchor="ctr"/>
          <a:lstStyle/>
          <a:p>
            <a:pPr algn="l" indent="0" marL="0">
              <a:buNone/>
            </a:pPr>
            <a:r>
              <a:rPr lang="en-US" sz="1100" b="1" dirty="0">
                <a:solidFill>
                  <a:srgbClr val="457B9D"/>
                </a:solidFill>
                <a:latin typeface="Calibri" pitchFamily="34" charset="0"/>
                <a:ea typeface="Calibri" pitchFamily="34" charset="-122"/>
                <a:cs typeface="Calibri" pitchFamily="34" charset="-120"/>
              </a:rPr>
              <a:t>Payer Landscape</a:t>
            </a:r>
            <a:endParaRPr lang="en-US" sz="1100" dirty="0"/>
          </a:p>
        </p:txBody>
      </p:sp>
      <p:sp>
        <p:nvSpPr>
          <p:cNvPr id="27" name="Text 25"/>
          <p:cNvSpPr/>
          <p:nvPr/>
        </p:nvSpPr>
        <p:spPr>
          <a:xfrm>
            <a:off x="493776" y="3904488"/>
            <a:ext cx="1719072" cy="502920"/>
          </a:xfrm>
          <a:prstGeom prst="rect">
            <a:avLst/>
          </a:prstGeom>
          <a:noFill/>
          <a:ln/>
        </p:spPr>
        <p:txBody>
          <a:bodyPr wrap="square" lIns="0" tIns="0" rIns="0" bIns="0" rtlCol="0" anchor="ctr"/>
          <a:lstStyle/>
          <a:p>
            <a:pPr algn="l" indent="0" marL="0">
              <a:buNone/>
            </a:pPr>
            <a:r>
              <a:rPr lang="en-US" sz="900" dirty="0">
                <a:solidFill>
                  <a:srgbClr val="5A7A9B"/>
                </a:solidFill>
                <a:latin typeface="Calibri" pitchFamily="34" charset="0"/>
                <a:ea typeface="Calibri" pitchFamily="34" charset="-122"/>
                <a:cs typeface="Calibri" pitchFamily="34" charset="-120"/>
              </a:rPr>
              <a:t>Who funds the program?</a:t>
            </a:r>
            <a:endParaRPr lang="en-US" sz="900" dirty="0"/>
          </a:p>
        </p:txBody>
      </p:sp>
      <p:sp>
        <p:nvSpPr>
          <p:cNvPr id="28" name="Text 26"/>
          <p:cNvSpPr/>
          <p:nvPr/>
        </p:nvSpPr>
        <p:spPr>
          <a:xfrm>
            <a:off x="493776" y="4434840"/>
            <a:ext cx="1719072" cy="256032"/>
          </a:xfrm>
          <a:prstGeom prst="rect">
            <a:avLst/>
          </a:prstGeom>
          <a:noFill/>
          <a:ln/>
        </p:spPr>
        <p:txBody>
          <a:bodyPr wrap="square" lIns="0" tIns="0" rIns="0" bIns="0" rtlCol="0" anchor="ctr"/>
          <a:lstStyle/>
          <a:p>
            <a:pPr algn="l" indent="0" marL="0">
              <a:buNone/>
            </a:pPr>
            <a:r>
              <a:rPr lang="en-US" sz="1000" b="1" dirty="0">
                <a:solidFill>
                  <a:srgbClr val="003087"/>
                </a:solidFill>
                <a:latin typeface="Calibri" pitchFamily="34" charset="0"/>
                <a:ea typeface="Calibri" pitchFamily="34" charset="-122"/>
                <a:cs typeface="Calibri" pitchFamily="34" charset="-120"/>
              </a:rPr>
              <a:t>10% weight</a:t>
            </a:r>
            <a:endParaRPr lang="en-US" sz="1000" dirty="0"/>
          </a:p>
        </p:txBody>
      </p:sp>
      <p:sp>
        <p:nvSpPr>
          <p:cNvPr id="29" name="Shape 27"/>
          <p:cNvSpPr/>
          <p:nvPr/>
        </p:nvSpPr>
        <p:spPr>
          <a:xfrm>
            <a:off x="2468880" y="3063240"/>
            <a:ext cx="1938528" cy="1783080"/>
          </a:xfrm>
          <a:prstGeom prst="roundRect">
            <a:avLst>
              <a:gd name="adj" fmla="val 5128"/>
            </a:avLst>
          </a:prstGeom>
          <a:solidFill>
            <a:srgbClr val="FFFFFF"/>
          </a:solidFill>
          <a:ln w="12700">
            <a:solidFill>
              <a:srgbClr val="E0EAF5"/>
            </a:solidFill>
            <a:prstDash val="solid"/>
          </a:ln>
          <a:effectLst>
            <a:outerShdw sx="100000" sy="100000" kx="0" ky="0" algn="bl" rotWithShape="0" blurRad="63500" dist="25400" dir="2700000">
              <a:srgbClr val="000000">
                <a:alpha val="8000"/>
              </a:srgbClr>
            </a:outerShdw>
          </a:effectLst>
        </p:spPr>
      </p:sp>
      <p:sp>
        <p:nvSpPr>
          <p:cNvPr id="30" name="Text 28"/>
          <p:cNvSpPr/>
          <p:nvPr/>
        </p:nvSpPr>
        <p:spPr>
          <a:xfrm>
            <a:off x="2578608" y="3136392"/>
            <a:ext cx="1719072" cy="384048"/>
          </a:xfrm>
          <a:prstGeom prst="rect">
            <a:avLst/>
          </a:prstGeom>
          <a:noFill/>
          <a:ln/>
        </p:spPr>
        <p:txBody>
          <a:bodyPr wrap="square" lIns="0" tIns="0" rIns="0" bIns="0" rtlCol="0" anchor="ctr"/>
          <a:lstStyle/>
          <a:p>
            <a:pPr algn="l" indent="0" marL="0">
              <a:buNone/>
            </a:pPr>
            <a:r>
              <a:rPr lang="en-US" sz="2000" dirty="0">
                <a:solidFill>
                  <a:srgbClr val="000000"/>
                </a:solidFill>
              </a:rPr>
              <a:t>🚀</a:t>
            </a:r>
            <a:endParaRPr lang="en-US" sz="2000" dirty="0"/>
          </a:p>
        </p:txBody>
      </p:sp>
      <p:sp>
        <p:nvSpPr>
          <p:cNvPr id="31" name="Text 29"/>
          <p:cNvSpPr/>
          <p:nvPr/>
        </p:nvSpPr>
        <p:spPr>
          <a:xfrm>
            <a:off x="2578608" y="3538728"/>
            <a:ext cx="1719072" cy="347472"/>
          </a:xfrm>
          <a:prstGeom prst="rect">
            <a:avLst/>
          </a:prstGeom>
          <a:noFill/>
          <a:ln/>
        </p:spPr>
        <p:txBody>
          <a:bodyPr wrap="square" lIns="0" tIns="0" rIns="0" bIns="0" rtlCol="0" anchor="ctr"/>
          <a:lstStyle/>
          <a:p>
            <a:pPr algn="l" indent="0" marL="0">
              <a:buNone/>
            </a:pPr>
            <a:r>
              <a:rPr lang="en-US" sz="1100" b="1" dirty="0">
                <a:solidFill>
                  <a:srgbClr val="8338EC"/>
                </a:solidFill>
                <a:latin typeface="Calibri" pitchFamily="34" charset="0"/>
                <a:ea typeface="Calibri" pitchFamily="34" charset="-122"/>
                <a:cs typeface="Calibri" pitchFamily="34" charset="-120"/>
              </a:rPr>
              <a:t>Commercial Readiness</a:t>
            </a:r>
            <a:endParaRPr lang="en-US" sz="1100" dirty="0"/>
          </a:p>
        </p:txBody>
      </p:sp>
      <p:sp>
        <p:nvSpPr>
          <p:cNvPr id="32" name="Text 30"/>
          <p:cNvSpPr/>
          <p:nvPr/>
        </p:nvSpPr>
        <p:spPr>
          <a:xfrm>
            <a:off x="2578608" y="3904488"/>
            <a:ext cx="1719072" cy="502920"/>
          </a:xfrm>
          <a:prstGeom prst="rect">
            <a:avLst/>
          </a:prstGeom>
          <a:noFill/>
          <a:ln/>
        </p:spPr>
        <p:txBody>
          <a:bodyPr wrap="square" lIns="0" tIns="0" rIns="0" bIns="0" rtlCol="0" anchor="ctr"/>
          <a:lstStyle/>
          <a:p>
            <a:pPr algn="l" indent="0" marL="0">
              <a:buNone/>
            </a:pPr>
            <a:r>
              <a:rPr lang="en-US" sz="900" dirty="0">
                <a:solidFill>
                  <a:srgbClr val="5A7A9B"/>
                </a:solidFill>
                <a:latin typeface="Calibri" pitchFamily="34" charset="0"/>
                <a:ea typeface="Calibri" pitchFamily="34" charset="-122"/>
                <a:cs typeface="Calibri" pitchFamily="34" charset="-120"/>
              </a:rPr>
              <a:t>How hard is it to launch here?</a:t>
            </a:r>
            <a:endParaRPr lang="en-US" sz="900" dirty="0"/>
          </a:p>
        </p:txBody>
      </p:sp>
      <p:sp>
        <p:nvSpPr>
          <p:cNvPr id="33" name="Text 31"/>
          <p:cNvSpPr/>
          <p:nvPr/>
        </p:nvSpPr>
        <p:spPr>
          <a:xfrm>
            <a:off x="2578608" y="4434840"/>
            <a:ext cx="1719072" cy="256032"/>
          </a:xfrm>
          <a:prstGeom prst="rect">
            <a:avLst/>
          </a:prstGeom>
          <a:noFill/>
          <a:ln/>
        </p:spPr>
        <p:txBody>
          <a:bodyPr wrap="square" lIns="0" tIns="0" rIns="0" bIns="0" rtlCol="0" anchor="ctr"/>
          <a:lstStyle/>
          <a:p>
            <a:pPr algn="l" indent="0" marL="0">
              <a:buNone/>
            </a:pPr>
            <a:r>
              <a:rPr lang="en-US" sz="1000" b="1" dirty="0">
                <a:solidFill>
                  <a:srgbClr val="003087"/>
                </a:solidFill>
                <a:latin typeface="Calibri" pitchFamily="34" charset="0"/>
                <a:ea typeface="Calibri" pitchFamily="34" charset="-122"/>
                <a:cs typeface="Calibri" pitchFamily="34" charset="-120"/>
              </a:rPr>
              <a:t>10% weight</a:t>
            </a:r>
            <a:endParaRPr lang="en-US" sz="1000" dirty="0"/>
          </a:p>
        </p:txBody>
      </p:sp>
      <p:sp>
        <p:nvSpPr>
          <p:cNvPr id="34" name="Shape 32"/>
          <p:cNvSpPr/>
          <p:nvPr/>
        </p:nvSpPr>
        <p:spPr>
          <a:xfrm>
            <a:off x="4553712" y="3063240"/>
            <a:ext cx="1938528" cy="1783080"/>
          </a:xfrm>
          <a:prstGeom prst="roundRect">
            <a:avLst>
              <a:gd name="adj" fmla="val 5128"/>
            </a:avLst>
          </a:prstGeom>
          <a:solidFill>
            <a:srgbClr val="FFFFFF"/>
          </a:solidFill>
          <a:ln w="12700">
            <a:solidFill>
              <a:srgbClr val="E0EAF5"/>
            </a:solidFill>
            <a:prstDash val="solid"/>
          </a:ln>
          <a:effectLst>
            <a:outerShdw sx="100000" sy="100000" kx="0" ky="0" algn="bl" rotWithShape="0" blurRad="63500" dist="25400" dir="2700000">
              <a:srgbClr val="000000">
                <a:alpha val="8000"/>
              </a:srgbClr>
            </a:outerShdw>
          </a:effectLst>
        </p:spPr>
      </p:sp>
      <p:sp>
        <p:nvSpPr>
          <p:cNvPr id="35" name="Text 33"/>
          <p:cNvSpPr/>
          <p:nvPr/>
        </p:nvSpPr>
        <p:spPr>
          <a:xfrm>
            <a:off x="4663440" y="3136392"/>
            <a:ext cx="1719072" cy="384048"/>
          </a:xfrm>
          <a:prstGeom prst="rect">
            <a:avLst/>
          </a:prstGeom>
          <a:noFill/>
          <a:ln/>
        </p:spPr>
        <p:txBody>
          <a:bodyPr wrap="square" lIns="0" tIns="0" rIns="0" bIns="0" rtlCol="0" anchor="ctr"/>
          <a:lstStyle/>
          <a:p>
            <a:pPr algn="l" indent="0" marL="0">
              <a:buNone/>
            </a:pPr>
            <a:r>
              <a:rPr lang="en-US" sz="2000" dirty="0">
                <a:solidFill>
                  <a:srgbClr val="000000"/>
                </a:solidFill>
              </a:rPr>
              <a:t>📈</a:t>
            </a:r>
            <a:endParaRPr lang="en-US" sz="2000" dirty="0"/>
          </a:p>
        </p:txBody>
      </p:sp>
      <p:sp>
        <p:nvSpPr>
          <p:cNvPr id="36" name="Text 34"/>
          <p:cNvSpPr/>
          <p:nvPr/>
        </p:nvSpPr>
        <p:spPr>
          <a:xfrm>
            <a:off x="4663440" y="3538728"/>
            <a:ext cx="1719072" cy="347472"/>
          </a:xfrm>
          <a:prstGeom prst="rect">
            <a:avLst/>
          </a:prstGeom>
          <a:noFill/>
          <a:ln/>
        </p:spPr>
        <p:txBody>
          <a:bodyPr wrap="square" lIns="0" tIns="0" rIns="0" bIns="0" rtlCol="0" anchor="ctr"/>
          <a:lstStyle/>
          <a:p>
            <a:pPr algn="l" indent="0" marL="0">
              <a:buNone/>
            </a:pPr>
            <a:r>
              <a:rPr lang="en-US" sz="1100" b="1" dirty="0">
                <a:solidFill>
                  <a:srgbClr val="06A67A"/>
                </a:solidFill>
                <a:latin typeface="Calibri" pitchFamily="34" charset="0"/>
                <a:ea typeface="Calibri" pitchFamily="34" charset="-122"/>
                <a:cs typeface="Calibri" pitchFamily="34" charset="-120"/>
              </a:rPr>
              <a:t>Trajectory</a:t>
            </a:r>
            <a:endParaRPr lang="en-US" sz="1100" dirty="0"/>
          </a:p>
        </p:txBody>
      </p:sp>
      <p:sp>
        <p:nvSpPr>
          <p:cNvPr id="37" name="Text 35"/>
          <p:cNvSpPr/>
          <p:nvPr/>
        </p:nvSpPr>
        <p:spPr>
          <a:xfrm>
            <a:off x="4663440" y="3904488"/>
            <a:ext cx="1719072" cy="502920"/>
          </a:xfrm>
          <a:prstGeom prst="rect">
            <a:avLst/>
          </a:prstGeom>
          <a:noFill/>
          <a:ln/>
        </p:spPr>
        <p:txBody>
          <a:bodyPr wrap="square" lIns="0" tIns="0" rIns="0" bIns="0" rtlCol="0" anchor="ctr"/>
          <a:lstStyle/>
          <a:p>
            <a:pPr algn="l" indent="0" marL="0">
              <a:buNone/>
            </a:pPr>
            <a:r>
              <a:rPr lang="en-US" sz="900" dirty="0">
                <a:solidFill>
                  <a:srgbClr val="5A7A9B"/>
                </a:solidFill>
                <a:latin typeface="Calibri" pitchFamily="34" charset="0"/>
                <a:ea typeface="Calibri" pitchFamily="34" charset="-122"/>
                <a:cs typeface="Calibri" pitchFamily="34" charset="-120"/>
              </a:rPr>
              <a:t>Is the market growing?</a:t>
            </a:r>
            <a:endParaRPr lang="en-US" sz="900" dirty="0"/>
          </a:p>
        </p:txBody>
      </p:sp>
      <p:sp>
        <p:nvSpPr>
          <p:cNvPr id="38" name="Text 36"/>
          <p:cNvSpPr/>
          <p:nvPr/>
        </p:nvSpPr>
        <p:spPr>
          <a:xfrm>
            <a:off x="4663440" y="4434840"/>
            <a:ext cx="1719072" cy="256032"/>
          </a:xfrm>
          <a:prstGeom prst="rect">
            <a:avLst/>
          </a:prstGeom>
          <a:noFill/>
          <a:ln/>
        </p:spPr>
        <p:txBody>
          <a:bodyPr wrap="square" lIns="0" tIns="0" rIns="0" bIns="0" rtlCol="0" anchor="ctr"/>
          <a:lstStyle/>
          <a:p>
            <a:pPr algn="l" indent="0" marL="0">
              <a:buNone/>
            </a:pPr>
            <a:r>
              <a:rPr lang="en-US" sz="1000" b="1" dirty="0">
                <a:solidFill>
                  <a:srgbClr val="003087"/>
                </a:solidFill>
                <a:latin typeface="Calibri" pitchFamily="34" charset="0"/>
                <a:ea typeface="Calibri" pitchFamily="34" charset="-122"/>
                <a:cs typeface="Calibri" pitchFamily="34" charset="-120"/>
              </a:rPr>
              <a:t>5% weight</a:t>
            </a:r>
            <a:endParaRPr lang="en-US" sz="1000" dirty="0"/>
          </a:p>
        </p:txBody>
      </p:sp>
      <p:sp>
        <p:nvSpPr>
          <p:cNvPr id="39" name="Text 37"/>
          <p:cNvSpPr/>
          <p:nvPr/>
        </p:nvSpPr>
        <p:spPr>
          <a:xfrm>
            <a:off x="4480560" y="3063240"/>
            <a:ext cx="4206240" cy="1783080"/>
          </a:xfrm>
          <a:prstGeom prst="rect">
            <a:avLst/>
          </a:prstGeom>
          <a:noFill/>
          <a:ln/>
        </p:spPr>
        <p:txBody>
          <a:bodyPr wrap="square" lIns="0" tIns="0" rIns="0" bIns="0" rtlCol="0" anchor="b"/>
          <a:lstStyle/>
          <a:p>
            <a:pPr algn="r" indent="0" marL="0">
              <a:buNone/>
            </a:pPr>
            <a:r>
              <a:rPr lang="en-US" sz="900" i="1" dirty="0">
                <a:solidFill>
                  <a:srgbClr val="5A7A9B"/>
                </a:solidFill>
                <a:latin typeface="Calibri" pitchFamily="34" charset="0"/>
                <a:ea typeface="Calibri" pitchFamily="34" charset="-122"/>
                <a:cs typeface="Calibri" pitchFamily="34" charset="-120"/>
              </a:rPr>
              <a:t>Composite = weighted sum  ·  Priority ≥55  ·  Emerging 40–54  ·  Developing &lt;40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003087"/>
                </a:solidFill>
                <a:latin typeface="Calibri" pitchFamily="34" charset="0"/>
                <a:ea typeface="Calibri" pitchFamily="34" charset="-122"/>
                <a:cs typeface="Calibri" pitchFamily="34" charset="-120"/>
              </a:rPr>
              <a:t>Built Entirely on Real Government Data</a:t>
            </a:r>
            <a:endParaRPr lang="en-US" sz="2800" dirty="0"/>
          </a:p>
        </p:txBody>
      </p:sp>
      <p:sp>
        <p:nvSpPr>
          <p:cNvPr id="3" name="Text 1"/>
          <p:cNvSpPr/>
          <p:nvPr/>
        </p:nvSpPr>
        <p:spPr>
          <a:xfrm>
            <a:off x="457200" y="850392"/>
            <a:ext cx="8229600" cy="292608"/>
          </a:xfrm>
          <a:prstGeom prst="rect">
            <a:avLst/>
          </a:prstGeom>
          <a:noFill/>
          <a:ln/>
        </p:spPr>
        <p:txBody>
          <a:bodyPr wrap="square" lIns="0" tIns="0" rIns="0" bIns="0" rtlCol="0" anchor="ctr"/>
          <a:lstStyle/>
          <a:p>
            <a:pPr algn="l" indent="0" marL="0">
              <a:buNone/>
            </a:pPr>
            <a:r>
              <a:rPr lang="en-US" sz="1150" dirty="0">
                <a:solidFill>
                  <a:srgbClr val="5A7A9B"/>
                </a:solidFill>
                <a:latin typeface="Calibri" pitchFamily="34" charset="0"/>
                <a:ea typeface="Calibri" pitchFamily="34" charset="-122"/>
                <a:cs typeface="Calibri" pitchFamily="34" charset="-120"/>
              </a:rPr>
              <a:t>No proprietary licenses. No black box. Every score is reproducible and defensible in a payer conversation.</a:t>
            </a:r>
            <a:endParaRPr lang="en-US" sz="1150" dirty="0"/>
          </a:p>
        </p:txBody>
      </p:sp>
      <p:sp>
        <p:nvSpPr>
          <p:cNvPr id="4" name="Shape 2"/>
          <p:cNvSpPr/>
          <p:nvPr/>
        </p:nvSpPr>
        <p:spPr>
          <a:xfrm>
            <a:off x="457200" y="1261872"/>
            <a:ext cx="2651760" cy="822960"/>
          </a:xfrm>
          <a:prstGeom prst="roundRect">
            <a:avLst>
              <a:gd name="adj" fmla="val 8889"/>
            </a:avLst>
          </a:prstGeom>
          <a:solidFill>
            <a:srgbClr val="DDEEF9"/>
          </a:solidFill>
          <a:ln w="12700">
            <a:solidFill>
              <a:srgbClr val="C8DDEF"/>
            </a:solidFill>
            <a:prstDash val="solid"/>
          </a:ln>
        </p:spPr>
      </p:sp>
      <p:sp>
        <p:nvSpPr>
          <p:cNvPr id="5" name="Text 3"/>
          <p:cNvSpPr/>
          <p:nvPr/>
        </p:nvSpPr>
        <p:spPr>
          <a:xfrm>
            <a:off x="585216" y="1335024"/>
            <a:ext cx="2395728" cy="274320"/>
          </a:xfrm>
          <a:prstGeom prst="rect">
            <a:avLst/>
          </a:prstGeom>
          <a:noFill/>
          <a:ln/>
        </p:spPr>
        <p:txBody>
          <a:bodyPr wrap="square" lIns="0" tIns="0" rIns="0" bIns="0" rtlCol="0" anchor="ctr"/>
          <a:lstStyle/>
          <a:p>
            <a:pPr algn="l" indent="0" marL="0">
              <a:buNone/>
            </a:pPr>
            <a:r>
              <a:rPr lang="en-US" sz="1050" b="1" dirty="0">
                <a:solidFill>
                  <a:srgbClr val="003087"/>
                </a:solidFill>
                <a:latin typeface="Calibri" pitchFamily="34" charset="0"/>
                <a:ea typeface="Calibri" pitchFamily="34" charset="-122"/>
                <a:cs typeface="Calibri" pitchFamily="34" charset="-120"/>
              </a:rPr>
              <a:t>CDC PLACES 2024</a:t>
            </a:r>
            <a:endParaRPr lang="en-US" sz="1050" dirty="0"/>
          </a:p>
        </p:txBody>
      </p:sp>
      <p:sp>
        <p:nvSpPr>
          <p:cNvPr id="6" name="Text 4"/>
          <p:cNvSpPr/>
          <p:nvPr/>
        </p:nvSpPr>
        <p:spPr>
          <a:xfrm>
            <a:off x="585216" y="1636776"/>
            <a:ext cx="2395728" cy="347472"/>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County + ZIP diabetes, HTN, obesity &amp; checkup rates</a:t>
            </a:r>
            <a:endParaRPr lang="en-US" sz="850" dirty="0"/>
          </a:p>
        </p:txBody>
      </p:sp>
      <p:sp>
        <p:nvSpPr>
          <p:cNvPr id="7" name="Shape 5"/>
          <p:cNvSpPr/>
          <p:nvPr/>
        </p:nvSpPr>
        <p:spPr>
          <a:xfrm>
            <a:off x="3310128" y="1261872"/>
            <a:ext cx="2651760" cy="822960"/>
          </a:xfrm>
          <a:prstGeom prst="roundRect">
            <a:avLst>
              <a:gd name="adj" fmla="val 8889"/>
            </a:avLst>
          </a:prstGeom>
          <a:solidFill>
            <a:srgbClr val="DDEEF9"/>
          </a:solidFill>
          <a:ln w="12700">
            <a:solidFill>
              <a:srgbClr val="C8DDEF"/>
            </a:solidFill>
            <a:prstDash val="solid"/>
          </a:ln>
        </p:spPr>
      </p:sp>
      <p:sp>
        <p:nvSpPr>
          <p:cNvPr id="8" name="Text 6"/>
          <p:cNvSpPr/>
          <p:nvPr/>
        </p:nvSpPr>
        <p:spPr>
          <a:xfrm>
            <a:off x="3438144" y="1335024"/>
            <a:ext cx="2395728" cy="274320"/>
          </a:xfrm>
          <a:prstGeom prst="rect">
            <a:avLst/>
          </a:prstGeom>
          <a:noFill/>
          <a:ln/>
        </p:spPr>
        <p:txBody>
          <a:bodyPr wrap="square" lIns="0" tIns="0" rIns="0" bIns="0" rtlCol="0" anchor="ctr"/>
          <a:lstStyle/>
          <a:p>
            <a:pPr algn="l" indent="0" marL="0">
              <a:buNone/>
            </a:pPr>
            <a:r>
              <a:rPr lang="en-US" sz="1050" b="1" dirty="0">
                <a:solidFill>
                  <a:srgbClr val="003087"/>
                </a:solidFill>
                <a:latin typeface="Calibri" pitchFamily="34" charset="0"/>
                <a:ea typeface="Calibri" pitchFamily="34" charset="-122"/>
                <a:cs typeface="Calibri" pitchFamily="34" charset="-120"/>
              </a:rPr>
              <a:t>Census ACS 5-Year</a:t>
            </a:r>
            <a:endParaRPr lang="en-US" sz="1050" dirty="0"/>
          </a:p>
        </p:txBody>
      </p:sp>
      <p:sp>
        <p:nvSpPr>
          <p:cNvPr id="9" name="Text 7"/>
          <p:cNvSpPr/>
          <p:nvPr/>
        </p:nvSpPr>
        <p:spPr>
          <a:xfrm>
            <a:off x="3438144" y="1636776"/>
            <a:ext cx="2395728" cy="347472"/>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Poverty, income, insurance, broadband, demographics</a:t>
            </a:r>
            <a:endParaRPr lang="en-US" sz="850" dirty="0"/>
          </a:p>
        </p:txBody>
      </p:sp>
      <p:sp>
        <p:nvSpPr>
          <p:cNvPr id="10" name="Shape 8"/>
          <p:cNvSpPr/>
          <p:nvPr/>
        </p:nvSpPr>
        <p:spPr>
          <a:xfrm>
            <a:off x="6163056" y="1261872"/>
            <a:ext cx="2651760" cy="822960"/>
          </a:xfrm>
          <a:prstGeom prst="roundRect">
            <a:avLst>
              <a:gd name="adj" fmla="val 8889"/>
            </a:avLst>
          </a:prstGeom>
          <a:solidFill>
            <a:srgbClr val="DDEEF9"/>
          </a:solidFill>
          <a:ln w="12700">
            <a:solidFill>
              <a:srgbClr val="C8DDEF"/>
            </a:solidFill>
            <a:prstDash val="solid"/>
          </a:ln>
        </p:spPr>
      </p:sp>
      <p:sp>
        <p:nvSpPr>
          <p:cNvPr id="11" name="Text 9"/>
          <p:cNvSpPr/>
          <p:nvPr/>
        </p:nvSpPr>
        <p:spPr>
          <a:xfrm>
            <a:off x="6291072" y="1335024"/>
            <a:ext cx="2395728" cy="274320"/>
          </a:xfrm>
          <a:prstGeom prst="rect">
            <a:avLst/>
          </a:prstGeom>
          <a:noFill/>
          <a:ln/>
        </p:spPr>
        <p:txBody>
          <a:bodyPr wrap="square" lIns="0" tIns="0" rIns="0" bIns="0" rtlCol="0" anchor="ctr"/>
          <a:lstStyle/>
          <a:p>
            <a:pPr algn="l" indent="0" marL="0">
              <a:buNone/>
            </a:pPr>
            <a:r>
              <a:rPr lang="en-US" sz="1050" b="1" dirty="0">
                <a:solidFill>
                  <a:srgbClr val="003087"/>
                </a:solidFill>
                <a:latin typeface="Calibri" pitchFamily="34" charset="0"/>
                <a:ea typeface="Calibri" pitchFamily="34" charset="-122"/>
                <a:cs typeface="Calibri" pitchFamily="34" charset="-120"/>
              </a:rPr>
              <a:t>CMS GV PUF</a:t>
            </a:r>
            <a:endParaRPr lang="en-US" sz="1050" dirty="0"/>
          </a:p>
        </p:txBody>
      </p:sp>
      <p:sp>
        <p:nvSpPr>
          <p:cNvPr id="12" name="Text 10"/>
          <p:cNvSpPr/>
          <p:nvPr/>
        </p:nvSpPr>
        <p:spPr>
          <a:xfrm>
            <a:off x="6291072" y="1636776"/>
            <a:ext cx="2395728" cy="347472"/>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Medicare T2D + HTN diagnosis rates by county</a:t>
            </a:r>
            <a:endParaRPr lang="en-US" sz="850" dirty="0"/>
          </a:p>
        </p:txBody>
      </p:sp>
      <p:sp>
        <p:nvSpPr>
          <p:cNvPr id="13" name="Shape 11"/>
          <p:cNvSpPr/>
          <p:nvPr/>
        </p:nvSpPr>
        <p:spPr>
          <a:xfrm>
            <a:off x="457200" y="2267712"/>
            <a:ext cx="2651760" cy="822960"/>
          </a:xfrm>
          <a:prstGeom prst="roundRect">
            <a:avLst>
              <a:gd name="adj" fmla="val 8889"/>
            </a:avLst>
          </a:prstGeom>
          <a:solidFill>
            <a:srgbClr val="DDEEF9"/>
          </a:solidFill>
          <a:ln w="12700">
            <a:solidFill>
              <a:srgbClr val="C8DDEF"/>
            </a:solidFill>
            <a:prstDash val="solid"/>
          </a:ln>
        </p:spPr>
      </p:sp>
      <p:sp>
        <p:nvSpPr>
          <p:cNvPr id="14" name="Text 12"/>
          <p:cNvSpPr/>
          <p:nvPr/>
        </p:nvSpPr>
        <p:spPr>
          <a:xfrm>
            <a:off x="585216" y="2340864"/>
            <a:ext cx="2395728" cy="274320"/>
          </a:xfrm>
          <a:prstGeom prst="rect">
            <a:avLst/>
          </a:prstGeom>
          <a:noFill/>
          <a:ln/>
        </p:spPr>
        <p:txBody>
          <a:bodyPr wrap="square" lIns="0" tIns="0" rIns="0" bIns="0" rtlCol="0" anchor="ctr"/>
          <a:lstStyle/>
          <a:p>
            <a:pPr algn="l" indent="0" marL="0">
              <a:buNone/>
            </a:pPr>
            <a:r>
              <a:rPr lang="en-US" sz="1050" b="1" dirty="0">
                <a:solidFill>
                  <a:srgbClr val="003087"/>
                </a:solidFill>
                <a:latin typeface="Calibri" pitchFamily="34" charset="0"/>
                <a:ea typeface="Calibri" pitchFamily="34" charset="-122"/>
                <a:cs typeface="Calibri" pitchFamily="34" charset="-120"/>
              </a:rPr>
              <a:t>HRSA HPSA Database</a:t>
            </a:r>
            <a:endParaRPr lang="en-US" sz="1050" dirty="0"/>
          </a:p>
        </p:txBody>
      </p:sp>
      <p:sp>
        <p:nvSpPr>
          <p:cNvPr id="15" name="Text 13"/>
          <p:cNvSpPr/>
          <p:nvPr/>
        </p:nvSpPr>
        <p:spPr>
          <a:xfrm>
            <a:off x="585216" y="2642616"/>
            <a:ext cx="2395728" cy="347472"/>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Healthcare shortage areas, FQHC locations</a:t>
            </a:r>
            <a:endParaRPr lang="en-US" sz="850" dirty="0"/>
          </a:p>
        </p:txBody>
      </p:sp>
      <p:sp>
        <p:nvSpPr>
          <p:cNvPr id="16" name="Shape 14"/>
          <p:cNvSpPr/>
          <p:nvPr/>
        </p:nvSpPr>
        <p:spPr>
          <a:xfrm>
            <a:off x="3310128" y="2267712"/>
            <a:ext cx="2651760" cy="822960"/>
          </a:xfrm>
          <a:prstGeom prst="roundRect">
            <a:avLst>
              <a:gd name="adj" fmla="val 8889"/>
            </a:avLst>
          </a:prstGeom>
          <a:solidFill>
            <a:srgbClr val="DDEEF9"/>
          </a:solidFill>
          <a:ln w="12700">
            <a:solidFill>
              <a:srgbClr val="C8DDEF"/>
            </a:solidFill>
            <a:prstDash val="solid"/>
          </a:ln>
        </p:spPr>
      </p:sp>
      <p:sp>
        <p:nvSpPr>
          <p:cNvPr id="17" name="Text 15"/>
          <p:cNvSpPr/>
          <p:nvPr/>
        </p:nvSpPr>
        <p:spPr>
          <a:xfrm>
            <a:off x="3438144" y="2340864"/>
            <a:ext cx="2395728" cy="274320"/>
          </a:xfrm>
          <a:prstGeom prst="rect">
            <a:avLst/>
          </a:prstGeom>
          <a:noFill/>
          <a:ln/>
        </p:spPr>
        <p:txBody>
          <a:bodyPr wrap="square" lIns="0" tIns="0" rIns="0" bIns="0" rtlCol="0" anchor="ctr"/>
          <a:lstStyle/>
          <a:p>
            <a:pPr algn="l" indent="0" marL="0">
              <a:buNone/>
            </a:pPr>
            <a:r>
              <a:rPr lang="en-US" sz="1050" b="1" dirty="0">
                <a:solidFill>
                  <a:srgbClr val="003087"/>
                </a:solidFill>
                <a:latin typeface="Calibri" pitchFamily="34" charset="0"/>
                <a:ea typeface="Calibri" pitchFamily="34" charset="-122"/>
                <a:cs typeface="Calibri" pitchFamily="34" charset="-120"/>
              </a:rPr>
              <a:t>County Health Rankings</a:t>
            </a:r>
            <a:endParaRPr lang="en-US" sz="1050" dirty="0"/>
          </a:p>
        </p:txBody>
      </p:sp>
      <p:sp>
        <p:nvSpPr>
          <p:cNvPr id="18" name="Text 16"/>
          <p:cNvSpPr/>
          <p:nvPr/>
        </p:nvSpPr>
        <p:spPr>
          <a:xfrm>
            <a:off x="3438144" y="2642616"/>
            <a:ext cx="2395728" cy="347472"/>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Composite health metrics, SDoH composites</a:t>
            </a:r>
            <a:endParaRPr lang="en-US" sz="850" dirty="0"/>
          </a:p>
        </p:txBody>
      </p:sp>
      <p:sp>
        <p:nvSpPr>
          <p:cNvPr id="19" name="Shape 17"/>
          <p:cNvSpPr/>
          <p:nvPr/>
        </p:nvSpPr>
        <p:spPr>
          <a:xfrm>
            <a:off x="6163056" y="2267712"/>
            <a:ext cx="2651760" cy="822960"/>
          </a:xfrm>
          <a:prstGeom prst="roundRect">
            <a:avLst>
              <a:gd name="adj" fmla="val 8889"/>
            </a:avLst>
          </a:prstGeom>
          <a:solidFill>
            <a:srgbClr val="DDEEF9"/>
          </a:solidFill>
          <a:ln w="12700">
            <a:solidFill>
              <a:srgbClr val="C8DDEF"/>
            </a:solidFill>
            <a:prstDash val="solid"/>
          </a:ln>
        </p:spPr>
      </p:sp>
      <p:sp>
        <p:nvSpPr>
          <p:cNvPr id="20" name="Text 18"/>
          <p:cNvSpPr/>
          <p:nvPr/>
        </p:nvSpPr>
        <p:spPr>
          <a:xfrm>
            <a:off x="6291072" y="2340864"/>
            <a:ext cx="2395728" cy="274320"/>
          </a:xfrm>
          <a:prstGeom prst="rect">
            <a:avLst/>
          </a:prstGeom>
          <a:noFill/>
          <a:ln/>
        </p:spPr>
        <p:txBody>
          <a:bodyPr wrap="square" lIns="0" tIns="0" rIns="0" bIns="0" rtlCol="0" anchor="ctr"/>
          <a:lstStyle/>
          <a:p>
            <a:pPr algn="l" indent="0" marL="0">
              <a:buNone/>
            </a:pPr>
            <a:r>
              <a:rPr lang="en-US" sz="1050" b="1" dirty="0">
                <a:solidFill>
                  <a:srgbClr val="003087"/>
                </a:solidFill>
                <a:latin typeface="Calibri" pitchFamily="34" charset="0"/>
                <a:ea typeface="Calibri" pitchFamily="34" charset="-122"/>
                <a:cs typeface="Calibri" pitchFamily="34" charset="-120"/>
              </a:rPr>
              <a:t>USDA Food Environment Atlas</a:t>
            </a:r>
            <a:endParaRPr lang="en-US" sz="1050" dirty="0"/>
          </a:p>
        </p:txBody>
      </p:sp>
      <p:sp>
        <p:nvSpPr>
          <p:cNvPr id="21" name="Text 19"/>
          <p:cNvSpPr/>
          <p:nvPr/>
        </p:nvSpPr>
        <p:spPr>
          <a:xfrm>
            <a:off x="6291072" y="2642616"/>
            <a:ext cx="2395728" cy="347472"/>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Food desert designations by county</a:t>
            </a:r>
            <a:endParaRPr lang="en-US" sz="850" dirty="0"/>
          </a:p>
        </p:txBody>
      </p:sp>
      <p:sp>
        <p:nvSpPr>
          <p:cNvPr id="22" name="Shape 20"/>
          <p:cNvSpPr/>
          <p:nvPr/>
        </p:nvSpPr>
        <p:spPr>
          <a:xfrm>
            <a:off x="3246120" y="3273552"/>
            <a:ext cx="2651760" cy="822960"/>
          </a:xfrm>
          <a:prstGeom prst="roundRect">
            <a:avLst>
              <a:gd name="adj" fmla="val 8889"/>
            </a:avLst>
          </a:prstGeom>
          <a:solidFill>
            <a:srgbClr val="DDEEF9"/>
          </a:solidFill>
          <a:ln w="12700">
            <a:solidFill>
              <a:srgbClr val="C8DDEF"/>
            </a:solidFill>
            <a:prstDash val="solid"/>
          </a:ln>
        </p:spPr>
      </p:sp>
      <p:sp>
        <p:nvSpPr>
          <p:cNvPr id="23" name="Text 21"/>
          <p:cNvSpPr/>
          <p:nvPr/>
        </p:nvSpPr>
        <p:spPr>
          <a:xfrm>
            <a:off x="3374136" y="3346704"/>
            <a:ext cx="2395728" cy="274320"/>
          </a:xfrm>
          <a:prstGeom prst="rect">
            <a:avLst/>
          </a:prstGeom>
          <a:noFill/>
          <a:ln/>
        </p:spPr>
        <p:txBody>
          <a:bodyPr wrap="square" lIns="0" tIns="0" rIns="0" bIns="0" rtlCol="0" anchor="ctr"/>
          <a:lstStyle/>
          <a:p>
            <a:pPr algn="l" indent="0" marL="0">
              <a:buNone/>
            </a:pPr>
            <a:r>
              <a:rPr lang="en-US" sz="1050" b="1" dirty="0">
                <a:solidFill>
                  <a:srgbClr val="003087"/>
                </a:solidFill>
                <a:latin typeface="Calibri" pitchFamily="34" charset="0"/>
                <a:ea typeface="Calibri" pitchFamily="34" charset="-122"/>
                <a:cs typeface="Calibri" pitchFamily="34" charset="-120"/>
              </a:rPr>
              <a:t>CDC PLACES 2022</a:t>
            </a:r>
            <a:endParaRPr lang="en-US" sz="1050" dirty="0"/>
          </a:p>
        </p:txBody>
      </p:sp>
      <p:sp>
        <p:nvSpPr>
          <p:cNvPr id="24" name="Text 22"/>
          <p:cNvSpPr/>
          <p:nvPr/>
        </p:nvSpPr>
        <p:spPr>
          <a:xfrm>
            <a:off x="3374136" y="3648456"/>
            <a:ext cx="2395728" cy="347472"/>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Multi-year prevalence trend for trajectory scoring</a:t>
            </a:r>
            <a:endParaRPr lang="en-US" sz="850" dirty="0"/>
          </a:p>
        </p:txBody>
      </p:sp>
      <p:sp>
        <p:nvSpPr>
          <p:cNvPr id="25" name="Shape 23"/>
          <p:cNvSpPr/>
          <p:nvPr/>
        </p:nvSpPr>
        <p:spPr>
          <a:xfrm>
            <a:off x="457200" y="4370832"/>
            <a:ext cx="8229600" cy="475488"/>
          </a:xfrm>
          <a:prstGeom prst="roundRect">
            <a:avLst>
              <a:gd name="adj" fmla="val 15385"/>
            </a:avLst>
          </a:prstGeom>
          <a:solidFill>
            <a:srgbClr val="003087"/>
          </a:solidFill>
          <a:ln w="12700">
            <a:solidFill>
              <a:srgbClr val="003087"/>
            </a:solidFill>
            <a:prstDash val="solid"/>
          </a:ln>
        </p:spPr>
      </p:sp>
      <p:sp>
        <p:nvSpPr>
          <p:cNvPr id="26" name="Text 24"/>
          <p:cNvSpPr/>
          <p:nvPr/>
        </p:nvSpPr>
        <p:spPr>
          <a:xfrm>
            <a:off x="640080" y="4407408"/>
            <a:ext cx="7863840" cy="402336"/>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Full methodology documentation available — peer-reviewable, reproducible from public sources, updated with each CDC PLACES annual release.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F3C"/>
        </a:solidFill>
      </p:bgPr>
    </p:bg>
    <p:spTree>
      <p:nvGrpSpPr>
        <p:cNvPr id="1" name=""/>
        <p:cNvGrpSpPr/>
        <p:nvPr/>
      </p:nvGrpSpPr>
      <p:grpSpPr>
        <a:xfrm>
          <a:off x="0" y="0"/>
          <a:ext cx="0" cy="0"/>
          <a:chOff x="0" y="0"/>
          <a:chExt cx="0" cy="0"/>
        </a:xfrm>
      </p:grpSpPr>
      <p:sp>
        <p:nvSpPr>
          <p:cNvPr id="2" name="Shape 0"/>
          <p:cNvSpPr/>
          <p:nvPr/>
        </p:nvSpPr>
        <p:spPr>
          <a:xfrm>
            <a:off x="6217920" y="-731520"/>
            <a:ext cx="4114800" cy="4114800"/>
          </a:xfrm>
          <a:prstGeom prst="ellipse">
            <a:avLst/>
          </a:prstGeom>
          <a:solidFill>
            <a:srgbClr val="0077C8">
              <a:alpha val="18000"/>
            </a:srgbClr>
          </a:solidFill>
          <a:ln w="12700">
            <a:solidFill>
              <a:srgbClr val="0077C8"/>
            </a:solidFill>
            <a:prstDash val="solid"/>
          </a:ln>
        </p:spPr>
      </p:sp>
      <p:sp>
        <p:nvSpPr>
          <p:cNvPr id="3" name="Text 1"/>
          <p:cNvSpPr/>
          <p:nvPr/>
        </p:nvSpPr>
        <p:spPr>
          <a:xfrm>
            <a:off x="548640" y="274320"/>
            <a:ext cx="7772400" cy="594360"/>
          </a:xfrm>
          <a:prstGeom prst="rect">
            <a:avLst/>
          </a:prstGeom>
          <a:noFill/>
          <a:ln/>
        </p:spPr>
        <p:txBody>
          <a:bodyPr wrap="square" lIns="0" tIns="0" rIns="0" bIns="0" rtlCol="0" anchor="ctr"/>
          <a:lstStyle/>
          <a:p>
            <a:pPr algn="l" indent="0" marL="0">
              <a:buNone/>
            </a:pPr>
            <a:r>
              <a:rPr lang="en-US" sz="2700" b="1" dirty="0">
                <a:solidFill>
                  <a:srgbClr val="FFFFFF"/>
                </a:solidFill>
                <a:latin typeface="Calibri" pitchFamily="34" charset="0"/>
                <a:ea typeface="Calibri" pitchFamily="34" charset="-122"/>
                <a:cs typeface="Calibri" pitchFamily="34" charset="-120"/>
              </a:rPr>
              <a:t>Full US Coverage. Two Resolutions.</a:t>
            </a:r>
            <a:endParaRPr lang="en-US" sz="2700" dirty="0"/>
          </a:p>
        </p:txBody>
      </p:sp>
      <p:sp>
        <p:nvSpPr>
          <p:cNvPr id="4" name="Text 2"/>
          <p:cNvSpPr/>
          <p:nvPr/>
        </p:nvSpPr>
        <p:spPr>
          <a:xfrm>
            <a:off x="548640" y="868680"/>
            <a:ext cx="7772400" cy="292608"/>
          </a:xfrm>
          <a:prstGeom prst="rect">
            <a:avLst/>
          </a:prstGeom>
          <a:noFill/>
          <a:ln/>
        </p:spPr>
        <p:txBody>
          <a:bodyPr wrap="square" lIns="0" tIns="0" rIns="0" bIns="0" rtlCol="0" anchor="ctr"/>
          <a:lstStyle/>
          <a:p>
            <a:pPr algn="l" indent="0" marL="0">
              <a:buNone/>
            </a:pPr>
            <a:r>
              <a:rPr lang="en-US" sz="1300" dirty="0">
                <a:solidFill>
                  <a:srgbClr val="00A9E0"/>
                </a:solidFill>
                <a:latin typeface="Calibri" pitchFamily="34" charset="0"/>
                <a:ea typeface="Calibri" pitchFamily="34" charset="-122"/>
                <a:cs typeface="Calibri" pitchFamily="34" charset="-120"/>
              </a:rPr>
              <a:t>County-level strategy. ZIP-level execution.</a:t>
            </a:r>
            <a:endParaRPr lang="en-US" sz="1300" dirty="0"/>
          </a:p>
        </p:txBody>
      </p:sp>
      <p:sp>
        <p:nvSpPr>
          <p:cNvPr id="5" name="Shape 3"/>
          <p:cNvSpPr/>
          <p:nvPr/>
        </p:nvSpPr>
        <p:spPr>
          <a:xfrm>
            <a:off x="457200" y="1325880"/>
            <a:ext cx="1508760" cy="1920240"/>
          </a:xfrm>
          <a:prstGeom prst="roundRect">
            <a:avLst>
              <a:gd name="adj" fmla="val 6061"/>
            </a:avLst>
          </a:prstGeom>
          <a:solidFill>
            <a:srgbClr val="0077C8">
              <a:alpha val="28000"/>
            </a:srgbClr>
          </a:solidFill>
          <a:ln w="12700">
            <a:solidFill>
              <a:srgbClr val="00A9E0"/>
            </a:solidFill>
            <a:prstDash val="solid"/>
          </a:ln>
        </p:spPr>
      </p:sp>
      <p:sp>
        <p:nvSpPr>
          <p:cNvPr id="6" name="Text 4"/>
          <p:cNvSpPr/>
          <p:nvPr/>
        </p:nvSpPr>
        <p:spPr>
          <a:xfrm>
            <a:off x="502920" y="1417320"/>
            <a:ext cx="1417320" cy="804672"/>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3,143</a:t>
            </a:r>
            <a:endParaRPr lang="en-US" sz="3200" dirty="0"/>
          </a:p>
        </p:txBody>
      </p:sp>
      <p:sp>
        <p:nvSpPr>
          <p:cNvPr id="7" name="Text 5"/>
          <p:cNvSpPr/>
          <p:nvPr/>
        </p:nvSpPr>
        <p:spPr>
          <a:xfrm>
            <a:off x="502920" y="2240280"/>
            <a:ext cx="1417320" cy="502920"/>
          </a:xfrm>
          <a:prstGeom prst="rect">
            <a:avLst/>
          </a:prstGeom>
          <a:noFill/>
          <a:ln/>
        </p:spPr>
        <p:txBody>
          <a:bodyPr wrap="square" lIns="0" tIns="0" rIns="0" bIns="0" rtlCol="0" anchor="ctr"/>
          <a:lstStyle/>
          <a:p>
            <a:pPr algn="ctr" indent="0" marL="0">
              <a:buNone/>
            </a:pPr>
            <a:r>
              <a:rPr lang="en-US" sz="950" b="1" dirty="0">
                <a:solidFill>
                  <a:srgbClr val="A8C4DC"/>
                </a:solidFill>
                <a:latin typeface="Calibri" pitchFamily="34" charset="0"/>
                <a:ea typeface="Calibri" pitchFamily="34" charset="-122"/>
                <a:cs typeface="Calibri" pitchFamily="34" charset="-120"/>
              </a:rPr>
              <a:t>Counties</a:t>
            </a:r>
            <a:endParaRPr lang="en-US" sz="950" dirty="0"/>
          </a:p>
          <a:p>
            <a:pPr algn="ctr" indent="0" marL="0">
              <a:buNone/>
            </a:pPr>
            <a:r>
              <a:rPr lang="en-US" sz="950" b="1" dirty="0">
                <a:solidFill>
                  <a:srgbClr val="A8C4DC"/>
                </a:solidFill>
                <a:latin typeface="Calibri" pitchFamily="34" charset="0"/>
                <a:ea typeface="Calibri" pitchFamily="34" charset="-122"/>
                <a:cs typeface="Calibri" pitchFamily="34" charset="-120"/>
              </a:rPr>
              <a:t>Scored</a:t>
            </a:r>
            <a:endParaRPr lang="en-US" sz="950" dirty="0"/>
          </a:p>
        </p:txBody>
      </p:sp>
      <p:sp>
        <p:nvSpPr>
          <p:cNvPr id="8" name="Text 6"/>
          <p:cNvSpPr/>
          <p:nvPr/>
        </p:nvSpPr>
        <p:spPr>
          <a:xfrm>
            <a:off x="502920" y="2761488"/>
            <a:ext cx="1417320" cy="347472"/>
          </a:xfrm>
          <a:prstGeom prst="rect">
            <a:avLst/>
          </a:prstGeom>
          <a:noFill/>
          <a:ln/>
        </p:spPr>
        <p:txBody>
          <a:bodyPr wrap="square" lIns="0" tIns="0" rIns="0" bIns="0" rtlCol="0" anchor="ctr"/>
          <a:lstStyle/>
          <a:p>
            <a:pPr algn="ctr" indent="0" marL="0">
              <a:buNone/>
            </a:pPr>
            <a:r>
              <a:rPr lang="en-US" sz="800" dirty="0">
                <a:solidFill>
                  <a:srgbClr val="6888A0"/>
                </a:solidFill>
                <a:latin typeface="Calibri" pitchFamily="34" charset="0"/>
                <a:ea typeface="Calibri" pitchFamily="34" charset="-122"/>
                <a:cs typeface="Calibri" pitchFamily="34" charset="-120"/>
              </a:rPr>
              <a:t>100% US coverage</a:t>
            </a:r>
            <a:endParaRPr lang="en-US" sz="800" dirty="0"/>
          </a:p>
        </p:txBody>
      </p:sp>
      <p:sp>
        <p:nvSpPr>
          <p:cNvPr id="9" name="Shape 7"/>
          <p:cNvSpPr/>
          <p:nvPr/>
        </p:nvSpPr>
        <p:spPr>
          <a:xfrm>
            <a:off x="2121408" y="1325880"/>
            <a:ext cx="1508760" cy="1920240"/>
          </a:xfrm>
          <a:prstGeom prst="roundRect">
            <a:avLst>
              <a:gd name="adj" fmla="val 6061"/>
            </a:avLst>
          </a:prstGeom>
          <a:solidFill>
            <a:srgbClr val="0077C8">
              <a:alpha val="28000"/>
            </a:srgbClr>
          </a:solidFill>
          <a:ln w="12700">
            <a:solidFill>
              <a:srgbClr val="00A9E0"/>
            </a:solidFill>
            <a:prstDash val="solid"/>
          </a:ln>
        </p:spPr>
      </p:sp>
      <p:sp>
        <p:nvSpPr>
          <p:cNvPr id="10" name="Text 8"/>
          <p:cNvSpPr/>
          <p:nvPr/>
        </p:nvSpPr>
        <p:spPr>
          <a:xfrm>
            <a:off x="2167128" y="1417320"/>
            <a:ext cx="1417320" cy="804672"/>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33,774</a:t>
            </a:r>
            <a:endParaRPr lang="en-US" sz="3200" dirty="0"/>
          </a:p>
        </p:txBody>
      </p:sp>
      <p:sp>
        <p:nvSpPr>
          <p:cNvPr id="11" name="Text 9"/>
          <p:cNvSpPr/>
          <p:nvPr/>
        </p:nvSpPr>
        <p:spPr>
          <a:xfrm>
            <a:off x="2167128" y="2240280"/>
            <a:ext cx="1417320" cy="502920"/>
          </a:xfrm>
          <a:prstGeom prst="rect">
            <a:avLst/>
          </a:prstGeom>
          <a:noFill/>
          <a:ln/>
        </p:spPr>
        <p:txBody>
          <a:bodyPr wrap="square" lIns="0" tIns="0" rIns="0" bIns="0" rtlCol="0" anchor="ctr"/>
          <a:lstStyle/>
          <a:p>
            <a:pPr algn="ctr" indent="0" marL="0">
              <a:buNone/>
            </a:pPr>
            <a:r>
              <a:rPr lang="en-US" sz="950" b="1" dirty="0">
                <a:solidFill>
                  <a:srgbClr val="A8C4DC"/>
                </a:solidFill>
                <a:latin typeface="Calibri" pitchFamily="34" charset="0"/>
                <a:ea typeface="Calibri" pitchFamily="34" charset="-122"/>
                <a:cs typeface="Calibri" pitchFamily="34" charset="-120"/>
              </a:rPr>
              <a:t>ZIPs</a:t>
            </a:r>
            <a:endParaRPr lang="en-US" sz="950" dirty="0"/>
          </a:p>
          <a:p>
            <a:pPr algn="ctr" indent="0" marL="0">
              <a:buNone/>
            </a:pPr>
            <a:r>
              <a:rPr lang="en-US" sz="950" b="1" dirty="0">
                <a:solidFill>
                  <a:srgbClr val="A8C4DC"/>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2167128" y="2761488"/>
            <a:ext cx="1417320" cy="347472"/>
          </a:xfrm>
          <a:prstGeom prst="rect">
            <a:avLst/>
          </a:prstGeom>
          <a:noFill/>
          <a:ln/>
        </p:spPr>
        <p:txBody>
          <a:bodyPr wrap="square" lIns="0" tIns="0" rIns="0" bIns="0" rtlCol="0" anchor="ctr"/>
          <a:lstStyle/>
          <a:p>
            <a:pPr algn="ctr" indent="0" marL="0">
              <a:buNone/>
            </a:pPr>
            <a:r>
              <a:rPr lang="en-US" sz="800" dirty="0">
                <a:solidFill>
                  <a:srgbClr val="6888A0"/>
                </a:solidFill>
                <a:latin typeface="Calibri" pitchFamily="34" charset="0"/>
                <a:ea typeface="Calibri" pitchFamily="34" charset="-122"/>
                <a:cs typeface="Calibri" pitchFamily="34" charset="-120"/>
              </a:rPr>
              <a:t>All US ZCTAs</a:t>
            </a:r>
            <a:endParaRPr lang="en-US" sz="800" dirty="0"/>
          </a:p>
        </p:txBody>
      </p:sp>
      <p:sp>
        <p:nvSpPr>
          <p:cNvPr id="13" name="Shape 11"/>
          <p:cNvSpPr/>
          <p:nvPr/>
        </p:nvSpPr>
        <p:spPr>
          <a:xfrm>
            <a:off x="3785616" y="1325880"/>
            <a:ext cx="1508760" cy="1920240"/>
          </a:xfrm>
          <a:prstGeom prst="roundRect">
            <a:avLst>
              <a:gd name="adj" fmla="val 6061"/>
            </a:avLst>
          </a:prstGeom>
          <a:solidFill>
            <a:srgbClr val="0077C8">
              <a:alpha val="28000"/>
            </a:srgbClr>
          </a:solidFill>
          <a:ln w="12700">
            <a:solidFill>
              <a:srgbClr val="00A9E0"/>
            </a:solidFill>
            <a:prstDash val="solid"/>
          </a:ln>
        </p:spPr>
      </p:sp>
      <p:sp>
        <p:nvSpPr>
          <p:cNvPr id="14" name="Text 12"/>
          <p:cNvSpPr/>
          <p:nvPr/>
        </p:nvSpPr>
        <p:spPr>
          <a:xfrm>
            <a:off x="3831336" y="1417320"/>
            <a:ext cx="1417320" cy="804672"/>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7</a:t>
            </a:r>
            <a:endParaRPr lang="en-US" sz="3200" dirty="0"/>
          </a:p>
        </p:txBody>
      </p:sp>
      <p:sp>
        <p:nvSpPr>
          <p:cNvPr id="15" name="Text 13"/>
          <p:cNvSpPr/>
          <p:nvPr/>
        </p:nvSpPr>
        <p:spPr>
          <a:xfrm>
            <a:off x="3831336" y="2240280"/>
            <a:ext cx="1417320" cy="502920"/>
          </a:xfrm>
          <a:prstGeom prst="rect">
            <a:avLst/>
          </a:prstGeom>
          <a:noFill/>
          <a:ln/>
        </p:spPr>
        <p:txBody>
          <a:bodyPr wrap="square" lIns="0" tIns="0" rIns="0" bIns="0" rtlCol="0" anchor="ctr"/>
          <a:lstStyle/>
          <a:p>
            <a:pPr algn="ctr" indent="0" marL="0">
              <a:buNone/>
            </a:pPr>
            <a:r>
              <a:rPr lang="en-US" sz="950" b="1" dirty="0">
                <a:solidFill>
                  <a:srgbClr val="A8C4DC"/>
                </a:solidFill>
                <a:latin typeface="Calibri" pitchFamily="34" charset="0"/>
                <a:ea typeface="Calibri" pitchFamily="34" charset="-122"/>
                <a:cs typeface="Calibri" pitchFamily="34" charset="-120"/>
              </a:rPr>
              <a:t>Scoring</a:t>
            </a:r>
            <a:endParaRPr lang="en-US" sz="950" dirty="0"/>
          </a:p>
          <a:p>
            <a:pPr algn="ctr" indent="0" marL="0">
              <a:buNone/>
            </a:pPr>
            <a:r>
              <a:rPr lang="en-US" sz="950" b="1" dirty="0">
                <a:solidFill>
                  <a:srgbClr val="A8C4DC"/>
                </a:solidFill>
                <a:latin typeface="Calibri" pitchFamily="34" charset="0"/>
                <a:ea typeface="Calibri" pitchFamily="34" charset="-122"/>
                <a:cs typeface="Calibri" pitchFamily="34" charset="-120"/>
              </a:rPr>
              <a:t>Dimensions</a:t>
            </a:r>
            <a:endParaRPr lang="en-US" sz="950" dirty="0"/>
          </a:p>
        </p:txBody>
      </p:sp>
      <p:sp>
        <p:nvSpPr>
          <p:cNvPr id="16" name="Text 14"/>
          <p:cNvSpPr/>
          <p:nvPr/>
        </p:nvSpPr>
        <p:spPr>
          <a:xfrm>
            <a:off x="3831336" y="2761488"/>
            <a:ext cx="1417320" cy="347472"/>
          </a:xfrm>
          <a:prstGeom prst="rect">
            <a:avLst/>
          </a:prstGeom>
          <a:noFill/>
          <a:ln/>
        </p:spPr>
        <p:txBody>
          <a:bodyPr wrap="square" lIns="0" tIns="0" rIns="0" bIns="0" rtlCol="0" anchor="ctr"/>
          <a:lstStyle/>
          <a:p>
            <a:pPr algn="ctr" indent="0" marL="0">
              <a:buNone/>
            </a:pPr>
            <a:r>
              <a:rPr lang="en-US" sz="800" dirty="0">
                <a:solidFill>
                  <a:srgbClr val="6888A0"/>
                </a:solidFill>
                <a:latin typeface="Calibri" pitchFamily="34" charset="0"/>
                <a:ea typeface="Calibri" pitchFamily="34" charset="-122"/>
                <a:cs typeface="Calibri" pitchFamily="34" charset="-120"/>
              </a:rPr>
              <a:t>Clinically grounded</a:t>
            </a:r>
            <a:endParaRPr lang="en-US" sz="800" dirty="0"/>
          </a:p>
        </p:txBody>
      </p:sp>
      <p:sp>
        <p:nvSpPr>
          <p:cNvPr id="17" name="Shape 15"/>
          <p:cNvSpPr/>
          <p:nvPr/>
        </p:nvSpPr>
        <p:spPr>
          <a:xfrm>
            <a:off x="5449824" y="1325880"/>
            <a:ext cx="1508760" cy="1920240"/>
          </a:xfrm>
          <a:prstGeom prst="roundRect">
            <a:avLst>
              <a:gd name="adj" fmla="val 6061"/>
            </a:avLst>
          </a:prstGeom>
          <a:solidFill>
            <a:srgbClr val="0077C8">
              <a:alpha val="28000"/>
            </a:srgbClr>
          </a:solidFill>
          <a:ln w="12700">
            <a:solidFill>
              <a:srgbClr val="00A9E0"/>
            </a:solidFill>
            <a:prstDash val="solid"/>
          </a:ln>
        </p:spPr>
      </p:sp>
      <p:sp>
        <p:nvSpPr>
          <p:cNvPr id="18" name="Text 16"/>
          <p:cNvSpPr/>
          <p:nvPr/>
        </p:nvSpPr>
        <p:spPr>
          <a:xfrm>
            <a:off x="5495544" y="1417320"/>
            <a:ext cx="1417320" cy="804672"/>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7</a:t>
            </a:r>
            <a:endParaRPr lang="en-US" sz="3200" dirty="0"/>
          </a:p>
        </p:txBody>
      </p:sp>
      <p:sp>
        <p:nvSpPr>
          <p:cNvPr id="19" name="Text 17"/>
          <p:cNvSpPr/>
          <p:nvPr/>
        </p:nvSpPr>
        <p:spPr>
          <a:xfrm>
            <a:off x="5495544" y="2240280"/>
            <a:ext cx="1417320" cy="502920"/>
          </a:xfrm>
          <a:prstGeom prst="rect">
            <a:avLst/>
          </a:prstGeom>
          <a:noFill/>
          <a:ln/>
        </p:spPr>
        <p:txBody>
          <a:bodyPr wrap="square" lIns="0" tIns="0" rIns="0" bIns="0" rtlCol="0" anchor="ctr"/>
          <a:lstStyle/>
          <a:p>
            <a:pPr algn="ctr" indent="0" marL="0">
              <a:buNone/>
            </a:pPr>
            <a:r>
              <a:rPr lang="en-US" sz="950" b="1" dirty="0">
                <a:solidFill>
                  <a:srgbClr val="A8C4DC"/>
                </a:solidFill>
                <a:latin typeface="Calibri" pitchFamily="34" charset="0"/>
                <a:ea typeface="Calibri" pitchFamily="34" charset="-122"/>
                <a:cs typeface="Calibri" pitchFamily="34" charset="-120"/>
              </a:rPr>
              <a:t>Public Data</a:t>
            </a:r>
            <a:endParaRPr lang="en-US" sz="950" dirty="0"/>
          </a:p>
          <a:p>
            <a:pPr algn="ctr" indent="0" marL="0">
              <a:buNone/>
            </a:pPr>
            <a:r>
              <a:rPr lang="en-US" sz="950" b="1" dirty="0">
                <a:solidFill>
                  <a:srgbClr val="A8C4DC"/>
                </a:solidFill>
                <a:latin typeface="Calibri" pitchFamily="34" charset="0"/>
                <a:ea typeface="Calibri" pitchFamily="34" charset="-122"/>
                <a:cs typeface="Calibri" pitchFamily="34" charset="-120"/>
              </a:rPr>
              <a:t>Sources</a:t>
            </a:r>
            <a:endParaRPr lang="en-US" sz="950" dirty="0"/>
          </a:p>
        </p:txBody>
      </p:sp>
      <p:sp>
        <p:nvSpPr>
          <p:cNvPr id="20" name="Text 18"/>
          <p:cNvSpPr/>
          <p:nvPr/>
        </p:nvSpPr>
        <p:spPr>
          <a:xfrm>
            <a:off x="5495544" y="2761488"/>
            <a:ext cx="1417320" cy="347472"/>
          </a:xfrm>
          <a:prstGeom prst="rect">
            <a:avLst/>
          </a:prstGeom>
          <a:noFill/>
          <a:ln/>
        </p:spPr>
        <p:txBody>
          <a:bodyPr wrap="square" lIns="0" tIns="0" rIns="0" bIns="0" rtlCol="0" anchor="ctr"/>
          <a:lstStyle/>
          <a:p>
            <a:pPr algn="ctr" indent="0" marL="0">
              <a:buNone/>
            </a:pPr>
            <a:r>
              <a:rPr lang="en-US" sz="800" dirty="0">
                <a:solidFill>
                  <a:srgbClr val="6888A0"/>
                </a:solidFill>
                <a:latin typeface="Calibri" pitchFamily="34" charset="0"/>
                <a:ea typeface="Calibri" pitchFamily="34" charset="-122"/>
                <a:cs typeface="Calibri" pitchFamily="34" charset="-120"/>
              </a:rPr>
              <a:t>All reproducible</a:t>
            </a:r>
            <a:endParaRPr lang="en-US" sz="800" dirty="0"/>
          </a:p>
        </p:txBody>
      </p:sp>
      <p:sp>
        <p:nvSpPr>
          <p:cNvPr id="21" name="Shape 19"/>
          <p:cNvSpPr/>
          <p:nvPr/>
        </p:nvSpPr>
        <p:spPr>
          <a:xfrm>
            <a:off x="7114032" y="1325880"/>
            <a:ext cx="1508760" cy="1920240"/>
          </a:xfrm>
          <a:prstGeom prst="roundRect">
            <a:avLst>
              <a:gd name="adj" fmla="val 6061"/>
            </a:avLst>
          </a:prstGeom>
          <a:solidFill>
            <a:srgbClr val="0077C8">
              <a:alpha val="28000"/>
            </a:srgbClr>
          </a:solidFill>
          <a:ln w="12700">
            <a:solidFill>
              <a:srgbClr val="00A9E0"/>
            </a:solidFill>
            <a:prstDash val="solid"/>
          </a:ln>
        </p:spPr>
      </p:sp>
      <p:sp>
        <p:nvSpPr>
          <p:cNvPr id="22" name="Text 20"/>
          <p:cNvSpPr/>
          <p:nvPr/>
        </p:nvSpPr>
        <p:spPr>
          <a:xfrm>
            <a:off x="7159752" y="1417320"/>
            <a:ext cx="1417320" cy="804672"/>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23" name="Text 21"/>
          <p:cNvSpPr/>
          <p:nvPr/>
        </p:nvSpPr>
        <p:spPr>
          <a:xfrm>
            <a:off x="7159752" y="2240280"/>
            <a:ext cx="1417320" cy="502920"/>
          </a:xfrm>
          <a:prstGeom prst="rect">
            <a:avLst/>
          </a:prstGeom>
          <a:noFill/>
          <a:ln/>
        </p:spPr>
        <p:txBody>
          <a:bodyPr wrap="square" lIns="0" tIns="0" rIns="0" bIns="0" rtlCol="0" anchor="ctr"/>
          <a:lstStyle/>
          <a:p>
            <a:pPr algn="ctr" indent="0" marL="0">
              <a:buNone/>
            </a:pPr>
            <a:r>
              <a:rPr lang="en-US" sz="950" b="1" dirty="0">
                <a:solidFill>
                  <a:srgbClr val="A8C4DC"/>
                </a:solidFill>
                <a:latin typeface="Calibri" pitchFamily="34" charset="0"/>
                <a:ea typeface="Calibri" pitchFamily="34" charset="-122"/>
                <a:cs typeface="Calibri" pitchFamily="34" charset="-120"/>
              </a:rPr>
              <a:t>Conditions</a:t>
            </a:r>
            <a:endParaRPr lang="en-US" sz="950" dirty="0"/>
          </a:p>
          <a:p>
            <a:pPr algn="ctr" indent="0" marL="0">
              <a:buNone/>
            </a:pPr>
            <a:r>
              <a:rPr lang="en-US" sz="950" b="1" dirty="0">
                <a:solidFill>
                  <a:srgbClr val="A8C4DC"/>
                </a:solidFill>
                <a:latin typeface="Calibri" pitchFamily="34" charset="0"/>
                <a:ea typeface="Calibri" pitchFamily="34" charset="-122"/>
                <a:cs typeface="Calibri" pitchFamily="34" charset="-120"/>
              </a:rPr>
              <a:t>Covered</a:t>
            </a:r>
            <a:endParaRPr lang="en-US" sz="950" dirty="0"/>
          </a:p>
        </p:txBody>
      </p:sp>
      <p:sp>
        <p:nvSpPr>
          <p:cNvPr id="24" name="Text 22"/>
          <p:cNvSpPr/>
          <p:nvPr/>
        </p:nvSpPr>
        <p:spPr>
          <a:xfrm>
            <a:off x="7159752" y="2761488"/>
            <a:ext cx="1417320" cy="347472"/>
          </a:xfrm>
          <a:prstGeom prst="rect">
            <a:avLst/>
          </a:prstGeom>
          <a:noFill/>
          <a:ln/>
        </p:spPr>
        <p:txBody>
          <a:bodyPr wrap="square" lIns="0" tIns="0" rIns="0" bIns="0" rtlCol="0" anchor="ctr"/>
          <a:lstStyle/>
          <a:p>
            <a:pPr algn="ctr" indent="0" marL="0">
              <a:buNone/>
            </a:pPr>
            <a:r>
              <a:rPr lang="en-US" sz="800" dirty="0">
                <a:solidFill>
                  <a:srgbClr val="6888A0"/>
                </a:solidFill>
                <a:latin typeface="Calibri" pitchFamily="34" charset="0"/>
                <a:ea typeface="Calibri" pitchFamily="34" charset="-122"/>
                <a:cs typeface="Calibri" pitchFamily="34" charset="-120"/>
              </a:rPr>
              <a:t>T2D · HTN · Thyroid</a:t>
            </a:r>
            <a:endParaRPr lang="en-US" sz="800" dirty="0"/>
          </a:p>
        </p:txBody>
      </p:sp>
      <p:sp>
        <p:nvSpPr>
          <p:cNvPr id="25" name="Shape 23"/>
          <p:cNvSpPr/>
          <p:nvPr/>
        </p:nvSpPr>
        <p:spPr>
          <a:xfrm>
            <a:off x="457200" y="3401568"/>
            <a:ext cx="3977640" cy="1481328"/>
          </a:xfrm>
          <a:prstGeom prst="roundRect">
            <a:avLst>
              <a:gd name="adj" fmla="val 7407"/>
            </a:avLst>
          </a:prstGeom>
          <a:solidFill>
            <a:srgbClr val="0077C8">
              <a:alpha val="20000"/>
            </a:srgbClr>
          </a:solidFill>
          <a:ln w="12700">
            <a:solidFill>
              <a:srgbClr val="00A9E0"/>
            </a:solidFill>
            <a:prstDash val="solid"/>
          </a:ln>
        </p:spPr>
      </p:sp>
      <p:sp>
        <p:nvSpPr>
          <p:cNvPr id="26" name="Text 24"/>
          <p:cNvSpPr/>
          <p:nvPr/>
        </p:nvSpPr>
        <p:spPr>
          <a:xfrm>
            <a:off x="640080" y="3520440"/>
            <a:ext cx="3611880" cy="347472"/>
          </a:xfrm>
          <a:prstGeom prst="rect">
            <a:avLst/>
          </a:prstGeom>
          <a:noFill/>
          <a:ln/>
        </p:spPr>
        <p:txBody>
          <a:bodyPr wrap="square" lIns="0" tIns="0" rIns="0" bIns="0" rtlCol="0" anchor="ctr"/>
          <a:lstStyle/>
          <a:p>
            <a:pPr algn="l" indent="0" marL="0">
              <a:buNone/>
            </a:pPr>
            <a:r>
              <a:rPr lang="en-US" sz="1250" b="1" dirty="0">
                <a:solidFill>
                  <a:srgbClr val="00A9E0"/>
                </a:solidFill>
                <a:latin typeface="Calibri" pitchFamily="34" charset="0"/>
                <a:ea typeface="Calibri" pitchFamily="34" charset="-122"/>
                <a:cs typeface="Calibri" pitchFamily="34" charset="-120"/>
              </a:rPr>
              <a:t>County Level — Strategy</a:t>
            </a:r>
            <a:endParaRPr lang="en-US" sz="1250" dirty="0"/>
          </a:p>
        </p:txBody>
      </p:sp>
      <p:sp>
        <p:nvSpPr>
          <p:cNvPr id="27" name="Text 25"/>
          <p:cNvSpPr/>
          <p:nvPr/>
        </p:nvSpPr>
        <p:spPr>
          <a:xfrm>
            <a:off x="640080" y="3886200"/>
            <a:ext cx="3611880" cy="868680"/>
          </a:xfrm>
          <a:prstGeom prst="rect">
            <a:avLst/>
          </a:prstGeom>
          <a:noFill/>
          <a:ln/>
        </p:spPr>
        <p:txBody>
          <a:bodyPr wrap="square" lIns="0" tIns="0" rIns="0" bIns="0" rtlCol="0" anchor="ctr"/>
          <a:lstStyle/>
          <a:p>
            <a:pPr algn="l" indent="0" marL="0">
              <a:buNone/>
            </a:pPr>
            <a:r>
              <a:rPr lang="en-US" sz="1000" dirty="0">
                <a:solidFill>
                  <a:srgbClr val="C0D8EC"/>
                </a:solidFill>
                <a:latin typeface="Calibri" pitchFamily="34" charset="0"/>
                <a:ea typeface="Calibri" pitchFamily="34" charset="-122"/>
                <a:cs typeface="Calibri" pitchFamily="34" charset="-120"/>
              </a:rPr>
              <a:t>Market prioritization, investment allocation, payer partnership targeting. Every US county scored with real CDC + CMS data.</a:t>
            </a:r>
            <a:endParaRPr lang="en-US" sz="1000" dirty="0"/>
          </a:p>
        </p:txBody>
      </p:sp>
      <p:sp>
        <p:nvSpPr>
          <p:cNvPr id="28" name="Shape 26"/>
          <p:cNvSpPr/>
          <p:nvPr/>
        </p:nvSpPr>
        <p:spPr>
          <a:xfrm>
            <a:off x="4800600" y="3401568"/>
            <a:ext cx="3977640" cy="1481328"/>
          </a:xfrm>
          <a:prstGeom prst="roundRect">
            <a:avLst>
              <a:gd name="adj" fmla="val 7407"/>
            </a:avLst>
          </a:prstGeom>
          <a:solidFill>
            <a:srgbClr val="0077C8">
              <a:alpha val="20000"/>
            </a:srgbClr>
          </a:solidFill>
          <a:ln w="12700">
            <a:solidFill>
              <a:srgbClr val="A8D8EA"/>
            </a:solidFill>
            <a:prstDash val="solid"/>
          </a:ln>
        </p:spPr>
      </p:sp>
      <p:sp>
        <p:nvSpPr>
          <p:cNvPr id="29" name="Text 27"/>
          <p:cNvSpPr/>
          <p:nvPr/>
        </p:nvSpPr>
        <p:spPr>
          <a:xfrm>
            <a:off x="4983480" y="3520440"/>
            <a:ext cx="3611880" cy="347472"/>
          </a:xfrm>
          <a:prstGeom prst="rect">
            <a:avLst/>
          </a:prstGeom>
          <a:noFill/>
          <a:ln/>
        </p:spPr>
        <p:txBody>
          <a:bodyPr wrap="square" lIns="0" tIns="0" rIns="0" bIns="0" rtlCol="0" anchor="ctr"/>
          <a:lstStyle/>
          <a:p>
            <a:pPr algn="l" indent="0" marL="0">
              <a:buNone/>
            </a:pPr>
            <a:r>
              <a:rPr lang="en-US" sz="1250" b="1" dirty="0">
                <a:solidFill>
                  <a:srgbClr val="A8D8EA"/>
                </a:solidFill>
                <a:latin typeface="Calibri" pitchFamily="34" charset="0"/>
                <a:ea typeface="Calibri" pitchFamily="34" charset="-122"/>
                <a:cs typeface="Calibri" pitchFamily="34" charset="-120"/>
              </a:rPr>
              <a:t>ZIP Level — Execution</a:t>
            </a:r>
            <a:endParaRPr lang="en-US" sz="1250" dirty="0"/>
          </a:p>
        </p:txBody>
      </p:sp>
      <p:sp>
        <p:nvSpPr>
          <p:cNvPr id="30" name="Text 28"/>
          <p:cNvSpPr/>
          <p:nvPr/>
        </p:nvSpPr>
        <p:spPr>
          <a:xfrm>
            <a:off x="4983480" y="3886200"/>
            <a:ext cx="3611880" cy="868680"/>
          </a:xfrm>
          <a:prstGeom prst="rect">
            <a:avLst/>
          </a:prstGeom>
          <a:noFill/>
          <a:ln/>
        </p:spPr>
        <p:txBody>
          <a:bodyPr wrap="square" lIns="0" tIns="0" rIns="0" bIns="0" rtlCol="0" anchor="ctr"/>
          <a:lstStyle/>
          <a:p>
            <a:pPr algn="l" indent="0" marL="0">
              <a:buNone/>
            </a:pPr>
            <a:r>
              <a:rPr lang="en-US" sz="1000" dirty="0">
                <a:solidFill>
                  <a:srgbClr val="C0D8EC"/>
                </a:solidFill>
                <a:latin typeface="Calibri" pitchFamily="34" charset="0"/>
                <a:ea typeface="Calibri" pitchFamily="34" charset="-122"/>
                <a:cs typeface="Calibri" pitchFamily="34" charset="-120"/>
              </a:rPr>
              <a:t>Field territory design, rep briefing, Territory Builder for instant ZIP-level scorecards pasted into any meeting.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830"/>
        </a:solidFill>
      </p:bgPr>
    </p:bg>
    <p:spTree>
      <p:nvGrpSpPr>
        <p:cNvPr id="1" name=""/>
        <p:cNvGrpSpPr/>
        <p:nvPr/>
      </p:nvGrpSpPr>
      <p:grpSpPr>
        <a:xfrm>
          <a:off x="0" y="0"/>
          <a:ext cx="0" cy="0"/>
          <a:chOff x="0" y="0"/>
          <a:chExt cx="0" cy="0"/>
        </a:xfrm>
      </p:grpSpPr>
      <p:sp>
        <p:nvSpPr>
          <p:cNvPr id="2" name="Shape 0"/>
          <p:cNvSpPr/>
          <p:nvPr/>
        </p:nvSpPr>
        <p:spPr>
          <a:xfrm>
            <a:off x="-1371600" y="1371600"/>
            <a:ext cx="5029200" cy="5029200"/>
          </a:xfrm>
          <a:prstGeom prst="ellipse">
            <a:avLst/>
          </a:prstGeom>
          <a:solidFill>
            <a:srgbClr val="0077C8">
              <a:alpha val="16000"/>
            </a:srgbClr>
          </a:solidFill>
          <a:ln w="12700">
            <a:solidFill>
              <a:srgbClr val="0077C8"/>
            </a:solidFill>
            <a:prstDash val="solid"/>
          </a:ln>
        </p:spPr>
      </p:sp>
      <p:sp>
        <p:nvSpPr>
          <p:cNvPr id="3" name="Text 1"/>
          <p:cNvSpPr/>
          <p:nvPr/>
        </p:nvSpPr>
        <p:spPr>
          <a:xfrm>
            <a:off x="594360" y="1207008"/>
            <a:ext cx="7315200" cy="320040"/>
          </a:xfrm>
          <a:prstGeom prst="rect">
            <a:avLst/>
          </a:prstGeom>
          <a:noFill/>
          <a:ln/>
        </p:spPr>
        <p:txBody>
          <a:bodyPr wrap="square" lIns="0" tIns="0" rIns="0" bIns="0" rtlCol="0" anchor="ctr"/>
          <a:lstStyle/>
          <a:p>
            <a:pPr algn="l" indent="0" marL="0">
              <a:buNone/>
            </a:pPr>
            <a:r>
              <a:rPr lang="en-US" sz="950" b="1" spc="350" kern="0" dirty="0">
                <a:solidFill>
                  <a:srgbClr val="00A9E0"/>
                </a:solidFill>
                <a:latin typeface="Calibri" pitchFamily="34" charset="0"/>
                <a:ea typeface="Calibri" pitchFamily="34" charset="-122"/>
                <a:cs typeface="Calibri" pitchFamily="34" charset="-120"/>
              </a:rPr>
              <a:t>THE DASHBOARD</a:t>
            </a:r>
            <a:endParaRPr lang="en-US" sz="950" dirty="0"/>
          </a:p>
        </p:txBody>
      </p:sp>
      <p:sp>
        <p:nvSpPr>
          <p:cNvPr id="4" name="Text 2"/>
          <p:cNvSpPr/>
          <p:nvPr/>
        </p:nvSpPr>
        <p:spPr>
          <a:xfrm>
            <a:off x="594360" y="1600200"/>
            <a:ext cx="7772400" cy="2057400"/>
          </a:xfrm>
          <a:prstGeom prst="rect">
            <a:avLst/>
          </a:prstGeom>
          <a:noFill/>
          <a:ln/>
        </p:spPr>
        <p:txBody>
          <a:bodyPr wrap="square" lIns="0" tIns="0" rIns="0" bIns="0" rtlCol="0" anchor="ctr"/>
          <a:lstStyle/>
          <a:p>
            <a:pPr algn="l" indent="0" marL="0">
              <a:buNone/>
            </a:pPr>
            <a:r>
              <a:rPr lang="en-US" sz="4200" b="1" dirty="0">
                <a:solidFill>
                  <a:srgbClr val="FFFFFF"/>
                </a:solidFill>
                <a:latin typeface="Calibri" pitchFamily="34" charset="0"/>
                <a:ea typeface="Calibri" pitchFamily="34" charset="-122"/>
                <a:cs typeface="Calibri" pitchFamily="34" charset="-120"/>
              </a:rPr>
              <a:t>7 Views.  </a:t>
            </a:r>
            <a:endParaRPr lang="en-US" sz="4200" dirty="0"/>
          </a:p>
          <a:p>
            <a:pPr algn="l" indent="0" marL="0">
              <a:buNone/>
            </a:pPr>
            <a:r>
              <a:rPr lang="en-US" sz="4200" b="1" dirty="0">
                <a:solidFill>
                  <a:srgbClr val="FFFFFF"/>
                </a:solidFill>
                <a:latin typeface="Calibri" pitchFamily="34" charset="0"/>
                <a:ea typeface="Calibri" pitchFamily="34" charset="-122"/>
                <a:cs typeface="Calibri" pitchFamily="34" charset="-120"/>
              </a:rPr>
              <a:t>3 AHA Moments.  </a:t>
            </a:r>
            <a:endParaRPr lang="en-US" sz="4200" dirty="0"/>
          </a:p>
          <a:p>
            <a:pPr algn="l" indent="0" marL="0">
              <a:buNone/>
            </a:pPr>
            <a:r>
              <a:rPr lang="en-US" sz="4200" b="1" dirty="0">
                <a:solidFill>
                  <a:srgbClr val="FFFFFF"/>
                </a:solidFill>
                <a:latin typeface="Calibri" pitchFamily="34" charset="0"/>
                <a:ea typeface="Calibri" pitchFamily="34" charset="-122"/>
                <a:cs typeface="Calibri" pitchFamily="34" charset="-120"/>
              </a:rPr>
              <a:t>1 Platform.</a:t>
            </a:r>
            <a:endParaRPr lang="en-US" sz="4200" dirty="0"/>
          </a:p>
        </p:txBody>
      </p:sp>
      <p:sp>
        <p:nvSpPr>
          <p:cNvPr id="5" name="Text 3"/>
          <p:cNvSpPr/>
          <p:nvPr/>
        </p:nvSpPr>
        <p:spPr>
          <a:xfrm>
            <a:off x="594360" y="3858768"/>
            <a:ext cx="7955280" cy="548640"/>
          </a:xfrm>
          <a:prstGeom prst="rect">
            <a:avLst/>
          </a:prstGeom>
          <a:noFill/>
          <a:ln/>
        </p:spPr>
        <p:txBody>
          <a:bodyPr wrap="square" lIns="0" tIns="0" rIns="0" bIns="0" rtlCol="0" anchor="ctr"/>
          <a:lstStyle/>
          <a:p>
            <a:pPr algn="l" indent="0" marL="0">
              <a:buNone/>
            </a:pPr>
            <a:r>
              <a:rPr lang="en-US" sz="950" dirty="0">
                <a:solidFill>
                  <a:srgbClr val="5A80A0"/>
                </a:solidFill>
                <a:latin typeface="Calibri" pitchFamily="34" charset="0"/>
                <a:ea typeface="Calibri" pitchFamily="34" charset="-122"/>
                <a:cs typeface="Calibri" pitchFamily="34" charset="-120"/>
              </a:rPr>
              <a:t>Market Overview   ·   7-Dimension Analysis   ·   Investment Planner   ·   Geographic Intelligence   ·   Payer Landscape   ·   State Drill-Down   ·   ZIP &amp; Territory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417320" cy="292608"/>
          </a:xfrm>
          <a:prstGeom prst="roundRect">
            <a:avLst>
              <a:gd name="adj" fmla="val 18750"/>
            </a:avLst>
          </a:prstGeom>
          <a:solidFill>
            <a:srgbClr val="00A9E0"/>
          </a:solidFill>
          <a:ln w="12700">
            <a:solidFill>
              <a:srgbClr val="00A9E0"/>
            </a:solidFill>
            <a:prstDash val="solid"/>
          </a:ln>
        </p:spPr>
      </p:sp>
      <p:sp>
        <p:nvSpPr>
          <p:cNvPr id="3" name="Text 1"/>
          <p:cNvSpPr/>
          <p:nvPr/>
        </p:nvSpPr>
        <p:spPr>
          <a:xfrm>
            <a:off x="457200" y="228600"/>
            <a:ext cx="1417320" cy="292608"/>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Calibri" pitchFamily="34" charset="0"/>
                <a:ea typeface="Calibri" pitchFamily="34" charset="-122"/>
                <a:cs typeface="Calibri" pitchFamily="34" charset="-120"/>
              </a:rPr>
              <a:t>AHA MOMENT #1</a:t>
            </a:r>
            <a:endParaRPr lang="en-US" sz="750" dirty="0"/>
          </a:p>
        </p:txBody>
      </p:sp>
      <p:sp>
        <p:nvSpPr>
          <p:cNvPr id="4" name="Text 2"/>
          <p:cNvSpPr/>
          <p:nvPr/>
        </p:nvSpPr>
        <p:spPr>
          <a:xfrm>
            <a:off x="457200" y="603504"/>
            <a:ext cx="8229600" cy="548640"/>
          </a:xfrm>
          <a:prstGeom prst="rect">
            <a:avLst/>
          </a:prstGeom>
          <a:noFill/>
          <a:ln/>
        </p:spPr>
        <p:txBody>
          <a:bodyPr wrap="square" lIns="0" tIns="0" rIns="0" bIns="0" rtlCol="0" anchor="ctr"/>
          <a:lstStyle/>
          <a:p>
            <a:pPr algn="l" indent="0" marL="0">
              <a:buNone/>
            </a:pPr>
            <a:r>
              <a:rPr lang="en-US" sz="2600" b="1" dirty="0">
                <a:solidFill>
                  <a:srgbClr val="003087"/>
                </a:solidFill>
                <a:latin typeface="Calibri" pitchFamily="34" charset="0"/>
                <a:ea typeface="Calibri" pitchFamily="34" charset="-122"/>
                <a:cs typeface="Calibri" pitchFamily="34" charset="-120"/>
              </a:rPr>
              <a:t>The Map Tells the Story Instantly</a:t>
            </a:r>
            <a:endParaRPr lang="en-US" sz="2600" dirty="0"/>
          </a:p>
        </p:txBody>
      </p:sp>
      <p:sp>
        <p:nvSpPr>
          <p:cNvPr id="5" name="Shape 3"/>
          <p:cNvSpPr/>
          <p:nvPr/>
        </p:nvSpPr>
        <p:spPr>
          <a:xfrm>
            <a:off x="457200" y="1234440"/>
            <a:ext cx="5394960" cy="3291840"/>
          </a:xfrm>
          <a:prstGeom prst="roundRect">
            <a:avLst>
              <a:gd name="adj" fmla="val 3889"/>
            </a:avLst>
          </a:prstGeom>
          <a:solidFill>
            <a:srgbClr val="0A2A50"/>
          </a:solidFill>
          <a:ln w="12700">
            <a:solidFill>
              <a:srgbClr val="0077C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17320"/>
            <a:ext cx="5029200" cy="2926080"/>
          </a:xfrm>
          <a:prstGeom prst="rect">
            <a:avLst/>
          </a:prstGeom>
          <a:noFill/>
          <a:ln/>
        </p:spPr>
        <p:txBody>
          <a:bodyPr wrap="square" lIns="0" tIns="0" rIns="0" bIns="0" rtlCol="0" anchor="ctr"/>
          <a:lstStyle/>
          <a:p>
            <a:pPr algn="ctr" indent="0" marL="0">
              <a:buNone/>
            </a:pPr>
            <a:r>
              <a:rPr lang="en-US" sz="1100" i="1" dirty="0">
                <a:solidFill>
                  <a:srgbClr val="3A6A9A"/>
                </a:solidFill>
                <a:latin typeface="Calibri" pitchFamily="34" charset="0"/>
                <a:ea typeface="Calibri" pitchFamily="34" charset="-122"/>
                <a:cs typeface="Calibri" pitchFamily="34" charset="-120"/>
              </a:rPr>
              <a:t>[ Geographic Intelligence View ]</a:t>
            </a:r>
            <a:endParaRPr lang="en-US" sz="1100" dirty="0"/>
          </a:p>
          <a:p>
            <a:pPr algn="ctr" indent="0" marL="0">
              <a:buNone/>
            </a:pPr>
            <a:r>
              <a:rPr lang="en-US" sz="1100" i="1" dirty="0">
                <a:solidFill>
                  <a:srgbClr val="3A6A9A"/>
                </a:solidFill>
                <a:latin typeface="Calibri" pitchFamily="34" charset="0"/>
                <a:ea typeface="Calibri" pitchFamily="34" charset="-122"/>
                <a:cs typeface="Calibri" pitchFamily="34" charset="-120"/>
              </a:rPr>
              <a:t> </a:t>
            </a:r>
            <a:endParaRPr lang="en-US" sz="1100" dirty="0"/>
          </a:p>
          <a:p>
            <a:pPr algn="ctr" indent="0" marL="0">
              <a:buNone/>
            </a:pPr>
            <a:r>
              <a:rPr lang="en-US" sz="1100" i="1" dirty="0">
                <a:solidFill>
                  <a:srgbClr val="3A6A9A"/>
                </a:solidFill>
                <a:latin typeface="Calibri" pitchFamily="34" charset="0"/>
                <a:ea typeface="Calibri" pitchFamily="34" charset="-122"/>
                <a:cs typeface="Calibri" pitchFamily="34" charset="-120"/>
              </a:rPr>
              <a:t>US County Choropleth Map</a:t>
            </a:r>
            <a:endParaRPr lang="en-US" sz="1100" dirty="0"/>
          </a:p>
          <a:p>
            <a:pPr algn="ctr" indent="0" marL="0">
              <a:buNone/>
            </a:pPr>
            <a:r>
              <a:rPr lang="en-US" sz="1100" i="1" dirty="0">
                <a:solidFill>
                  <a:srgbClr val="3A6A9A"/>
                </a:solidFill>
                <a:latin typeface="Calibri" pitchFamily="34" charset="0"/>
                <a:ea typeface="Calibri" pitchFamily="34" charset="-122"/>
                <a:cs typeface="Calibri" pitchFamily="34" charset="-120"/>
              </a:rPr>
              <a:t>Colored by Opportunity Score</a:t>
            </a:r>
            <a:endParaRPr lang="en-US" sz="1100" dirty="0"/>
          </a:p>
          <a:p>
            <a:pPr algn="ctr" indent="0" marL="0">
              <a:buNone/>
            </a:pPr>
            <a:r>
              <a:rPr lang="en-US" sz="1100" i="1" dirty="0">
                <a:solidFill>
                  <a:srgbClr val="3A6A9A"/>
                </a:solidFill>
                <a:latin typeface="Calibri" pitchFamily="34" charset="0"/>
                <a:ea typeface="Calibri" pitchFamily="34" charset="-122"/>
                <a:cs typeface="Calibri" pitchFamily="34" charset="-120"/>
              </a:rPr>
              <a:t> </a:t>
            </a:r>
            <a:endParaRPr lang="en-US" sz="1100" dirty="0"/>
          </a:p>
          <a:p>
            <a:pPr algn="ctr" indent="0" marL="0">
              <a:buNone/>
            </a:pPr>
            <a:r>
              <a:rPr lang="en-US" sz="1100" i="1" dirty="0">
                <a:solidFill>
                  <a:srgbClr val="3A6A9A"/>
                </a:solidFill>
                <a:latin typeface="Calibri" pitchFamily="34" charset="0"/>
                <a:ea typeface="Calibri" pitchFamily="34" charset="-122"/>
                <a:cs typeface="Calibri" pitchFamily="34" charset="-120"/>
              </a:rPr>
              <a:t>Insert dashboard screenshot here</a:t>
            </a:r>
            <a:endParaRPr lang="en-US" sz="1100" dirty="0"/>
          </a:p>
        </p:txBody>
      </p:sp>
      <p:sp>
        <p:nvSpPr>
          <p:cNvPr id="7" name="Text 5"/>
          <p:cNvSpPr/>
          <p:nvPr/>
        </p:nvSpPr>
        <p:spPr>
          <a:xfrm>
            <a:off x="6035040" y="1298448"/>
            <a:ext cx="2880360" cy="274320"/>
          </a:xfrm>
          <a:prstGeom prst="rect">
            <a:avLst/>
          </a:prstGeom>
          <a:noFill/>
          <a:ln/>
        </p:spPr>
        <p:txBody>
          <a:bodyPr wrap="square" lIns="0" tIns="0" rIns="0" bIns="0" rtlCol="0" anchor="ctr"/>
          <a:lstStyle/>
          <a:p>
            <a:pPr algn="l" indent="0" marL="0">
              <a:buNone/>
            </a:pPr>
            <a:r>
              <a:rPr lang="en-US" sz="800" b="1" spc="150" kern="0" dirty="0">
                <a:solidFill>
                  <a:srgbClr val="00A9E0"/>
                </a:solidFill>
                <a:latin typeface="Calibri" pitchFamily="34" charset="0"/>
                <a:ea typeface="Calibri" pitchFamily="34" charset="-122"/>
                <a:cs typeface="Calibri" pitchFamily="34" charset="-120"/>
              </a:rPr>
              <a:t>WHAT YOU SEE</a:t>
            </a:r>
            <a:endParaRPr lang="en-US" sz="800" dirty="0"/>
          </a:p>
        </p:txBody>
      </p:sp>
      <p:sp>
        <p:nvSpPr>
          <p:cNvPr id="8" name="Text 6"/>
          <p:cNvSpPr/>
          <p:nvPr/>
        </p:nvSpPr>
        <p:spPr>
          <a:xfrm>
            <a:off x="6035040" y="1581912"/>
            <a:ext cx="2880360" cy="658368"/>
          </a:xfrm>
          <a:prstGeom prst="rect">
            <a:avLst/>
          </a:prstGeom>
          <a:noFill/>
          <a:ln/>
        </p:spPr>
        <p:txBody>
          <a:bodyPr wrap="square" lIns="0" tIns="0" rIns="0" bIns="0" rtlCol="0" anchor="ctr"/>
          <a:lstStyle/>
          <a:p>
            <a:pPr algn="l" indent="0" marL="0">
              <a:buNone/>
            </a:pPr>
            <a:r>
              <a:rPr lang="en-US" sz="1050" dirty="0">
                <a:solidFill>
                  <a:srgbClr val="0A1F3C"/>
                </a:solidFill>
                <a:latin typeface="Calibri" pitchFamily="34" charset="0"/>
                <a:ea typeface="Calibri" pitchFamily="34" charset="-122"/>
                <a:cs typeface="Calibri" pitchFamily="34" charset="-120"/>
              </a:rPr>
              <a:t>Deep South, Appalachia, and rural Midwest light up immediately. Geographic clustering is unmistakable.</a:t>
            </a:r>
            <a:endParaRPr lang="en-US" sz="1050" dirty="0"/>
          </a:p>
        </p:txBody>
      </p:sp>
      <p:sp>
        <p:nvSpPr>
          <p:cNvPr id="9" name="Text 7"/>
          <p:cNvSpPr/>
          <p:nvPr/>
        </p:nvSpPr>
        <p:spPr>
          <a:xfrm>
            <a:off x="6035040" y="2368296"/>
            <a:ext cx="2880360" cy="274320"/>
          </a:xfrm>
          <a:prstGeom prst="rect">
            <a:avLst/>
          </a:prstGeom>
          <a:noFill/>
          <a:ln/>
        </p:spPr>
        <p:txBody>
          <a:bodyPr wrap="square" lIns="0" tIns="0" rIns="0" bIns="0" rtlCol="0" anchor="ctr"/>
          <a:lstStyle/>
          <a:p>
            <a:pPr algn="l" indent="0" marL="0">
              <a:buNone/>
            </a:pPr>
            <a:r>
              <a:rPr lang="en-US" sz="800" b="1" spc="150" kern="0" dirty="0">
                <a:solidFill>
                  <a:srgbClr val="00A9E0"/>
                </a:solidFill>
                <a:latin typeface="Calibri" pitchFamily="34" charset="0"/>
                <a:ea typeface="Calibri" pitchFamily="34" charset="-122"/>
                <a:cs typeface="Calibri" pitchFamily="34" charset="-120"/>
              </a:rPr>
              <a:t>THE INSIGHT</a:t>
            </a:r>
            <a:endParaRPr lang="en-US" sz="800" dirty="0"/>
          </a:p>
        </p:txBody>
      </p:sp>
      <p:sp>
        <p:nvSpPr>
          <p:cNvPr id="10" name="Text 8"/>
          <p:cNvSpPr/>
          <p:nvPr/>
        </p:nvSpPr>
        <p:spPr>
          <a:xfrm>
            <a:off x="6035040" y="2651760"/>
            <a:ext cx="2880360" cy="658368"/>
          </a:xfrm>
          <a:prstGeom prst="rect">
            <a:avLst/>
          </a:prstGeom>
          <a:noFill/>
          <a:ln/>
        </p:spPr>
        <p:txBody>
          <a:bodyPr wrap="square" lIns="0" tIns="0" rIns="0" bIns="0" rtlCol="0" anchor="ctr"/>
          <a:lstStyle/>
          <a:p>
            <a:pPr algn="l" indent="0" marL="0">
              <a:buNone/>
            </a:pPr>
            <a:r>
              <a:rPr lang="en-US" sz="1050" dirty="0">
                <a:solidFill>
                  <a:srgbClr val="0A1F3C"/>
                </a:solidFill>
                <a:latin typeface="Calibri" pitchFamily="34" charset="0"/>
                <a:ea typeface="Calibri" pitchFamily="34" charset="-122"/>
                <a:cs typeface="Calibri" pitchFamily="34" charset="-120"/>
              </a:rPr>
              <a:t>Same counties with highest T2D burden AND the lowest Medicare detection rates — silent patients concentrate here.</a:t>
            </a:r>
            <a:endParaRPr lang="en-US" sz="1050" dirty="0"/>
          </a:p>
        </p:txBody>
      </p:sp>
      <p:sp>
        <p:nvSpPr>
          <p:cNvPr id="11" name="Text 9"/>
          <p:cNvSpPr/>
          <p:nvPr/>
        </p:nvSpPr>
        <p:spPr>
          <a:xfrm>
            <a:off x="6035040" y="3438144"/>
            <a:ext cx="2880360" cy="274320"/>
          </a:xfrm>
          <a:prstGeom prst="rect">
            <a:avLst/>
          </a:prstGeom>
          <a:noFill/>
          <a:ln/>
        </p:spPr>
        <p:txBody>
          <a:bodyPr wrap="square" lIns="0" tIns="0" rIns="0" bIns="0" rtlCol="0" anchor="ctr"/>
          <a:lstStyle/>
          <a:p>
            <a:pPr algn="l" indent="0" marL="0">
              <a:buNone/>
            </a:pPr>
            <a:r>
              <a:rPr lang="en-US" sz="800" b="1" spc="150" kern="0" dirty="0">
                <a:solidFill>
                  <a:srgbClr val="00A9E0"/>
                </a:solidFill>
                <a:latin typeface="Calibri" pitchFamily="34" charset="0"/>
                <a:ea typeface="Calibri" pitchFamily="34" charset="-122"/>
                <a:cs typeface="Calibri" pitchFamily="34" charset="-120"/>
              </a:rPr>
              <a:t>THE DEMO LINE</a:t>
            </a:r>
            <a:endParaRPr lang="en-US" sz="800" dirty="0"/>
          </a:p>
        </p:txBody>
      </p:sp>
      <p:sp>
        <p:nvSpPr>
          <p:cNvPr id="12" name="Text 10"/>
          <p:cNvSpPr/>
          <p:nvPr/>
        </p:nvSpPr>
        <p:spPr>
          <a:xfrm>
            <a:off x="6035040" y="3721608"/>
            <a:ext cx="2880360" cy="658368"/>
          </a:xfrm>
          <a:prstGeom prst="rect">
            <a:avLst/>
          </a:prstGeom>
          <a:noFill/>
          <a:ln/>
        </p:spPr>
        <p:txBody>
          <a:bodyPr wrap="square" lIns="0" tIns="0" rIns="0" bIns="0" rtlCol="0" anchor="ctr"/>
          <a:lstStyle/>
          <a:p>
            <a:pPr algn="l" indent="0" marL="0">
              <a:buNone/>
            </a:pPr>
            <a:r>
              <a:rPr lang="en-US" sz="1050" dirty="0">
                <a:solidFill>
                  <a:srgbClr val="0A1F3C"/>
                </a:solidFill>
                <a:latin typeface="Calibri" pitchFamily="34" charset="0"/>
                <a:ea typeface="Calibri" pitchFamily="34" charset="-122"/>
                <a:cs typeface="Calibri" pitchFamily="34" charset="-120"/>
              </a:rPr>
              <a:t>"These aren't the markets where patients are diagnosed — these are where they haven't been found yet."</a:t>
            </a:r>
            <a:endParaRPr lang="en-US" sz="1050" dirty="0"/>
          </a:p>
        </p:txBody>
      </p:sp>
      <p:sp>
        <p:nvSpPr>
          <p:cNvPr id="13" name="Shape 11"/>
          <p:cNvSpPr/>
          <p:nvPr/>
        </p:nvSpPr>
        <p:spPr>
          <a:xfrm>
            <a:off x="457200" y="4645152"/>
            <a:ext cx="5394960" cy="320040"/>
          </a:xfrm>
          <a:prstGeom prst="roundRect">
            <a:avLst>
              <a:gd name="adj" fmla="val 17143"/>
            </a:avLst>
          </a:prstGeom>
          <a:solidFill>
            <a:srgbClr val="DDEEF9"/>
          </a:solidFill>
          <a:ln w="12700">
            <a:solidFill>
              <a:srgbClr val="DDEEF9"/>
            </a:solidFill>
            <a:prstDash val="solid"/>
          </a:ln>
        </p:spPr>
      </p:sp>
      <p:sp>
        <p:nvSpPr>
          <p:cNvPr id="14" name="Text 12"/>
          <p:cNvSpPr/>
          <p:nvPr/>
        </p:nvSpPr>
        <p:spPr>
          <a:xfrm>
            <a:off x="566928" y="4672584"/>
            <a:ext cx="5175504" cy="265176"/>
          </a:xfrm>
          <a:prstGeom prst="rect">
            <a:avLst/>
          </a:prstGeom>
          <a:noFill/>
          <a:ln/>
        </p:spPr>
        <p:txBody>
          <a:bodyPr wrap="square" lIns="0" tIns="0" rIns="0" bIns="0" rtlCol="0" anchor="ctr"/>
          <a:lstStyle/>
          <a:p>
            <a:pPr algn="ctr" indent="0" marL="0">
              <a:buNone/>
            </a:pPr>
            <a:r>
              <a:rPr lang="en-US" sz="850" i="1" dirty="0">
                <a:solidFill>
                  <a:srgbClr val="003087"/>
                </a:solidFill>
                <a:latin typeface="Calibri" pitchFamily="34" charset="0"/>
                <a:ea typeface="Calibri" pitchFamily="34" charset="-122"/>
                <a:cs typeface="Calibri" pitchFamily="34" charset="-120"/>
              </a:rPr>
              <a:t>Demo tip: Open this view, select a condition, and let the audience react — 10 silent seconds.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572768" cy="292608"/>
          </a:xfrm>
          <a:prstGeom prst="roundRect">
            <a:avLst>
              <a:gd name="adj" fmla="val 18750"/>
            </a:avLst>
          </a:prstGeom>
          <a:solidFill>
            <a:srgbClr val="003087"/>
          </a:solidFill>
          <a:ln w="12700">
            <a:solidFill>
              <a:srgbClr val="003087"/>
            </a:solidFill>
            <a:prstDash val="solid"/>
          </a:ln>
        </p:spPr>
      </p:sp>
      <p:sp>
        <p:nvSpPr>
          <p:cNvPr id="3" name="Text 1"/>
          <p:cNvSpPr/>
          <p:nvPr/>
        </p:nvSpPr>
        <p:spPr>
          <a:xfrm>
            <a:off x="457200" y="228600"/>
            <a:ext cx="1572768" cy="292608"/>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Calibri" pitchFamily="34" charset="0"/>
                <a:ea typeface="Calibri" pitchFamily="34" charset="-122"/>
                <a:cs typeface="Calibri" pitchFamily="34" charset="-120"/>
              </a:rPr>
              <a:t>AHA MOMENT #2</a:t>
            </a:r>
            <a:endParaRPr lang="en-US" sz="750" dirty="0"/>
          </a:p>
        </p:txBody>
      </p:sp>
      <p:sp>
        <p:nvSpPr>
          <p:cNvPr id="4" name="Text 2"/>
          <p:cNvSpPr/>
          <p:nvPr/>
        </p:nvSpPr>
        <p:spPr>
          <a:xfrm>
            <a:off x="457200" y="603504"/>
            <a:ext cx="8229600" cy="548640"/>
          </a:xfrm>
          <a:prstGeom prst="rect">
            <a:avLst/>
          </a:prstGeom>
          <a:noFill/>
          <a:ln/>
        </p:spPr>
        <p:txBody>
          <a:bodyPr wrap="square" lIns="0" tIns="0" rIns="0" bIns="0" rtlCol="0" anchor="ctr"/>
          <a:lstStyle/>
          <a:p>
            <a:pPr algn="l" indent="0" marL="0">
              <a:buNone/>
            </a:pPr>
            <a:r>
              <a:rPr lang="en-US" sz="2600" b="1" dirty="0">
                <a:solidFill>
                  <a:srgbClr val="003087"/>
                </a:solidFill>
                <a:latin typeface="Calibri" pitchFamily="34" charset="0"/>
                <a:ea typeface="Calibri" pitchFamily="34" charset="-122"/>
                <a:cs typeface="Calibri" pitchFamily="34" charset="-120"/>
              </a:rPr>
              <a:t>Paste a ZIP List. Get an Instant Scorecard.</a:t>
            </a:r>
            <a:endParaRPr lang="en-US" sz="2600" dirty="0"/>
          </a:p>
        </p:txBody>
      </p:sp>
      <p:sp>
        <p:nvSpPr>
          <p:cNvPr id="5" name="Shape 3"/>
          <p:cNvSpPr/>
          <p:nvPr/>
        </p:nvSpPr>
        <p:spPr>
          <a:xfrm>
            <a:off x="457200" y="1261872"/>
            <a:ext cx="2286000" cy="3273552"/>
          </a:xfrm>
          <a:prstGeom prst="roundRect">
            <a:avLst>
              <a:gd name="adj" fmla="val 4000"/>
            </a:avLst>
          </a:prstGeom>
          <a:solidFill>
            <a:srgbClr val="F4F8FC"/>
          </a:solidFill>
          <a:ln w="12700">
            <a:solidFill>
              <a:srgbClr val="C8DDEF"/>
            </a:solidFill>
            <a:prstDash val="solid"/>
          </a:ln>
        </p:spPr>
      </p:sp>
      <p:sp>
        <p:nvSpPr>
          <p:cNvPr id="6" name="Text 4"/>
          <p:cNvSpPr/>
          <p:nvPr/>
        </p:nvSpPr>
        <p:spPr>
          <a:xfrm>
            <a:off x="603504" y="1389888"/>
            <a:ext cx="1920240" cy="256032"/>
          </a:xfrm>
          <a:prstGeom prst="rect">
            <a:avLst/>
          </a:prstGeom>
          <a:noFill/>
          <a:ln/>
        </p:spPr>
        <p:txBody>
          <a:bodyPr wrap="square" lIns="0" tIns="0" rIns="0" bIns="0" rtlCol="0" anchor="ctr"/>
          <a:lstStyle/>
          <a:p>
            <a:pPr algn="l" indent="0" marL="0">
              <a:buNone/>
            </a:pPr>
            <a:r>
              <a:rPr lang="en-US" sz="850" b="1" dirty="0">
                <a:solidFill>
                  <a:srgbClr val="5A7A9B"/>
                </a:solidFill>
                <a:latin typeface="Calibri" pitchFamily="34" charset="0"/>
                <a:ea typeface="Calibri" pitchFamily="34" charset="-122"/>
                <a:cs typeface="Calibri" pitchFamily="34" charset="-120"/>
              </a:rPr>
              <a:t>Paste ZIP codes:</a:t>
            </a:r>
            <a:endParaRPr lang="en-US" sz="850" dirty="0"/>
          </a:p>
        </p:txBody>
      </p:sp>
      <p:sp>
        <p:nvSpPr>
          <p:cNvPr id="7" name="Text 5"/>
          <p:cNvSpPr/>
          <p:nvPr/>
        </p:nvSpPr>
        <p:spPr>
          <a:xfrm>
            <a:off x="603504" y="1682496"/>
            <a:ext cx="1920240" cy="1371600"/>
          </a:xfrm>
          <a:prstGeom prst="rect">
            <a:avLst/>
          </a:prstGeom>
          <a:noFill/>
          <a:ln/>
        </p:spPr>
        <p:txBody>
          <a:bodyPr wrap="square" lIns="0" tIns="0" rIns="0" bIns="0" rtlCol="0" anchor="ctr"/>
          <a:lstStyle/>
          <a:p>
            <a:pPr algn="l" indent="0" marL="0">
              <a:buNone/>
            </a:pPr>
            <a:r>
              <a:rPr lang="en-US" sz="1200" dirty="0">
                <a:solidFill>
                  <a:srgbClr val="003087"/>
                </a:solidFill>
                <a:latin typeface="Calibri" pitchFamily="34" charset="0"/>
                <a:ea typeface="Calibri" pitchFamily="34" charset="-122"/>
                <a:cs typeface="Calibri" pitchFamily="34" charset="-120"/>
              </a:rPr>
              <a:t>39401</a:t>
            </a:r>
            <a:endParaRPr lang="en-US" sz="1200" dirty="0"/>
          </a:p>
          <a:p>
            <a:pPr algn="l" indent="0" marL="0">
              <a:buNone/>
            </a:pPr>
            <a:r>
              <a:rPr lang="en-US" sz="1200" dirty="0">
                <a:solidFill>
                  <a:srgbClr val="003087"/>
                </a:solidFill>
                <a:latin typeface="Calibri" pitchFamily="34" charset="0"/>
                <a:ea typeface="Calibri" pitchFamily="34" charset="-122"/>
                <a:cs typeface="Calibri" pitchFamily="34" charset="-120"/>
              </a:rPr>
              <a:t>39402</a:t>
            </a:r>
            <a:endParaRPr lang="en-US" sz="1200" dirty="0"/>
          </a:p>
          <a:p>
            <a:pPr algn="l" indent="0" marL="0">
              <a:buNone/>
            </a:pPr>
            <a:r>
              <a:rPr lang="en-US" sz="1200" dirty="0">
                <a:solidFill>
                  <a:srgbClr val="003087"/>
                </a:solidFill>
                <a:latin typeface="Calibri" pitchFamily="34" charset="0"/>
                <a:ea typeface="Calibri" pitchFamily="34" charset="-122"/>
                <a:cs typeface="Calibri" pitchFamily="34" charset="-120"/>
              </a:rPr>
              <a:t>39406</a:t>
            </a:r>
            <a:endParaRPr lang="en-US" sz="1200" dirty="0"/>
          </a:p>
          <a:p>
            <a:pPr algn="l" indent="0" marL="0">
              <a:buNone/>
            </a:pPr>
            <a:r>
              <a:rPr lang="en-US" sz="1200" dirty="0">
                <a:solidFill>
                  <a:srgbClr val="003087"/>
                </a:solidFill>
                <a:latin typeface="Calibri" pitchFamily="34" charset="0"/>
                <a:ea typeface="Calibri" pitchFamily="34" charset="-122"/>
                <a:cs typeface="Calibri" pitchFamily="34" charset="-120"/>
              </a:rPr>
              <a:t>39564</a:t>
            </a:r>
            <a:endParaRPr lang="en-US" sz="1200" dirty="0"/>
          </a:p>
          <a:p>
            <a:pPr algn="l" indent="0" marL="0">
              <a:buNone/>
            </a:pPr>
            <a:r>
              <a:rPr lang="en-US" sz="1200" dirty="0">
                <a:solidFill>
                  <a:srgbClr val="003087"/>
                </a:solidFill>
                <a:latin typeface="Calibri" pitchFamily="34" charset="0"/>
                <a:ea typeface="Calibri" pitchFamily="34" charset="-122"/>
                <a:cs typeface="Calibri" pitchFamily="34" charset="-120"/>
              </a:rPr>
              <a:t>39507</a:t>
            </a:r>
            <a:endParaRPr lang="en-US" sz="1200" dirty="0"/>
          </a:p>
          <a:p>
            <a:pPr algn="l" indent="0" marL="0">
              <a:buNone/>
            </a:pPr>
            <a:r>
              <a:rPr lang="en-US" sz="1200" dirty="0">
                <a:solidFill>
                  <a:srgbClr val="003087"/>
                </a:solidFill>
                <a:latin typeface="Calibri" pitchFamily="34" charset="0"/>
                <a:ea typeface="Calibri" pitchFamily="34" charset="-122"/>
                <a:cs typeface="Calibri" pitchFamily="34" charset="-120"/>
              </a:rPr>
              <a:t>39503</a:t>
            </a:r>
            <a:endParaRPr lang="en-US" sz="1200" dirty="0"/>
          </a:p>
        </p:txBody>
      </p:sp>
      <p:sp>
        <p:nvSpPr>
          <p:cNvPr id="8" name="Shape 6"/>
          <p:cNvSpPr/>
          <p:nvPr/>
        </p:nvSpPr>
        <p:spPr>
          <a:xfrm>
            <a:off x="603504" y="3273552"/>
            <a:ext cx="1920240" cy="347472"/>
          </a:xfrm>
          <a:prstGeom prst="roundRect">
            <a:avLst>
              <a:gd name="adj" fmla="val 15789"/>
            </a:avLst>
          </a:prstGeom>
          <a:solidFill>
            <a:srgbClr val="003087"/>
          </a:solidFill>
          <a:ln w="12700">
            <a:solidFill>
              <a:srgbClr val="003087"/>
            </a:solidFill>
            <a:prstDash val="solid"/>
          </a:ln>
        </p:spPr>
      </p:sp>
      <p:sp>
        <p:nvSpPr>
          <p:cNvPr id="9" name="Text 7"/>
          <p:cNvSpPr/>
          <p:nvPr/>
        </p:nvSpPr>
        <p:spPr>
          <a:xfrm>
            <a:off x="603504" y="3273552"/>
            <a:ext cx="19202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Build Territory  →</a:t>
            </a:r>
            <a:endParaRPr lang="en-US" sz="1000" dirty="0"/>
          </a:p>
        </p:txBody>
      </p:sp>
      <p:sp>
        <p:nvSpPr>
          <p:cNvPr id="10" name="Shape 8"/>
          <p:cNvSpPr/>
          <p:nvPr/>
        </p:nvSpPr>
        <p:spPr>
          <a:xfrm>
            <a:off x="2971800" y="1261872"/>
            <a:ext cx="5687568" cy="3273552"/>
          </a:xfrm>
          <a:prstGeom prst="roundRect">
            <a:avLst>
              <a:gd name="adj" fmla="val 3911"/>
            </a:avLst>
          </a:prstGeom>
          <a:solidFill>
            <a:srgbClr val="0A2A50"/>
          </a:solidFill>
          <a:ln w="12700">
            <a:solidFill>
              <a:srgbClr val="0077C8"/>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3108960" y="1828800"/>
            <a:ext cx="5394960" cy="2011680"/>
          </a:xfrm>
          <a:prstGeom prst="rect">
            <a:avLst/>
          </a:prstGeom>
          <a:noFill/>
          <a:ln/>
        </p:spPr>
        <p:txBody>
          <a:bodyPr wrap="square" lIns="0" tIns="0" rIns="0" bIns="0" rtlCol="0" anchor="ctr"/>
          <a:lstStyle/>
          <a:p>
            <a:pPr algn="ctr" indent="0" marL="0">
              <a:buNone/>
            </a:pPr>
            <a:r>
              <a:rPr lang="en-US" sz="1100" i="1" dirty="0">
                <a:solidFill>
                  <a:srgbClr val="3A6A9A"/>
                </a:solidFill>
                <a:latin typeface="Calibri" pitchFamily="34" charset="0"/>
                <a:ea typeface="Calibri" pitchFamily="34" charset="-122"/>
                <a:cs typeface="Calibri" pitchFamily="34" charset="-120"/>
              </a:rPr>
              <a:t>[ Territory Builder Output ]</a:t>
            </a:r>
            <a:endParaRPr lang="en-US" sz="1100" dirty="0"/>
          </a:p>
          <a:p>
            <a:pPr algn="ctr" indent="0" marL="0">
              <a:buNone/>
            </a:pPr>
            <a:r>
              <a:rPr lang="en-US" sz="1100" i="1" dirty="0">
                <a:solidFill>
                  <a:srgbClr val="3A6A9A"/>
                </a:solidFill>
                <a:latin typeface="Calibri" pitchFamily="34" charset="0"/>
                <a:ea typeface="Calibri" pitchFamily="34" charset="-122"/>
                <a:cs typeface="Calibri" pitchFamily="34" charset="-120"/>
              </a:rPr>
              <a:t> </a:t>
            </a:r>
            <a:endParaRPr lang="en-US" sz="1100" dirty="0"/>
          </a:p>
          <a:p>
            <a:pPr algn="ctr" indent="0" marL="0">
              <a:buNone/>
            </a:pPr>
            <a:r>
              <a:rPr lang="en-US" sz="1100" i="1" dirty="0">
                <a:solidFill>
                  <a:srgbClr val="3A6A9A"/>
                </a:solidFill>
                <a:latin typeface="Calibri" pitchFamily="34" charset="0"/>
                <a:ea typeface="Calibri" pitchFamily="34" charset="-122"/>
                <a:cs typeface="Calibri" pitchFamily="34" charset="-120"/>
              </a:rPr>
              <a:t>KPI Cards  ·  Dimension Radar  ·  Per-ZIP Table  ·  CSV Export</a:t>
            </a:r>
            <a:endParaRPr lang="en-US" sz="1100" dirty="0"/>
          </a:p>
        </p:txBody>
      </p:sp>
      <p:sp>
        <p:nvSpPr>
          <p:cNvPr id="12" name="Text 10"/>
          <p:cNvSpPr/>
          <p:nvPr/>
        </p:nvSpPr>
        <p:spPr>
          <a:xfrm>
            <a:off x="457200" y="4645152"/>
            <a:ext cx="2011680" cy="411480"/>
          </a:xfrm>
          <a:prstGeom prst="rect">
            <a:avLst/>
          </a:prstGeom>
          <a:noFill/>
          <a:ln/>
        </p:spPr>
        <p:txBody>
          <a:bodyPr wrap="square" lIns="0" tIns="0" rIns="0" bIns="0" rtlCol="0" anchor="ctr"/>
          <a:lstStyle/>
          <a:p>
            <a:pPr algn="l" indent="0" marL="0">
              <a:buNone/>
            </a:pPr>
            <a:r>
              <a:rPr lang="en-US" sz="950" dirty="0">
                <a:solidFill>
                  <a:srgbClr val="5A7A9B"/>
                </a:solidFill>
                <a:latin typeface="Calibri" pitchFamily="34" charset="0"/>
                <a:ea typeface="Calibri" pitchFamily="34" charset="-122"/>
                <a:cs typeface="Calibri" pitchFamily="34" charset="-120"/>
              </a:rPr>
              <a:t>📊  Aggregate pool</a:t>
            </a:r>
            <a:endParaRPr lang="en-US" sz="950" dirty="0"/>
          </a:p>
          <a:p>
            <a:pPr algn="l" indent="0" marL="0">
              <a:buNone/>
            </a:pPr>
            <a:r>
              <a:rPr lang="en-US" sz="950" dirty="0">
                <a:solidFill>
                  <a:srgbClr val="5A7A9B"/>
                </a:solidFill>
                <a:latin typeface="Calibri" pitchFamily="34" charset="0"/>
                <a:ea typeface="Calibri" pitchFamily="34" charset="-122"/>
                <a:cs typeface="Calibri" pitchFamily="34" charset="-120"/>
              </a:rPr>
              <a:t>across all ZIPs</a:t>
            </a:r>
            <a:endParaRPr lang="en-US" sz="950" dirty="0"/>
          </a:p>
        </p:txBody>
      </p:sp>
      <p:sp>
        <p:nvSpPr>
          <p:cNvPr id="13" name="Text 11"/>
          <p:cNvSpPr/>
          <p:nvPr/>
        </p:nvSpPr>
        <p:spPr>
          <a:xfrm>
            <a:off x="2633472" y="4645152"/>
            <a:ext cx="2011680" cy="411480"/>
          </a:xfrm>
          <a:prstGeom prst="rect">
            <a:avLst/>
          </a:prstGeom>
          <a:noFill/>
          <a:ln/>
        </p:spPr>
        <p:txBody>
          <a:bodyPr wrap="square" lIns="0" tIns="0" rIns="0" bIns="0" rtlCol="0" anchor="ctr"/>
          <a:lstStyle/>
          <a:p>
            <a:pPr algn="l" indent="0" marL="0">
              <a:buNone/>
            </a:pPr>
            <a:r>
              <a:rPr lang="en-US" sz="950" dirty="0">
                <a:solidFill>
                  <a:srgbClr val="5A7A9B"/>
                </a:solidFill>
                <a:latin typeface="Calibri" pitchFamily="34" charset="0"/>
                <a:ea typeface="Calibri" pitchFamily="34" charset="-122"/>
                <a:cs typeface="Calibri" pitchFamily="34" charset="-120"/>
              </a:rPr>
              <a:t>🎯  Dimension radar</a:t>
            </a:r>
            <a:endParaRPr lang="en-US" sz="950" dirty="0"/>
          </a:p>
          <a:p>
            <a:pPr algn="l" indent="0" marL="0">
              <a:buNone/>
            </a:pPr>
            <a:r>
              <a:rPr lang="en-US" sz="950" dirty="0">
                <a:solidFill>
                  <a:srgbClr val="5A7A9B"/>
                </a:solidFill>
                <a:latin typeface="Calibri" pitchFamily="34" charset="0"/>
                <a:ea typeface="Calibri" pitchFamily="34" charset="-122"/>
                <a:cs typeface="Calibri" pitchFamily="34" charset="-120"/>
              </a:rPr>
              <a:t>vs. national avg</a:t>
            </a:r>
            <a:endParaRPr lang="en-US" sz="950" dirty="0"/>
          </a:p>
        </p:txBody>
      </p:sp>
      <p:sp>
        <p:nvSpPr>
          <p:cNvPr id="14" name="Text 12"/>
          <p:cNvSpPr/>
          <p:nvPr/>
        </p:nvSpPr>
        <p:spPr>
          <a:xfrm>
            <a:off x="4809744" y="4645152"/>
            <a:ext cx="2011680" cy="411480"/>
          </a:xfrm>
          <a:prstGeom prst="rect">
            <a:avLst/>
          </a:prstGeom>
          <a:noFill/>
          <a:ln/>
        </p:spPr>
        <p:txBody>
          <a:bodyPr wrap="square" lIns="0" tIns="0" rIns="0" bIns="0" rtlCol="0" anchor="ctr"/>
          <a:lstStyle/>
          <a:p>
            <a:pPr algn="l" indent="0" marL="0">
              <a:buNone/>
            </a:pPr>
            <a:r>
              <a:rPr lang="en-US" sz="950" dirty="0">
                <a:solidFill>
                  <a:srgbClr val="5A7A9B"/>
                </a:solidFill>
                <a:latin typeface="Calibri" pitchFamily="34" charset="0"/>
                <a:ea typeface="Calibri" pitchFamily="34" charset="-122"/>
                <a:cs typeface="Calibri" pitchFamily="34" charset="-120"/>
              </a:rPr>
              <a:t>💊  Intervention mix</a:t>
            </a:r>
            <a:endParaRPr lang="en-US" sz="950" dirty="0"/>
          </a:p>
          <a:p>
            <a:pPr algn="l" indent="0" marL="0">
              <a:buNone/>
            </a:pPr>
            <a:r>
              <a:rPr lang="en-US" sz="950" dirty="0">
                <a:solidFill>
                  <a:srgbClr val="5A7A9B"/>
                </a:solidFill>
                <a:latin typeface="Calibri" pitchFamily="34" charset="0"/>
                <a:ea typeface="Calibri" pitchFamily="34" charset="-122"/>
                <a:cs typeface="Calibri" pitchFamily="34" charset="-120"/>
              </a:rPr>
              <a:t>for the territory</a:t>
            </a:r>
            <a:endParaRPr lang="en-US" sz="950" dirty="0"/>
          </a:p>
        </p:txBody>
      </p:sp>
      <p:sp>
        <p:nvSpPr>
          <p:cNvPr id="15" name="Text 13"/>
          <p:cNvSpPr/>
          <p:nvPr/>
        </p:nvSpPr>
        <p:spPr>
          <a:xfrm>
            <a:off x="6986016" y="4645152"/>
            <a:ext cx="2011680" cy="411480"/>
          </a:xfrm>
          <a:prstGeom prst="rect">
            <a:avLst/>
          </a:prstGeom>
          <a:noFill/>
          <a:ln/>
        </p:spPr>
        <p:txBody>
          <a:bodyPr wrap="square" lIns="0" tIns="0" rIns="0" bIns="0" rtlCol="0" anchor="ctr"/>
          <a:lstStyle/>
          <a:p>
            <a:pPr algn="l" indent="0" marL="0">
              <a:buNone/>
            </a:pPr>
            <a:r>
              <a:rPr lang="en-US" sz="950" dirty="0">
                <a:solidFill>
                  <a:srgbClr val="5A7A9B"/>
                </a:solidFill>
                <a:latin typeface="Calibri" pitchFamily="34" charset="0"/>
                <a:ea typeface="Calibri" pitchFamily="34" charset="-122"/>
                <a:cs typeface="Calibri" pitchFamily="34" charset="-120"/>
              </a:rPr>
              <a:t>📥  CSV download</a:t>
            </a:r>
            <a:endParaRPr lang="en-US" sz="950" dirty="0"/>
          </a:p>
          <a:p>
            <a:pPr algn="l" indent="0" marL="0">
              <a:buNone/>
            </a:pPr>
            <a:r>
              <a:rPr lang="en-US" sz="950" dirty="0">
                <a:solidFill>
                  <a:srgbClr val="5A7A9B"/>
                </a:solidFill>
                <a:latin typeface="Calibri" pitchFamily="34" charset="0"/>
                <a:ea typeface="Calibri" pitchFamily="34" charset="-122"/>
                <a:cs typeface="Calibri" pitchFamily="34" charset="-120"/>
              </a:rPr>
              <a:t>for payer meetings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572768" cy="292608"/>
          </a:xfrm>
          <a:prstGeom prst="roundRect">
            <a:avLst>
              <a:gd name="adj" fmla="val 18750"/>
            </a:avLst>
          </a:prstGeom>
          <a:solidFill>
            <a:srgbClr val="06A67A"/>
          </a:solidFill>
          <a:ln w="12700">
            <a:solidFill>
              <a:srgbClr val="06A67A"/>
            </a:solidFill>
            <a:prstDash val="solid"/>
          </a:ln>
        </p:spPr>
      </p:sp>
      <p:sp>
        <p:nvSpPr>
          <p:cNvPr id="3" name="Text 1"/>
          <p:cNvSpPr/>
          <p:nvPr/>
        </p:nvSpPr>
        <p:spPr>
          <a:xfrm>
            <a:off x="457200" y="228600"/>
            <a:ext cx="1572768" cy="292608"/>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Calibri" pitchFamily="34" charset="0"/>
                <a:ea typeface="Calibri" pitchFamily="34" charset="-122"/>
                <a:cs typeface="Calibri" pitchFamily="34" charset="-120"/>
              </a:rPr>
              <a:t>AHA MOMENT #3</a:t>
            </a:r>
            <a:endParaRPr lang="en-US" sz="750" dirty="0"/>
          </a:p>
        </p:txBody>
      </p:sp>
      <p:sp>
        <p:nvSpPr>
          <p:cNvPr id="4" name="Text 2"/>
          <p:cNvSpPr/>
          <p:nvPr/>
        </p:nvSpPr>
        <p:spPr>
          <a:xfrm>
            <a:off x="457200" y="603504"/>
            <a:ext cx="8229600" cy="548640"/>
          </a:xfrm>
          <a:prstGeom prst="rect">
            <a:avLst/>
          </a:prstGeom>
          <a:noFill/>
          <a:ln/>
        </p:spPr>
        <p:txBody>
          <a:bodyPr wrap="square" lIns="0" tIns="0" rIns="0" bIns="0" rtlCol="0" anchor="ctr"/>
          <a:lstStyle/>
          <a:p>
            <a:pPr algn="l" indent="0" marL="0">
              <a:buNone/>
            </a:pPr>
            <a:r>
              <a:rPr lang="en-US" sz="2600" b="1" dirty="0">
                <a:solidFill>
                  <a:srgbClr val="003087"/>
                </a:solidFill>
                <a:latin typeface="Calibri" pitchFamily="34" charset="0"/>
                <a:ea typeface="Calibri" pitchFamily="34" charset="-122"/>
                <a:cs typeface="Calibri" pitchFamily="34" charset="-120"/>
              </a:rPr>
              <a:t>The Recommendation Adapts to Each County</a:t>
            </a:r>
            <a:endParaRPr lang="en-US" sz="2600" dirty="0"/>
          </a:p>
        </p:txBody>
      </p:sp>
      <p:sp>
        <p:nvSpPr>
          <p:cNvPr id="5" name="Shape 3"/>
          <p:cNvSpPr/>
          <p:nvPr/>
        </p:nvSpPr>
        <p:spPr>
          <a:xfrm>
            <a:off x="457200" y="1261872"/>
            <a:ext cx="5394960" cy="2761488"/>
          </a:xfrm>
          <a:prstGeom prst="roundRect">
            <a:avLst>
              <a:gd name="adj" fmla="val 4636"/>
            </a:avLst>
          </a:prstGeom>
          <a:solidFill>
            <a:srgbClr val="0A2A50"/>
          </a:solidFill>
          <a:ln w="12700">
            <a:solidFill>
              <a:srgbClr val="0077C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737360"/>
            <a:ext cx="5029200" cy="1645920"/>
          </a:xfrm>
          <a:prstGeom prst="rect">
            <a:avLst/>
          </a:prstGeom>
          <a:noFill/>
          <a:ln/>
        </p:spPr>
        <p:txBody>
          <a:bodyPr wrap="square" lIns="0" tIns="0" rIns="0" bIns="0" rtlCol="0" anchor="ctr"/>
          <a:lstStyle/>
          <a:p>
            <a:pPr algn="ctr" indent="0" marL="0">
              <a:buNone/>
            </a:pPr>
            <a:r>
              <a:rPr lang="en-US" sz="1100" i="1" dirty="0">
                <a:solidFill>
                  <a:srgbClr val="3A6A9A"/>
                </a:solidFill>
                <a:latin typeface="Calibri" pitchFamily="34" charset="0"/>
                <a:ea typeface="Calibri" pitchFamily="34" charset="-122"/>
                <a:cs typeface="Calibri" pitchFamily="34" charset="-120"/>
              </a:rPr>
              <a:t>[ Investment Planner View ]</a:t>
            </a:r>
            <a:endParaRPr lang="en-US" sz="1100" dirty="0"/>
          </a:p>
          <a:p>
            <a:pPr algn="ctr" indent="0" marL="0">
              <a:buNone/>
            </a:pPr>
            <a:r>
              <a:rPr lang="en-US" sz="1100" i="1" dirty="0">
                <a:solidFill>
                  <a:srgbClr val="3A6A9A"/>
                </a:solidFill>
                <a:latin typeface="Calibri" pitchFamily="34" charset="0"/>
                <a:ea typeface="Calibri" pitchFamily="34" charset="-122"/>
                <a:cs typeface="Calibri" pitchFamily="34" charset="-120"/>
              </a:rPr>
              <a:t> </a:t>
            </a:r>
            <a:endParaRPr lang="en-US" sz="1100" dirty="0"/>
          </a:p>
          <a:p>
            <a:pPr algn="ctr" indent="0" marL="0">
              <a:buNone/>
            </a:pPr>
            <a:r>
              <a:rPr lang="en-US" sz="1100" i="1" dirty="0">
                <a:solidFill>
                  <a:srgbClr val="3A6A9A"/>
                </a:solidFill>
                <a:latin typeface="Calibri" pitchFamily="34" charset="0"/>
                <a:ea typeface="Calibri" pitchFamily="34" charset="-122"/>
                <a:cs typeface="Calibri" pitchFamily="34" charset="-120"/>
              </a:rPr>
              <a:t>Top Priority Counties · Recommended Intervention Type</a:t>
            </a:r>
            <a:endParaRPr lang="en-US" sz="1100" dirty="0"/>
          </a:p>
        </p:txBody>
      </p:sp>
      <p:sp>
        <p:nvSpPr>
          <p:cNvPr id="7" name="Shape 5"/>
          <p:cNvSpPr/>
          <p:nvPr/>
        </p:nvSpPr>
        <p:spPr>
          <a:xfrm>
            <a:off x="6035040" y="1298448"/>
            <a:ext cx="2834640" cy="530352"/>
          </a:xfrm>
          <a:prstGeom prst="roundRect">
            <a:avLst>
              <a:gd name="adj" fmla="val 12069"/>
            </a:avLst>
          </a:prstGeom>
          <a:solidFill>
            <a:srgbClr val="F5FAFF"/>
          </a:solidFill>
          <a:ln w="12700">
            <a:solidFill>
              <a:srgbClr val="E0EAF5"/>
            </a:solidFill>
            <a:prstDash val="solid"/>
          </a:ln>
        </p:spPr>
      </p:sp>
      <p:sp>
        <p:nvSpPr>
          <p:cNvPr id="8" name="Text 6"/>
          <p:cNvSpPr/>
          <p:nvPr/>
        </p:nvSpPr>
        <p:spPr>
          <a:xfrm>
            <a:off x="6172200" y="1344168"/>
            <a:ext cx="2578608" cy="256032"/>
          </a:xfrm>
          <a:prstGeom prst="rect">
            <a:avLst/>
          </a:prstGeom>
          <a:noFill/>
          <a:ln/>
        </p:spPr>
        <p:txBody>
          <a:bodyPr wrap="square" lIns="0" tIns="0" rIns="0" bIns="0" rtlCol="0" anchor="ctr"/>
          <a:lstStyle/>
          <a:p>
            <a:pPr algn="l" indent="0" marL="0">
              <a:buNone/>
            </a:pPr>
            <a:r>
              <a:rPr lang="en-US" sz="1000" b="1" dirty="0">
                <a:solidFill>
                  <a:srgbClr val="457B9D"/>
                </a:solidFill>
                <a:latin typeface="Calibri" pitchFamily="34" charset="0"/>
                <a:ea typeface="Calibri" pitchFamily="34" charset="-122"/>
                <a:cs typeface="Calibri" pitchFamily="34" charset="-120"/>
              </a:rPr>
              <a:t>Payer Partnership</a:t>
            </a:r>
            <a:endParaRPr lang="en-US" sz="1000" dirty="0"/>
          </a:p>
        </p:txBody>
      </p:sp>
      <p:sp>
        <p:nvSpPr>
          <p:cNvPr id="9" name="Text 7"/>
          <p:cNvSpPr/>
          <p:nvPr/>
        </p:nvSpPr>
        <p:spPr>
          <a:xfrm>
            <a:off x="6172200" y="1609344"/>
            <a:ext cx="2578608" cy="201168"/>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MA penetration ≥35%</a:t>
            </a:r>
            <a:endParaRPr lang="en-US" sz="850" dirty="0"/>
          </a:p>
        </p:txBody>
      </p:sp>
      <p:sp>
        <p:nvSpPr>
          <p:cNvPr id="10" name="Shape 8"/>
          <p:cNvSpPr/>
          <p:nvPr/>
        </p:nvSpPr>
        <p:spPr>
          <a:xfrm>
            <a:off x="6035040" y="1929384"/>
            <a:ext cx="2834640" cy="530352"/>
          </a:xfrm>
          <a:prstGeom prst="roundRect">
            <a:avLst>
              <a:gd name="adj" fmla="val 12069"/>
            </a:avLst>
          </a:prstGeom>
          <a:solidFill>
            <a:srgbClr val="F5FAFF"/>
          </a:solidFill>
          <a:ln w="12700">
            <a:solidFill>
              <a:srgbClr val="E0EAF5"/>
            </a:solidFill>
            <a:prstDash val="solid"/>
          </a:ln>
        </p:spPr>
      </p:sp>
      <p:sp>
        <p:nvSpPr>
          <p:cNvPr id="11" name="Text 9"/>
          <p:cNvSpPr/>
          <p:nvPr/>
        </p:nvSpPr>
        <p:spPr>
          <a:xfrm>
            <a:off x="6172200" y="1975104"/>
            <a:ext cx="2578608" cy="256032"/>
          </a:xfrm>
          <a:prstGeom prst="rect">
            <a:avLst/>
          </a:prstGeom>
          <a:noFill/>
          <a:ln/>
        </p:spPr>
        <p:txBody>
          <a:bodyPr wrap="square" lIns="0" tIns="0" rIns="0" bIns="0" rtlCol="0" anchor="ctr"/>
          <a:lstStyle/>
          <a:p>
            <a:pPr algn="l" indent="0" marL="0">
              <a:buNone/>
            </a:pPr>
            <a:r>
              <a:rPr lang="en-US" sz="1000" b="1" dirty="0">
                <a:solidFill>
                  <a:srgbClr val="8338EC"/>
                </a:solidFill>
                <a:latin typeface="Calibri" pitchFamily="34" charset="0"/>
                <a:ea typeface="Calibri" pitchFamily="34" charset="-122"/>
                <a:cs typeface="Calibri" pitchFamily="34" charset="-120"/>
              </a:rPr>
              <a:t>Pharmacy-Based Screening</a:t>
            </a:r>
            <a:endParaRPr lang="en-US" sz="1000" dirty="0"/>
          </a:p>
        </p:txBody>
      </p:sp>
      <p:sp>
        <p:nvSpPr>
          <p:cNvPr id="12" name="Text 10"/>
          <p:cNvSpPr/>
          <p:nvPr/>
        </p:nvSpPr>
        <p:spPr>
          <a:xfrm>
            <a:off x="6172200" y="2240280"/>
            <a:ext cx="2578608" cy="201168"/>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High commercial readiness</a:t>
            </a:r>
            <a:endParaRPr lang="en-US" sz="850" dirty="0"/>
          </a:p>
        </p:txBody>
      </p:sp>
      <p:sp>
        <p:nvSpPr>
          <p:cNvPr id="13" name="Shape 11"/>
          <p:cNvSpPr/>
          <p:nvPr/>
        </p:nvSpPr>
        <p:spPr>
          <a:xfrm>
            <a:off x="6035040" y="2560320"/>
            <a:ext cx="2834640" cy="530352"/>
          </a:xfrm>
          <a:prstGeom prst="roundRect">
            <a:avLst>
              <a:gd name="adj" fmla="val 12069"/>
            </a:avLst>
          </a:prstGeom>
          <a:solidFill>
            <a:srgbClr val="F5FAFF"/>
          </a:solidFill>
          <a:ln w="12700">
            <a:solidFill>
              <a:srgbClr val="E0EAF5"/>
            </a:solidFill>
            <a:prstDash val="solid"/>
          </a:ln>
        </p:spPr>
      </p:sp>
      <p:sp>
        <p:nvSpPr>
          <p:cNvPr id="14" name="Text 12"/>
          <p:cNvSpPr/>
          <p:nvPr/>
        </p:nvSpPr>
        <p:spPr>
          <a:xfrm>
            <a:off x="6172200" y="2606040"/>
            <a:ext cx="2578608" cy="256032"/>
          </a:xfrm>
          <a:prstGeom prst="rect">
            <a:avLst/>
          </a:prstGeom>
          <a:noFill/>
          <a:ln/>
        </p:spPr>
        <p:txBody>
          <a:bodyPr wrap="square" lIns="0" tIns="0" rIns="0" bIns="0" rtlCol="0" anchor="ctr"/>
          <a:lstStyle/>
          <a:p>
            <a:pPr algn="l" indent="0" marL="0">
              <a:buNone/>
            </a:pPr>
            <a:r>
              <a:rPr lang="en-US" sz="1000" b="1" dirty="0">
                <a:solidFill>
                  <a:srgbClr val="E63946"/>
                </a:solidFill>
                <a:latin typeface="Calibri" pitchFamily="34" charset="0"/>
                <a:ea typeface="Calibri" pitchFamily="34" charset="-122"/>
                <a:cs typeface="Calibri" pitchFamily="34" charset="-120"/>
              </a:rPr>
              <a:t>Community Health Center</a:t>
            </a:r>
            <a:endParaRPr lang="en-US" sz="1000" dirty="0"/>
          </a:p>
        </p:txBody>
      </p:sp>
      <p:sp>
        <p:nvSpPr>
          <p:cNvPr id="15" name="Text 13"/>
          <p:cNvSpPr/>
          <p:nvPr/>
        </p:nvSpPr>
        <p:spPr>
          <a:xfrm>
            <a:off x="6172200" y="2871216"/>
            <a:ext cx="2578608" cy="201168"/>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High SDoH · Low access</a:t>
            </a:r>
            <a:endParaRPr lang="en-US" sz="850" dirty="0"/>
          </a:p>
        </p:txBody>
      </p:sp>
      <p:sp>
        <p:nvSpPr>
          <p:cNvPr id="16" name="Shape 14"/>
          <p:cNvSpPr/>
          <p:nvPr/>
        </p:nvSpPr>
        <p:spPr>
          <a:xfrm>
            <a:off x="6035040" y="3191256"/>
            <a:ext cx="2834640" cy="530352"/>
          </a:xfrm>
          <a:prstGeom prst="roundRect">
            <a:avLst>
              <a:gd name="adj" fmla="val 12069"/>
            </a:avLst>
          </a:prstGeom>
          <a:solidFill>
            <a:srgbClr val="F5FAFF"/>
          </a:solidFill>
          <a:ln w="12700">
            <a:solidFill>
              <a:srgbClr val="E0EAF5"/>
            </a:solidFill>
            <a:prstDash val="solid"/>
          </a:ln>
        </p:spPr>
      </p:sp>
      <p:sp>
        <p:nvSpPr>
          <p:cNvPr id="17" name="Text 15"/>
          <p:cNvSpPr/>
          <p:nvPr/>
        </p:nvSpPr>
        <p:spPr>
          <a:xfrm>
            <a:off x="6172200" y="3236976"/>
            <a:ext cx="2578608" cy="256032"/>
          </a:xfrm>
          <a:prstGeom prst="rect">
            <a:avLst/>
          </a:prstGeom>
          <a:noFill/>
          <a:ln/>
        </p:spPr>
        <p:txBody>
          <a:bodyPr wrap="square" lIns="0" tIns="0" rIns="0" bIns="0" rtlCol="0" anchor="ctr"/>
          <a:lstStyle/>
          <a:p>
            <a:pPr algn="l" indent="0" marL="0">
              <a:buNone/>
            </a:pPr>
            <a:r>
              <a:rPr lang="en-US" sz="1000" b="1" dirty="0">
                <a:solidFill>
                  <a:srgbClr val="E8A020"/>
                </a:solidFill>
                <a:latin typeface="Calibri" pitchFamily="34" charset="0"/>
                <a:ea typeface="Calibri" pitchFamily="34" charset="-122"/>
                <a:cs typeface="Calibri" pitchFamily="34" charset="-120"/>
              </a:rPr>
              <a:t>Employer Wellness</a:t>
            </a:r>
            <a:endParaRPr lang="en-US" sz="1000" dirty="0"/>
          </a:p>
        </p:txBody>
      </p:sp>
      <p:sp>
        <p:nvSpPr>
          <p:cNvPr id="18" name="Text 16"/>
          <p:cNvSpPr/>
          <p:nvPr/>
        </p:nvSpPr>
        <p:spPr>
          <a:xfrm>
            <a:off x="6172200" y="3502152"/>
            <a:ext cx="2578608" cy="201168"/>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Commercial ≥55% · Non-rural</a:t>
            </a:r>
            <a:endParaRPr lang="en-US" sz="850" dirty="0"/>
          </a:p>
        </p:txBody>
      </p:sp>
      <p:sp>
        <p:nvSpPr>
          <p:cNvPr id="19" name="Shape 17"/>
          <p:cNvSpPr/>
          <p:nvPr/>
        </p:nvSpPr>
        <p:spPr>
          <a:xfrm>
            <a:off x="6035040" y="3822192"/>
            <a:ext cx="2834640" cy="530352"/>
          </a:xfrm>
          <a:prstGeom prst="roundRect">
            <a:avLst>
              <a:gd name="adj" fmla="val 12069"/>
            </a:avLst>
          </a:prstGeom>
          <a:solidFill>
            <a:srgbClr val="F5FAFF"/>
          </a:solidFill>
          <a:ln w="12700">
            <a:solidFill>
              <a:srgbClr val="E0EAF5"/>
            </a:solidFill>
            <a:prstDash val="solid"/>
          </a:ln>
        </p:spPr>
      </p:sp>
      <p:sp>
        <p:nvSpPr>
          <p:cNvPr id="20" name="Text 18"/>
          <p:cNvSpPr/>
          <p:nvPr/>
        </p:nvSpPr>
        <p:spPr>
          <a:xfrm>
            <a:off x="6172200" y="3867912"/>
            <a:ext cx="2578608" cy="256032"/>
          </a:xfrm>
          <a:prstGeom prst="rect">
            <a:avLst/>
          </a:prstGeom>
          <a:noFill/>
          <a:ln/>
        </p:spPr>
        <p:txBody>
          <a:bodyPr wrap="square" lIns="0" tIns="0" rIns="0" bIns="0" rtlCol="0" anchor="ctr"/>
          <a:lstStyle/>
          <a:p>
            <a:pPr algn="l" indent="0" marL="0">
              <a:buNone/>
            </a:pPr>
            <a:r>
              <a:rPr lang="en-US" sz="1000" b="1" dirty="0">
                <a:solidFill>
                  <a:srgbClr val="06A67A"/>
                </a:solidFill>
                <a:latin typeface="Calibri" pitchFamily="34" charset="0"/>
                <a:ea typeface="Calibri" pitchFamily="34" charset="-122"/>
                <a:cs typeface="Calibri" pitchFamily="34" charset="-120"/>
              </a:rPr>
              <a:t>Digital Health Program</a:t>
            </a:r>
            <a:endParaRPr lang="en-US" sz="1000" dirty="0"/>
          </a:p>
        </p:txBody>
      </p:sp>
      <p:sp>
        <p:nvSpPr>
          <p:cNvPr id="21" name="Text 19"/>
          <p:cNvSpPr/>
          <p:nvPr/>
        </p:nvSpPr>
        <p:spPr>
          <a:xfrm>
            <a:off x="6172200" y="4133088"/>
            <a:ext cx="2578608" cy="201168"/>
          </a:xfrm>
          <a:prstGeom prst="rect">
            <a:avLst/>
          </a:prstGeom>
          <a:noFill/>
          <a:ln/>
        </p:spPr>
        <p:txBody>
          <a:bodyPr wrap="square" lIns="0" tIns="0" rIns="0" bIns="0" rtlCol="0" anchor="ctr"/>
          <a:lstStyle/>
          <a:p>
            <a:pPr algn="l" indent="0" marL="0">
              <a:buNone/>
            </a:pPr>
            <a:r>
              <a:rPr lang="en-US" sz="850" dirty="0">
                <a:solidFill>
                  <a:srgbClr val="5A7A9B"/>
                </a:solidFill>
                <a:latin typeface="Calibri" pitchFamily="34" charset="0"/>
                <a:ea typeface="Calibri" pitchFamily="34" charset="-122"/>
                <a:cs typeface="Calibri" pitchFamily="34" charset="-120"/>
              </a:rPr>
              <a:t>Broadband ≥75% · Commercial</a:t>
            </a:r>
            <a:endParaRPr lang="en-US" sz="850" dirty="0"/>
          </a:p>
        </p:txBody>
      </p:sp>
      <p:sp>
        <p:nvSpPr>
          <p:cNvPr id="22" name="Text 20"/>
          <p:cNvSpPr/>
          <p:nvPr/>
        </p:nvSpPr>
        <p:spPr>
          <a:xfrm>
            <a:off x="457200" y="4160520"/>
            <a:ext cx="5394960" cy="502920"/>
          </a:xfrm>
          <a:prstGeom prst="rect">
            <a:avLst/>
          </a:prstGeom>
          <a:noFill/>
          <a:ln/>
        </p:spPr>
        <p:txBody>
          <a:bodyPr wrap="square" lIns="0" tIns="0" rIns="0" bIns="0" rtlCol="0" anchor="ctr"/>
          <a:lstStyle/>
          <a:p>
            <a:pPr algn="l" indent="0" marL="0">
              <a:buNone/>
            </a:pPr>
            <a:r>
              <a:rPr lang="en-US" sz="1100" b="1" i="1" dirty="0">
                <a:solidFill>
                  <a:srgbClr val="003087"/>
                </a:solidFill>
                <a:latin typeface="Calibri" pitchFamily="34" charset="0"/>
                <a:ea typeface="Calibri" pitchFamily="34" charset="-122"/>
                <a:cs typeface="Calibri" pitchFamily="34" charset="-120"/>
              </a:rPr>
              <a:t>Adjacent counties with identical disease burden can receive different recommendations — and that's the point.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F6FC"/>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600" b="1" dirty="0">
                <a:solidFill>
                  <a:srgbClr val="003087"/>
                </a:solidFill>
                <a:latin typeface="Calibri" pitchFamily="34" charset="0"/>
                <a:ea typeface="Calibri" pitchFamily="34" charset="-122"/>
                <a:cs typeface="Calibri" pitchFamily="34" charset="-120"/>
              </a:rPr>
              <a:t>Three Immediate Use Cases at MVP Launch</a:t>
            </a:r>
            <a:endParaRPr lang="en-US" sz="2600" dirty="0"/>
          </a:p>
        </p:txBody>
      </p:sp>
      <p:sp>
        <p:nvSpPr>
          <p:cNvPr id="3" name="Shape 1"/>
          <p:cNvSpPr/>
          <p:nvPr/>
        </p:nvSpPr>
        <p:spPr>
          <a:xfrm>
            <a:off x="384048" y="1005840"/>
            <a:ext cx="2697480" cy="3913632"/>
          </a:xfrm>
          <a:prstGeom prst="roundRect">
            <a:avLst>
              <a:gd name="adj" fmla="val 4068"/>
            </a:avLst>
          </a:prstGeom>
          <a:solidFill>
            <a:srgbClr val="FFFFFF"/>
          </a:solidFill>
          <a:ln w="12700">
            <a:solidFill>
              <a:srgbClr val="E0EAF5"/>
            </a:solidFill>
            <a:prstDash val="solid"/>
          </a:ln>
          <a:effectLst>
            <a:outerShdw sx="100000" sy="100000" kx="0" ky="0" algn="bl" rotWithShape="0" blurRad="101600" dist="38100" dir="2700000">
              <a:srgbClr val="000000">
                <a:alpha val="12000"/>
              </a:srgbClr>
            </a:outerShdw>
          </a:effectLst>
        </p:spPr>
      </p:sp>
      <p:sp>
        <p:nvSpPr>
          <p:cNvPr id="4" name="Text 2"/>
          <p:cNvSpPr/>
          <p:nvPr/>
        </p:nvSpPr>
        <p:spPr>
          <a:xfrm>
            <a:off x="521208" y="1097280"/>
            <a:ext cx="2423160" cy="457200"/>
          </a:xfrm>
          <a:prstGeom prst="rect">
            <a:avLst/>
          </a:prstGeom>
          <a:noFill/>
          <a:ln/>
        </p:spPr>
        <p:txBody>
          <a:bodyPr wrap="square" lIns="0" tIns="0" rIns="0" bIns="0" rtlCol="0" anchor="ctr"/>
          <a:lstStyle/>
          <a:p>
            <a:pPr algn="l" indent="0" marL="0">
              <a:buNone/>
            </a:pPr>
            <a:r>
              <a:rPr lang="en-US" sz="2200" dirty="0">
                <a:solidFill>
                  <a:srgbClr val="000000"/>
                </a:solidFill>
              </a:rPr>
              <a:t>🗺️</a:t>
            </a:r>
            <a:endParaRPr lang="en-US" sz="2200" dirty="0"/>
          </a:p>
        </p:txBody>
      </p:sp>
      <p:sp>
        <p:nvSpPr>
          <p:cNvPr id="5" name="Text 3"/>
          <p:cNvSpPr/>
          <p:nvPr/>
        </p:nvSpPr>
        <p:spPr>
          <a:xfrm>
            <a:off x="521208" y="1572768"/>
            <a:ext cx="2423160" cy="566928"/>
          </a:xfrm>
          <a:prstGeom prst="rect">
            <a:avLst/>
          </a:prstGeom>
          <a:noFill/>
          <a:ln/>
        </p:spPr>
        <p:txBody>
          <a:bodyPr wrap="square" lIns="0" tIns="0" rIns="0" bIns="0" rtlCol="0" anchor="ctr"/>
          <a:lstStyle/>
          <a:p>
            <a:pPr algn="l" indent="0" marL="0">
              <a:buNone/>
            </a:pPr>
            <a:r>
              <a:rPr lang="en-US" sz="1350" b="1" dirty="0">
                <a:solidFill>
                  <a:srgbClr val="003087"/>
                </a:solidFill>
                <a:latin typeface="Calibri" pitchFamily="34" charset="0"/>
                <a:ea typeface="Calibri" pitchFamily="34" charset="-122"/>
                <a:cs typeface="Calibri" pitchFamily="34" charset="-120"/>
              </a:rPr>
              <a:t>Market Entry</a:t>
            </a:r>
            <a:endParaRPr lang="en-US" sz="1350" dirty="0"/>
          </a:p>
          <a:p>
            <a:pPr algn="l" indent="0" marL="0">
              <a:buNone/>
            </a:pPr>
            <a:r>
              <a:rPr lang="en-US" sz="1350" b="1" dirty="0">
                <a:solidFill>
                  <a:srgbClr val="003087"/>
                </a:solidFill>
                <a:latin typeface="Calibri" pitchFamily="34" charset="0"/>
                <a:ea typeface="Calibri" pitchFamily="34" charset="-122"/>
                <a:cs typeface="Calibri" pitchFamily="34" charset="-120"/>
              </a:rPr>
              <a:t>Prioritization</a:t>
            </a:r>
            <a:endParaRPr lang="en-US" sz="1350" dirty="0"/>
          </a:p>
        </p:txBody>
      </p:sp>
      <p:sp>
        <p:nvSpPr>
          <p:cNvPr id="6" name="Text 4"/>
          <p:cNvSpPr/>
          <p:nvPr/>
        </p:nvSpPr>
        <p:spPr>
          <a:xfrm>
            <a:off x="521208" y="2176272"/>
            <a:ext cx="2423160" cy="292608"/>
          </a:xfrm>
          <a:prstGeom prst="rect">
            <a:avLst/>
          </a:prstGeom>
          <a:noFill/>
          <a:ln/>
        </p:spPr>
        <p:txBody>
          <a:bodyPr wrap="square" lIns="0" tIns="0" rIns="0" bIns="0" rtlCol="0" anchor="ctr"/>
          <a:lstStyle/>
          <a:p>
            <a:pPr algn="l" indent="0" marL="0">
              <a:buNone/>
            </a:pPr>
            <a:r>
              <a:rPr lang="en-US" sz="850" i="1" dirty="0">
                <a:solidFill>
                  <a:srgbClr val="5A7A9B"/>
                </a:solidFill>
                <a:latin typeface="Calibri" pitchFamily="34" charset="0"/>
                <a:ea typeface="Calibri" pitchFamily="34" charset="-122"/>
                <a:cs typeface="Calibri" pitchFamily="34" charset="-120"/>
              </a:rPr>
              <a:t>Market Access Directors · Brand Teams</a:t>
            </a:r>
            <a:endParaRPr lang="en-US" sz="850" dirty="0"/>
          </a:p>
        </p:txBody>
      </p:sp>
      <p:sp>
        <p:nvSpPr>
          <p:cNvPr id="7" name="Text 5"/>
          <p:cNvSpPr/>
          <p:nvPr/>
        </p:nvSpPr>
        <p:spPr>
          <a:xfrm>
            <a:off x="521208" y="2578608"/>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Score all 3,143 US counties before launch</a:t>
            </a:r>
            <a:endParaRPr lang="en-US" sz="950" dirty="0"/>
          </a:p>
        </p:txBody>
      </p:sp>
      <p:sp>
        <p:nvSpPr>
          <p:cNvPr id="8" name="Text 6"/>
          <p:cNvSpPr/>
          <p:nvPr/>
        </p:nvSpPr>
        <p:spPr>
          <a:xfrm>
            <a:off x="521208" y="3072384"/>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Identify top Priority markets by condition</a:t>
            </a:r>
            <a:endParaRPr lang="en-US" sz="950" dirty="0"/>
          </a:p>
        </p:txBody>
      </p:sp>
      <p:sp>
        <p:nvSpPr>
          <p:cNvPr id="9" name="Text 7"/>
          <p:cNvSpPr/>
          <p:nvPr/>
        </p:nvSpPr>
        <p:spPr>
          <a:xfrm>
            <a:off x="521208" y="3566160"/>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Rank states for phased geographic rollout</a:t>
            </a:r>
            <a:endParaRPr lang="en-US" sz="950" dirty="0"/>
          </a:p>
        </p:txBody>
      </p:sp>
      <p:sp>
        <p:nvSpPr>
          <p:cNvPr id="10" name="Text 8"/>
          <p:cNvSpPr/>
          <p:nvPr/>
        </p:nvSpPr>
        <p:spPr>
          <a:xfrm>
            <a:off x="521208" y="4059936"/>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Export ranked list for investment planning</a:t>
            </a:r>
            <a:endParaRPr lang="en-US" sz="950" dirty="0"/>
          </a:p>
        </p:txBody>
      </p:sp>
      <p:sp>
        <p:nvSpPr>
          <p:cNvPr id="11" name="Shape 9"/>
          <p:cNvSpPr/>
          <p:nvPr/>
        </p:nvSpPr>
        <p:spPr>
          <a:xfrm>
            <a:off x="3291840" y="1005840"/>
            <a:ext cx="2697480" cy="3913632"/>
          </a:xfrm>
          <a:prstGeom prst="roundRect">
            <a:avLst>
              <a:gd name="adj" fmla="val 4068"/>
            </a:avLst>
          </a:prstGeom>
          <a:solidFill>
            <a:srgbClr val="FFFFFF"/>
          </a:solidFill>
          <a:ln w="12700">
            <a:solidFill>
              <a:srgbClr val="E0EAF5"/>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3429000" y="1097280"/>
            <a:ext cx="2423160" cy="457200"/>
          </a:xfrm>
          <a:prstGeom prst="rect">
            <a:avLst/>
          </a:prstGeom>
          <a:noFill/>
          <a:ln/>
        </p:spPr>
        <p:txBody>
          <a:bodyPr wrap="square" lIns="0" tIns="0" rIns="0" bIns="0" rtlCol="0" anchor="ctr"/>
          <a:lstStyle/>
          <a:p>
            <a:pPr algn="l" indent="0" marL="0">
              <a:buNone/>
            </a:pPr>
            <a:r>
              <a:rPr lang="en-US" sz="2200" dirty="0">
                <a:solidFill>
                  <a:srgbClr val="000000"/>
                </a:solidFill>
              </a:rPr>
              <a:t>🤝</a:t>
            </a:r>
            <a:endParaRPr lang="en-US" sz="2200" dirty="0"/>
          </a:p>
        </p:txBody>
      </p:sp>
      <p:sp>
        <p:nvSpPr>
          <p:cNvPr id="13" name="Text 11"/>
          <p:cNvSpPr/>
          <p:nvPr/>
        </p:nvSpPr>
        <p:spPr>
          <a:xfrm>
            <a:off x="3429000" y="1572768"/>
            <a:ext cx="2423160" cy="566928"/>
          </a:xfrm>
          <a:prstGeom prst="rect">
            <a:avLst/>
          </a:prstGeom>
          <a:noFill/>
          <a:ln/>
        </p:spPr>
        <p:txBody>
          <a:bodyPr wrap="square" lIns="0" tIns="0" rIns="0" bIns="0" rtlCol="0" anchor="ctr"/>
          <a:lstStyle/>
          <a:p>
            <a:pPr algn="l" indent="0" marL="0">
              <a:buNone/>
            </a:pPr>
            <a:r>
              <a:rPr lang="en-US" sz="1350" b="1" dirty="0">
                <a:solidFill>
                  <a:srgbClr val="0077C8"/>
                </a:solidFill>
                <a:latin typeface="Calibri" pitchFamily="34" charset="0"/>
                <a:ea typeface="Calibri" pitchFamily="34" charset="-122"/>
                <a:cs typeface="Calibri" pitchFamily="34" charset="-120"/>
              </a:rPr>
              <a:t>Payer Partnership</a:t>
            </a:r>
            <a:endParaRPr lang="en-US" sz="1350" dirty="0"/>
          </a:p>
          <a:p>
            <a:pPr algn="l" indent="0" marL="0">
              <a:buNone/>
            </a:pPr>
            <a:r>
              <a:rPr lang="en-US" sz="1350" b="1" dirty="0">
                <a:solidFill>
                  <a:srgbClr val="0077C8"/>
                </a:solidFill>
                <a:latin typeface="Calibri" pitchFamily="34" charset="0"/>
                <a:ea typeface="Calibri" pitchFamily="34" charset="-122"/>
                <a:cs typeface="Calibri" pitchFamily="34" charset="-120"/>
              </a:rPr>
              <a:t>Development</a:t>
            </a:r>
            <a:endParaRPr lang="en-US" sz="1350" dirty="0"/>
          </a:p>
        </p:txBody>
      </p:sp>
      <p:sp>
        <p:nvSpPr>
          <p:cNvPr id="14" name="Text 12"/>
          <p:cNvSpPr/>
          <p:nvPr/>
        </p:nvSpPr>
        <p:spPr>
          <a:xfrm>
            <a:off x="3429000" y="2176272"/>
            <a:ext cx="2423160" cy="292608"/>
          </a:xfrm>
          <a:prstGeom prst="rect">
            <a:avLst/>
          </a:prstGeom>
          <a:noFill/>
          <a:ln/>
        </p:spPr>
        <p:txBody>
          <a:bodyPr wrap="square" lIns="0" tIns="0" rIns="0" bIns="0" rtlCol="0" anchor="ctr"/>
          <a:lstStyle/>
          <a:p>
            <a:pPr algn="l" indent="0" marL="0">
              <a:buNone/>
            </a:pPr>
            <a:r>
              <a:rPr lang="en-US" sz="850" i="1" dirty="0">
                <a:solidFill>
                  <a:srgbClr val="5A7A9B"/>
                </a:solidFill>
                <a:latin typeface="Calibri" pitchFamily="34" charset="0"/>
                <a:ea typeface="Calibri" pitchFamily="34" charset="-122"/>
                <a:cs typeface="Calibri" pitchFamily="34" charset="-120"/>
              </a:rPr>
              <a:t>Market Access Managers · Payer Teams</a:t>
            </a:r>
            <a:endParaRPr lang="en-US" sz="850" dirty="0"/>
          </a:p>
        </p:txBody>
      </p:sp>
      <p:sp>
        <p:nvSpPr>
          <p:cNvPr id="15" name="Text 13"/>
          <p:cNvSpPr/>
          <p:nvPr/>
        </p:nvSpPr>
        <p:spPr>
          <a:xfrm>
            <a:off x="3429000" y="2578608"/>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Find counties with ≥35% MA penetration</a:t>
            </a:r>
            <a:endParaRPr lang="en-US" sz="950" dirty="0"/>
          </a:p>
        </p:txBody>
      </p:sp>
      <p:sp>
        <p:nvSpPr>
          <p:cNvPr id="16" name="Text 14"/>
          <p:cNvSpPr/>
          <p:nvPr/>
        </p:nvSpPr>
        <p:spPr>
          <a:xfrm>
            <a:off x="3429000" y="3072384"/>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Quantify undiagnosed pool for Stars pitch</a:t>
            </a:r>
            <a:endParaRPr lang="en-US" sz="950" dirty="0"/>
          </a:p>
        </p:txBody>
      </p:sp>
      <p:sp>
        <p:nvSpPr>
          <p:cNvPr id="17" name="Text 15"/>
          <p:cNvSpPr/>
          <p:nvPr/>
        </p:nvSpPr>
        <p:spPr>
          <a:xfrm>
            <a:off x="3429000" y="3566160"/>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Show payer why this county improves quality metrics</a:t>
            </a:r>
            <a:endParaRPr lang="en-US" sz="950" dirty="0"/>
          </a:p>
        </p:txBody>
      </p:sp>
      <p:sp>
        <p:nvSpPr>
          <p:cNvPr id="18" name="Text 16"/>
          <p:cNvSpPr/>
          <p:nvPr/>
        </p:nvSpPr>
        <p:spPr>
          <a:xfrm>
            <a:off x="3429000" y="4059936"/>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Back every claim with CDC + CMS public data</a:t>
            </a:r>
            <a:endParaRPr lang="en-US" sz="950" dirty="0"/>
          </a:p>
        </p:txBody>
      </p:sp>
      <p:sp>
        <p:nvSpPr>
          <p:cNvPr id="19" name="Shape 17"/>
          <p:cNvSpPr/>
          <p:nvPr/>
        </p:nvSpPr>
        <p:spPr>
          <a:xfrm>
            <a:off x="6199632" y="1005840"/>
            <a:ext cx="2697480" cy="3913632"/>
          </a:xfrm>
          <a:prstGeom prst="roundRect">
            <a:avLst>
              <a:gd name="adj" fmla="val 4068"/>
            </a:avLst>
          </a:prstGeom>
          <a:solidFill>
            <a:srgbClr val="FFFFFF"/>
          </a:solidFill>
          <a:ln w="12700">
            <a:solidFill>
              <a:srgbClr val="E0EAF5"/>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6336792" y="1097280"/>
            <a:ext cx="2423160" cy="457200"/>
          </a:xfrm>
          <a:prstGeom prst="rect">
            <a:avLst/>
          </a:prstGeom>
          <a:noFill/>
          <a:ln/>
        </p:spPr>
        <p:txBody>
          <a:bodyPr wrap="square" lIns="0" tIns="0" rIns="0" bIns="0" rtlCol="0" anchor="ctr"/>
          <a:lstStyle/>
          <a:p>
            <a:pPr algn="l" indent="0" marL="0">
              <a:buNone/>
            </a:pPr>
            <a:r>
              <a:rPr lang="en-US" sz="2200" dirty="0">
                <a:solidFill>
                  <a:srgbClr val="000000"/>
                </a:solidFill>
              </a:rPr>
              <a:t>📋</a:t>
            </a:r>
            <a:endParaRPr lang="en-US" sz="2200" dirty="0"/>
          </a:p>
        </p:txBody>
      </p:sp>
      <p:sp>
        <p:nvSpPr>
          <p:cNvPr id="21" name="Text 19"/>
          <p:cNvSpPr/>
          <p:nvPr/>
        </p:nvSpPr>
        <p:spPr>
          <a:xfrm>
            <a:off x="6336792" y="1572768"/>
            <a:ext cx="2423160" cy="566928"/>
          </a:xfrm>
          <a:prstGeom prst="rect">
            <a:avLst/>
          </a:prstGeom>
          <a:noFill/>
          <a:ln/>
        </p:spPr>
        <p:txBody>
          <a:bodyPr wrap="square" lIns="0" tIns="0" rIns="0" bIns="0" rtlCol="0" anchor="ctr"/>
          <a:lstStyle/>
          <a:p>
            <a:pPr algn="l" indent="0" marL="0">
              <a:buNone/>
            </a:pPr>
            <a:r>
              <a:rPr lang="en-US" sz="1350" b="1" dirty="0">
                <a:solidFill>
                  <a:srgbClr val="2A9D8F"/>
                </a:solidFill>
                <a:latin typeface="Calibri" pitchFamily="34" charset="0"/>
                <a:ea typeface="Calibri" pitchFamily="34" charset="-122"/>
                <a:cs typeface="Calibri" pitchFamily="34" charset="-120"/>
              </a:rPr>
              <a:t>Field Territory</a:t>
            </a:r>
            <a:endParaRPr lang="en-US" sz="1350" dirty="0"/>
          </a:p>
          <a:p>
            <a:pPr algn="l" indent="0" marL="0">
              <a:buNone/>
            </a:pPr>
            <a:r>
              <a:rPr lang="en-US" sz="1350" b="1" dirty="0">
                <a:solidFill>
                  <a:srgbClr val="2A9D8F"/>
                </a:solidFill>
                <a:latin typeface="Calibri" pitchFamily="34" charset="0"/>
                <a:ea typeface="Calibri" pitchFamily="34" charset="-122"/>
                <a:cs typeface="Calibri" pitchFamily="34" charset="-120"/>
              </a:rPr>
              <a:t>Design</a:t>
            </a:r>
            <a:endParaRPr lang="en-US" sz="1350" dirty="0"/>
          </a:p>
        </p:txBody>
      </p:sp>
      <p:sp>
        <p:nvSpPr>
          <p:cNvPr id="22" name="Text 20"/>
          <p:cNvSpPr/>
          <p:nvPr/>
        </p:nvSpPr>
        <p:spPr>
          <a:xfrm>
            <a:off x="6336792" y="2176272"/>
            <a:ext cx="2423160" cy="292608"/>
          </a:xfrm>
          <a:prstGeom prst="rect">
            <a:avLst/>
          </a:prstGeom>
          <a:noFill/>
          <a:ln/>
        </p:spPr>
        <p:txBody>
          <a:bodyPr wrap="square" lIns="0" tIns="0" rIns="0" bIns="0" rtlCol="0" anchor="ctr"/>
          <a:lstStyle/>
          <a:p>
            <a:pPr algn="l" indent="0" marL="0">
              <a:buNone/>
            </a:pPr>
            <a:r>
              <a:rPr lang="en-US" sz="850" i="1" dirty="0">
                <a:solidFill>
                  <a:srgbClr val="5A7A9B"/>
                </a:solidFill>
                <a:latin typeface="Calibri" pitchFamily="34" charset="0"/>
                <a:ea typeface="Calibri" pitchFamily="34" charset="-122"/>
                <a:cs typeface="Calibri" pitchFamily="34" charset="-120"/>
              </a:rPr>
              <a:t>MSLs · Field Account Managers · CSLs</a:t>
            </a:r>
            <a:endParaRPr lang="en-US" sz="850" dirty="0"/>
          </a:p>
        </p:txBody>
      </p:sp>
      <p:sp>
        <p:nvSpPr>
          <p:cNvPr id="23" name="Text 21"/>
          <p:cNvSpPr/>
          <p:nvPr/>
        </p:nvSpPr>
        <p:spPr>
          <a:xfrm>
            <a:off x="6336792" y="2578608"/>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Paste a ZIP territory, get instant scorecard</a:t>
            </a:r>
            <a:endParaRPr lang="en-US" sz="950" dirty="0"/>
          </a:p>
        </p:txBody>
      </p:sp>
      <p:sp>
        <p:nvSpPr>
          <p:cNvPr id="24" name="Text 22"/>
          <p:cNvSpPr/>
          <p:nvPr/>
        </p:nvSpPr>
        <p:spPr>
          <a:xfrm>
            <a:off x="6336792" y="3072384"/>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Aggregate pool size + dimension breakdown</a:t>
            </a:r>
            <a:endParaRPr lang="en-US" sz="950" dirty="0"/>
          </a:p>
        </p:txBody>
      </p:sp>
      <p:sp>
        <p:nvSpPr>
          <p:cNvPr id="25" name="Text 23"/>
          <p:cNvSpPr/>
          <p:nvPr/>
        </p:nvSpPr>
        <p:spPr>
          <a:xfrm>
            <a:off x="6336792" y="3566160"/>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Recommended program type before the meeting</a:t>
            </a:r>
            <a:endParaRPr lang="en-US" sz="950" dirty="0"/>
          </a:p>
        </p:txBody>
      </p:sp>
      <p:sp>
        <p:nvSpPr>
          <p:cNvPr id="26" name="Text 24"/>
          <p:cNvSpPr/>
          <p:nvPr/>
        </p:nvSpPr>
        <p:spPr>
          <a:xfrm>
            <a:off x="6336792" y="4059936"/>
            <a:ext cx="2423160" cy="457200"/>
          </a:xfrm>
          <a:prstGeom prst="rect">
            <a:avLst/>
          </a:prstGeom>
          <a:noFill/>
          <a:ln/>
        </p:spPr>
        <p:txBody>
          <a:bodyPr wrap="square" lIns="0" tIns="0" rIns="0" bIns="0" rtlCol="0" anchor="ctr"/>
          <a:lstStyle/>
          <a:p>
            <a:pPr algn="l" indent="0" marL="0">
              <a:buNone/>
            </a:pPr>
            <a:r>
              <a:rPr lang="en-US" sz="950" dirty="0">
                <a:solidFill>
                  <a:srgbClr val="0A1F3C"/>
                </a:solidFill>
                <a:latin typeface="Calibri" pitchFamily="34" charset="0"/>
                <a:ea typeface="Calibri" pitchFamily="34" charset="-122"/>
                <a:cs typeface="Calibri" pitchFamily="34" charset="-120"/>
              </a:rPr>
              <a:t>·  Download per-ZIP CSV for the conversation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400" b="1" dirty="0">
                <a:solidFill>
                  <a:srgbClr val="003087"/>
                </a:solidFill>
                <a:latin typeface="Calibri" pitchFamily="34" charset="0"/>
                <a:ea typeface="Calibri" pitchFamily="34" charset="-122"/>
                <a:cs typeface="Calibri" pitchFamily="34" charset="-120"/>
              </a:rPr>
              <a:t>MVP Scope — What's Built Today vs. What's Next</a:t>
            </a:r>
            <a:endParaRPr lang="en-US" sz="2400" dirty="0"/>
          </a:p>
        </p:txBody>
      </p:sp>
      <p:sp>
        <p:nvSpPr>
          <p:cNvPr id="3" name="Shape 1"/>
          <p:cNvSpPr/>
          <p:nvPr/>
        </p:nvSpPr>
        <p:spPr>
          <a:xfrm>
            <a:off x="457200" y="987552"/>
            <a:ext cx="3931920" cy="3931920"/>
          </a:xfrm>
          <a:prstGeom prst="roundRect">
            <a:avLst>
              <a:gd name="adj" fmla="val 2791"/>
            </a:avLst>
          </a:prstGeom>
          <a:solidFill>
            <a:srgbClr val="F0F9FF"/>
          </a:solidFill>
          <a:ln w="25400">
            <a:solidFill>
              <a:srgbClr val="00A9E0"/>
            </a:solidFill>
            <a:prstDash val="solid"/>
          </a:ln>
        </p:spPr>
      </p:sp>
      <p:sp>
        <p:nvSpPr>
          <p:cNvPr id="4" name="Text 2"/>
          <p:cNvSpPr/>
          <p:nvPr/>
        </p:nvSpPr>
        <p:spPr>
          <a:xfrm>
            <a:off x="621792" y="1097280"/>
            <a:ext cx="3566160" cy="347472"/>
          </a:xfrm>
          <a:prstGeom prst="rect">
            <a:avLst/>
          </a:prstGeom>
          <a:noFill/>
          <a:ln/>
        </p:spPr>
        <p:txBody>
          <a:bodyPr wrap="square" lIns="0" tIns="0" rIns="0" bIns="0" rtlCol="0" anchor="ctr"/>
          <a:lstStyle/>
          <a:p>
            <a:pPr algn="l" indent="0" marL="0">
              <a:buNone/>
            </a:pPr>
            <a:r>
              <a:rPr lang="en-US" sz="1300" b="1" dirty="0">
                <a:solidFill>
                  <a:srgbClr val="003087"/>
                </a:solidFill>
                <a:latin typeface="Calibri" pitchFamily="34" charset="0"/>
                <a:ea typeface="Calibri" pitchFamily="34" charset="-122"/>
                <a:cs typeface="Calibri" pitchFamily="34" charset="-120"/>
              </a:rPr>
              <a:t>MVP — Available Now</a:t>
            </a:r>
            <a:endParaRPr lang="en-US" sz="1300" dirty="0"/>
          </a:p>
        </p:txBody>
      </p:sp>
      <p:sp>
        <p:nvSpPr>
          <p:cNvPr id="5" name="Text 3"/>
          <p:cNvSpPr/>
          <p:nvPr/>
        </p:nvSpPr>
        <p:spPr>
          <a:xfrm>
            <a:off x="621792" y="1554480"/>
            <a:ext cx="3566160" cy="365760"/>
          </a:xfrm>
          <a:prstGeom prst="rect">
            <a:avLst/>
          </a:prstGeom>
          <a:noFill/>
          <a:ln/>
        </p:spPr>
        <p:txBody>
          <a:bodyPr wrap="square" lIns="0" tIns="0" rIns="0" bIns="0" rtlCol="0" anchor="ctr"/>
          <a:lstStyle/>
          <a:p>
            <a:pPr algn="l" indent="0" marL="0">
              <a:buNone/>
            </a:pPr>
            <a:r>
              <a:rPr lang="en-US" sz="1050" dirty="0">
                <a:solidFill>
                  <a:srgbClr val="0A1F3C"/>
                </a:solidFill>
                <a:latin typeface="Calibri" pitchFamily="34" charset="0"/>
                <a:ea typeface="Calibri" pitchFamily="34" charset="-122"/>
                <a:cs typeface="Calibri" pitchFamily="34" charset="-120"/>
              </a:rPr>
              <a:t>✓  3,143 counties + 33,774 ZIPs scored</a:t>
            </a:r>
            <a:endParaRPr lang="en-US" sz="1050" dirty="0"/>
          </a:p>
        </p:txBody>
      </p:sp>
      <p:sp>
        <p:nvSpPr>
          <p:cNvPr id="6" name="Text 4"/>
          <p:cNvSpPr/>
          <p:nvPr/>
        </p:nvSpPr>
        <p:spPr>
          <a:xfrm>
            <a:off x="621792" y="1956816"/>
            <a:ext cx="3566160" cy="365760"/>
          </a:xfrm>
          <a:prstGeom prst="rect">
            <a:avLst/>
          </a:prstGeom>
          <a:noFill/>
          <a:ln/>
        </p:spPr>
        <p:txBody>
          <a:bodyPr wrap="square" lIns="0" tIns="0" rIns="0" bIns="0" rtlCol="0" anchor="ctr"/>
          <a:lstStyle/>
          <a:p>
            <a:pPr algn="l" indent="0" marL="0">
              <a:buNone/>
            </a:pPr>
            <a:r>
              <a:rPr lang="en-US" sz="1050" dirty="0">
                <a:solidFill>
                  <a:srgbClr val="0A1F3C"/>
                </a:solidFill>
                <a:latin typeface="Calibri" pitchFamily="34" charset="0"/>
                <a:ea typeface="Calibri" pitchFamily="34" charset="-122"/>
                <a:cs typeface="Calibri" pitchFamily="34" charset="-120"/>
              </a:rPr>
              <a:t>✓  7-dimension model · 7 real data sources</a:t>
            </a:r>
            <a:endParaRPr lang="en-US" sz="1050" dirty="0"/>
          </a:p>
        </p:txBody>
      </p:sp>
      <p:sp>
        <p:nvSpPr>
          <p:cNvPr id="7" name="Text 5"/>
          <p:cNvSpPr/>
          <p:nvPr/>
        </p:nvSpPr>
        <p:spPr>
          <a:xfrm>
            <a:off x="621792" y="2359152"/>
            <a:ext cx="3566160" cy="365760"/>
          </a:xfrm>
          <a:prstGeom prst="rect">
            <a:avLst/>
          </a:prstGeom>
          <a:noFill/>
          <a:ln/>
        </p:spPr>
        <p:txBody>
          <a:bodyPr wrap="square" lIns="0" tIns="0" rIns="0" bIns="0" rtlCol="0" anchor="ctr"/>
          <a:lstStyle/>
          <a:p>
            <a:pPr algn="l" indent="0" marL="0">
              <a:buNone/>
            </a:pPr>
            <a:r>
              <a:rPr lang="en-US" sz="1050" dirty="0">
                <a:solidFill>
                  <a:srgbClr val="0A1F3C"/>
                </a:solidFill>
                <a:latin typeface="Calibri" pitchFamily="34" charset="0"/>
                <a:ea typeface="Calibri" pitchFamily="34" charset="-122"/>
                <a:cs typeface="Calibri" pitchFamily="34" charset="-120"/>
              </a:rPr>
              <a:t>✓  7-view Streamlit dashboard (deployed)</a:t>
            </a:r>
            <a:endParaRPr lang="en-US" sz="1050" dirty="0"/>
          </a:p>
        </p:txBody>
      </p:sp>
      <p:sp>
        <p:nvSpPr>
          <p:cNvPr id="8" name="Text 6"/>
          <p:cNvSpPr/>
          <p:nvPr/>
        </p:nvSpPr>
        <p:spPr>
          <a:xfrm>
            <a:off x="621792" y="2761488"/>
            <a:ext cx="3566160" cy="365760"/>
          </a:xfrm>
          <a:prstGeom prst="rect">
            <a:avLst/>
          </a:prstGeom>
          <a:noFill/>
          <a:ln/>
        </p:spPr>
        <p:txBody>
          <a:bodyPr wrap="square" lIns="0" tIns="0" rIns="0" bIns="0" rtlCol="0" anchor="ctr"/>
          <a:lstStyle/>
          <a:p>
            <a:pPr algn="l" indent="0" marL="0">
              <a:buNone/>
            </a:pPr>
            <a:r>
              <a:rPr lang="en-US" sz="1050" dirty="0">
                <a:solidFill>
                  <a:srgbClr val="0A1F3C"/>
                </a:solidFill>
                <a:latin typeface="Calibri" pitchFamily="34" charset="0"/>
                <a:ea typeface="Calibri" pitchFamily="34" charset="-122"/>
                <a:cs typeface="Calibri" pitchFamily="34" charset="-120"/>
              </a:rPr>
              <a:t>✓  Territory Builder — paste ZIPs, instant scorecard</a:t>
            </a:r>
            <a:endParaRPr lang="en-US" sz="1050" dirty="0"/>
          </a:p>
        </p:txBody>
      </p:sp>
      <p:sp>
        <p:nvSpPr>
          <p:cNvPr id="9" name="Text 7"/>
          <p:cNvSpPr/>
          <p:nvPr/>
        </p:nvSpPr>
        <p:spPr>
          <a:xfrm>
            <a:off x="621792" y="3163824"/>
            <a:ext cx="3566160" cy="365760"/>
          </a:xfrm>
          <a:prstGeom prst="rect">
            <a:avLst/>
          </a:prstGeom>
          <a:noFill/>
          <a:ln/>
        </p:spPr>
        <p:txBody>
          <a:bodyPr wrap="square" lIns="0" tIns="0" rIns="0" bIns="0" rtlCol="0" anchor="ctr"/>
          <a:lstStyle/>
          <a:p>
            <a:pPr algn="l" indent="0" marL="0">
              <a:buNone/>
            </a:pPr>
            <a:r>
              <a:rPr lang="en-US" sz="1050" dirty="0">
                <a:solidFill>
                  <a:srgbClr val="0A1F3C"/>
                </a:solidFill>
                <a:latin typeface="Calibri" pitchFamily="34" charset="0"/>
                <a:ea typeface="Calibri" pitchFamily="34" charset="-122"/>
                <a:cs typeface="Calibri" pitchFamily="34" charset="-120"/>
              </a:rPr>
              <a:t>✓  5 automated intervention recommendations</a:t>
            </a:r>
            <a:endParaRPr lang="en-US" sz="1050" dirty="0"/>
          </a:p>
        </p:txBody>
      </p:sp>
      <p:sp>
        <p:nvSpPr>
          <p:cNvPr id="10" name="Text 8"/>
          <p:cNvSpPr/>
          <p:nvPr/>
        </p:nvSpPr>
        <p:spPr>
          <a:xfrm>
            <a:off x="621792" y="3566160"/>
            <a:ext cx="3566160" cy="365760"/>
          </a:xfrm>
          <a:prstGeom prst="rect">
            <a:avLst/>
          </a:prstGeom>
          <a:noFill/>
          <a:ln/>
        </p:spPr>
        <p:txBody>
          <a:bodyPr wrap="square" lIns="0" tIns="0" rIns="0" bIns="0" rtlCol="0" anchor="ctr"/>
          <a:lstStyle/>
          <a:p>
            <a:pPr algn="l" indent="0" marL="0">
              <a:buNone/>
            </a:pPr>
            <a:r>
              <a:rPr lang="en-US" sz="1050" dirty="0">
                <a:solidFill>
                  <a:srgbClr val="0A1F3C"/>
                </a:solidFill>
                <a:latin typeface="Calibri" pitchFamily="34" charset="0"/>
                <a:ea typeface="Calibri" pitchFamily="34" charset="-122"/>
                <a:cs typeface="Calibri" pitchFamily="34" charset="-120"/>
              </a:rPr>
              <a:t>✓  Multi-state filter + state drill-down view</a:t>
            </a:r>
            <a:endParaRPr lang="en-US" sz="1050" dirty="0"/>
          </a:p>
        </p:txBody>
      </p:sp>
      <p:sp>
        <p:nvSpPr>
          <p:cNvPr id="11" name="Text 9"/>
          <p:cNvSpPr/>
          <p:nvPr/>
        </p:nvSpPr>
        <p:spPr>
          <a:xfrm>
            <a:off x="621792" y="3968496"/>
            <a:ext cx="3566160" cy="365760"/>
          </a:xfrm>
          <a:prstGeom prst="rect">
            <a:avLst/>
          </a:prstGeom>
          <a:noFill/>
          <a:ln/>
        </p:spPr>
        <p:txBody>
          <a:bodyPr wrap="square" lIns="0" tIns="0" rIns="0" bIns="0" rtlCol="0" anchor="ctr"/>
          <a:lstStyle/>
          <a:p>
            <a:pPr algn="l" indent="0" marL="0">
              <a:buNone/>
            </a:pPr>
            <a:r>
              <a:rPr lang="en-US" sz="1050" dirty="0">
                <a:solidFill>
                  <a:srgbClr val="0A1F3C"/>
                </a:solidFill>
                <a:latin typeface="Calibri" pitchFamily="34" charset="0"/>
                <a:ea typeface="Calibri" pitchFamily="34" charset="-122"/>
                <a:cs typeface="Calibri" pitchFamily="34" charset="-120"/>
              </a:rPr>
              <a:t>✓  CSV export for payer meetings</a:t>
            </a:r>
            <a:endParaRPr lang="en-US" sz="1050" dirty="0"/>
          </a:p>
        </p:txBody>
      </p:sp>
      <p:sp>
        <p:nvSpPr>
          <p:cNvPr id="12" name="Text 10"/>
          <p:cNvSpPr/>
          <p:nvPr/>
        </p:nvSpPr>
        <p:spPr>
          <a:xfrm>
            <a:off x="621792" y="4370832"/>
            <a:ext cx="3566160" cy="365760"/>
          </a:xfrm>
          <a:prstGeom prst="rect">
            <a:avLst/>
          </a:prstGeom>
          <a:noFill/>
          <a:ln/>
        </p:spPr>
        <p:txBody>
          <a:bodyPr wrap="square" lIns="0" tIns="0" rIns="0" bIns="0" rtlCol="0" anchor="ctr"/>
          <a:lstStyle/>
          <a:p>
            <a:pPr algn="l" indent="0" marL="0">
              <a:buNone/>
            </a:pPr>
            <a:r>
              <a:rPr lang="en-US" sz="1050" dirty="0">
                <a:solidFill>
                  <a:srgbClr val="0A1F3C"/>
                </a:solidFill>
                <a:latin typeface="Calibri" pitchFamily="34" charset="0"/>
                <a:ea typeface="Calibri" pitchFamily="34" charset="-122"/>
                <a:cs typeface="Calibri" pitchFamily="34" charset="-120"/>
              </a:rPr>
              <a:t>✓  Full methodology documentation</a:t>
            </a:r>
            <a:endParaRPr lang="en-US" sz="1050" dirty="0"/>
          </a:p>
        </p:txBody>
      </p:sp>
      <p:sp>
        <p:nvSpPr>
          <p:cNvPr id="13" name="Shape 11"/>
          <p:cNvSpPr/>
          <p:nvPr/>
        </p:nvSpPr>
        <p:spPr>
          <a:xfrm>
            <a:off x="4754880" y="987552"/>
            <a:ext cx="3931920" cy="3931920"/>
          </a:xfrm>
          <a:prstGeom prst="roundRect">
            <a:avLst>
              <a:gd name="adj" fmla="val 2791"/>
            </a:avLst>
          </a:prstGeom>
          <a:solidFill>
            <a:srgbClr val="F8FAFF"/>
          </a:solidFill>
          <a:ln w="12700">
            <a:solidFill>
              <a:srgbClr val="D0DEF0"/>
            </a:solidFill>
            <a:prstDash val="solid"/>
          </a:ln>
        </p:spPr>
      </p:sp>
      <p:sp>
        <p:nvSpPr>
          <p:cNvPr id="14" name="Text 12"/>
          <p:cNvSpPr/>
          <p:nvPr/>
        </p:nvSpPr>
        <p:spPr>
          <a:xfrm>
            <a:off x="4919472" y="1097280"/>
            <a:ext cx="3566160" cy="347472"/>
          </a:xfrm>
          <a:prstGeom prst="rect">
            <a:avLst/>
          </a:prstGeom>
          <a:noFill/>
          <a:ln/>
        </p:spPr>
        <p:txBody>
          <a:bodyPr wrap="square" lIns="0" tIns="0" rIns="0" bIns="0" rtlCol="0" anchor="ctr"/>
          <a:lstStyle/>
          <a:p>
            <a:pPr algn="l" indent="0" marL="0">
              <a:buNone/>
            </a:pPr>
            <a:r>
              <a:rPr lang="en-US" sz="1300" b="1" dirty="0">
                <a:solidFill>
                  <a:srgbClr val="5A7A9B"/>
                </a:solidFill>
                <a:latin typeface="Calibri" pitchFamily="34" charset="0"/>
                <a:ea typeface="Calibri" pitchFamily="34" charset="-122"/>
                <a:cs typeface="Calibri" pitchFamily="34" charset="-120"/>
              </a:rPr>
              <a:t>V2 Roadmap — Next Phase</a:t>
            </a:r>
            <a:endParaRPr lang="en-US" sz="1300" dirty="0"/>
          </a:p>
        </p:txBody>
      </p:sp>
      <p:sp>
        <p:nvSpPr>
          <p:cNvPr id="15" name="Text 13"/>
          <p:cNvSpPr/>
          <p:nvPr/>
        </p:nvSpPr>
        <p:spPr>
          <a:xfrm>
            <a:off x="4919472" y="1554480"/>
            <a:ext cx="3566160" cy="365760"/>
          </a:xfrm>
          <a:prstGeom prst="rect">
            <a:avLst/>
          </a:prstGeom>
          <a:noFill/>
          <a:ln/>
        </p:spPr>
        <p:txBody>
          <a:bodyPr wrap="square" lIns="0" tIns="0" rIns="0" bIns="0" rtlCol="0" anchor="ctr"/>
          <a:lstStyle/>
          <a:p>
            <a:pPr algn="l" indent="0" marL="0">
              <a:buNone/>
            </a:pPr>
            <a:r>
              <a:rPr lang="en-US" sz="1050" dirty="0">
                <a:solidFill>
                  <a:srgbClr val="5A7A9B"/>
                </a:solidFill>
                <a:latin typeface="Calibri" pitchFamily="34" charset="0"/>
                <a:ea typeface="Calibri" pitchFamily="34" charset="-122"/>
                <a:cs typeface="Calibri" pitchFamily="34" charset="-120"/>
              </a:rPr>
              <a:t>◦  HCP targeting layer (NPPES + Part D data)</a:t>
            </a:r>
            <a:endParaRPr lang="en-US" sz="1050" dirty="0"/>
          </a:p>
        </p:txBody>
      </p:sp>
      <p:sp>
        <p:nvSpPr>
          <p:cNvPr id="16" name="Text 14"/>
          <p:cNvSpPr/>
          <p:nvPr/>
        </p:nvSpPr>
        <p:spPr>
          <a:xfrm>
            <a:off x="4919472" y="1956816"/>
            <a:ext cx="3566160" cy="365760"/>
          </a:xfrm>
          <a:prstGeom prst="rect">
            <a:avLst/>
          </a:prstGeom>
          <a:noFill/>
          <a:ln/>
        </p:spPr>
        <p:txBody>
          <a:bodyPr wrap="square" lIns="0" tIns="0" rIns="0" bIns="0" rtlCol="0" anchor="ctr"/>
          <a:lstStyle/>
          <a:p>
            <a:pPr algn="l" indent="0" marL="0">
              <a:buNone/>
            </a:pPr>
            <a:r>
              <a:rPr lang="en-US" sz="1050" dirty="0">
                <a:solidFill>
                  <a:srgbClr val="5A7A9B"/>
                </a:solidFill>
                <a:latin typeface="Calibri" pitchFamily="34" charset="0"/>
                <a:ea typeface="Calibri" pitchFamily="34" charset="-122"/>
                <a:cs typeface="Calibri" pitchFamily="34" charset="-120"/>
              </a:rPr>
              <a:t>◦  Threshold alerts (ZIP crosses Priority tier)</a:t>
            </a:r>
            <a:endParaRPr lang="en-US" sz="1050" dirty="0"/>
          </a:p>
        </p:txBody>
      </p:sp>
      <p:sp>
        <p:nvSpPr>
          <p:cNvPr id="17" name="Text 15"/>
          <p:cNvSpPr/>
          <p:nvPr/>
        </p:nvSpPr>
        <p:spPr>
          <a:xfrm>
            <a:off x="4919472" y="2359152"/>
            <a:ext cx="3566160" cy="365760"/>
          </a:xfrm>
          <a:prstGeom prst="rect">
            <a:avLst/>
          </a:prstGeom>
          <a:noFill/>
          <a:ln/>
        </p:spPr>
        <p:txBody>
          <a:bodyPr wrap="square" lIns="0" tIns="0" rIns="0" bIns="0" rtlCol="0" anchor="ctr"/>
          <a:lstStyle/>
          <a:p>
            <a:pPr algn="l" indent="0" marL="0">
              <a:buNone/>
            </a:pPr>
            <a:r>
              <a:rPr lang="en-US" sz="1050" dirty="0">
                <a:solidFill>
                  <a:srgbClr val="5A7A9B"/>
                </a:solidFill>
                <a:latin typeface="Calibri" pitchFamily="34" charset="0"/>
                <a:ea typeface="Calibri" pitchFamily="34" charset="-122"/>
                <a:cs typeface="Calibri" pitchFamily="34" charset="-120"/>
              </a:rPr>
              <a:t>◦  Program ROI simulator (budget → territory)</a:t>
            </a:r>
            <a:endParaRPr lang="en-US" sz="1050" dirty="0"/>
          </a:p>
        </p:txBody>
      </p:sp>
      <p:sp>
        <p:nvSpPr>
          <p:cNvPr id="18" name="Text 16"/>
          <p:cNvSpPr/>
          <p:nvPr/>
        </p:nvSpPr>
        <p:spPr>
          <a:xfrm>
            <a:off x="4919472" y="2761488"/>
            <a:ext cx="3566160" cy="365760"/>
          </a:xfrm>
          <a:prstGeom prst="rect">
            <a:avLst/>
          </a:prstGeom>
          <a:noFill/>
          <a:ln/>
        </p:spPr>
        <p:txBody>
          <a:bodyPr wrap="square" lIns="0" tIns="0" rIns="0" bIns="0" rtlCol="0" anchor="ctr"/>
          <a:lstStyle/>
          <a:p>
            <a:pPr algn="l" indent="0" marL="0">
              <a:buNone/>
            </a:pPr>
            <a:r>
              <a:rPr lang="en-US" sz="1050" dirty="0">
                <a:solidFill>
                  <a:srgbClr val="5A7A9B"/>
                </a:solidFill>
                <a:latin typeface="Calibri" pitchFamily="34" charset="0"/>
                <a:ea typeface="Calibri" pitchFamily="34" charset="-122"/>
                <a:cs typeface="Calibri" pitchFamily="34" charset="-120"/>
              </a:rPr>
              <a:t>◦  Payer contract intelligence (Stars + renewal)</a:t>
            </a:r>
            <a:endParaRPr lang="en-US" sz="1050" dirty="0"/>
          </a:p>
        </p:txBody>
      </p:sp>
      <p:sp>
        <p:nvSpPr>
          <p:cNvPr id="19" name="Text 17"/>
          <p:cNvSpPr/>
          <p:nvPr/>
        </p:nvSpPr>
        <p:spPr>
          <a:xfrm>
            <a:off x="4919472" y="3163824"/>
            <a:ext cx="3566160" cy="365760"/>
          </a:xfrm>
          <a:prstGeom prst="rect">
            <a:avLst/>
          </a:prstGeom>
          <a:noFill/>
          <a:ln/>
        </p:spPr>
        <p:txBody>
          <a:bodyPr wrap="square" lIns="0" tIns="0" rIns="0" bIns="0" rtlCol="0" anchor="ctr"/>
          <a:lstStyle/>
          <a:p>
            <a:pPr algn="l" indent="0" marL="0">
              <a:buNone/>
            </a:pPr>
            <a:r>
              <a:rPr lang="en-US" sz="1050" dirty="0">
                <a:solidFill>
                  <a:srgbClr val="5A7A9B"/>
                </a:solidFill>
                <a:latin typeface="Calibri" pitchFamily="34" charset="0"/>
                <a:ea typeface="Calibri" pitchFamily="34" charset="-122"/>
                <a:cs typeface="Calibri" pitchFamily="34" charset="-120"/>
              </a:rPr>
              <a:t>◦  CMS Part D Rx penetration trend signal</a:t>
            </a:r>
            <a:endParaRPr lang="en-US" sz="1050" dirty="0"/>
          </a:p>
        </p:txBody>
      </p:sp>
      <p:sp>
        <p:nvSpPr>
          <p:cNvPr id="20" name="Text 18"/>
          <p:cNvSpPr/>
          <p:nvPr/>
        </p:nvSpPr>
        <p:spPr>
          <a:xfrm>
            <a:off x="4919472" y="3566160"/>
            <a:ext cx="3566160" cy="365760"/>
          </a:xfrm>
          <a:prstGeom prst="rect">
            <a:avLst/>
          </a:prstGeom>
          <a:noFill/>
          <a:ln/>
        </p:spPr>
        <p:txBody>
          <a:bodyPr wrap="square" lIns="0" tIns="0" rIns="0" bIns="0" rtlCol="0" anchor="ctr"/>
          <a:lstStyle/>
          <a:p>
            <a:pPr algn="l" indent="0" marL="0">
              <a:buNone/>
            </a:pPr>
            <a:r>
              <a:rPr lang="en-US" sz="1050" dirty="0">
                <a:solidFill>
                  <a:srgbClr val="5A7A9B"/>
                </a:solidFill>
                <a:latin typeface="Calibri" pitchFamily="34" charset="0"/>
                <a:ea typeface="Calibri" pitchFamily="34" charset="-122"/>
                <a:cs typeface="Calibri" pitchFamily="34" charset="-120"/>
              </a:rPr>
              <a:t>◦  HRSA granular HCP density (PCP per 1,000)</a:t>
            </a:r>
            <a:endParaRPr lang="en-US" sz="1050" dirty="0"/>
          </a:p>
        </p:txBody>
      </p:sp>
      <p:sp>
        <p:nvSpPr>
          <p:cNvPr id="21" name="Text 19"/>
          <p:cNvSpPr/>
          <p:nvPr/>
        </p:nvSpPr>
        <p:spPr>
          <a:xfrm>
            <a:off x="4919472" y="3968496"/>
            <a:ext cx="3566160" cy="365760"/>
          </a:xfrm>
          <a:prstGeom prst="rect">
            <a:avLst/>
          </a:prstGeom>
          <a:noFill/>
          <a:ln/>
        </p:spPr>
        <p:txBody>
          <a:bodyPr wrap="square" lIns="0" tIns="0" rIns="0" bIns="0" rtlCol="0" anchor="ctr"/>
          <a:lstStyle/>
          <a:p>
            <a:pPr algn="l" indent="0" marL="0">
              <a:buNone/>
            </a:pPr>
            <a:r>
              <a:rPr lang="en-US" sz="1050" dirty="0">
                <a:solidFill>
                  <a:srgbClr val="5A7A9B"/>
                </a:solidFill>
                <a:latin typeface="Calibri" pitchFamily="34" charset="0"/>
                <a:ea typeface="Calibri" pitchFamily="34" charset="-122"/>
                <a:cs typeface="Calibri" pitchFamily="34" charset="-120"/>
              </a:rPr>
              <a:t>◦  Scheduled data refresh pipeline</a:t>
            </a:r>
            <a:endParaRPr lang="en-US" sz="1050" dirty="0"/>
          </a:p>
        </p:txBody>
      </p:sp>
      <p:sp>
        <p:nvSpPr>
          <p:cNvPr id="22" name="Text 20"/>
          <p:cNvSpPr/>
          <p:nvPr/>
        </p:nvSpPr>
        <p:spPr>
          <a:xfrm>
            <a:off x="4919472" y="4370832"/>
            <a:ext cx="3566160" cy="365760"/>
          </a:xfrm>
          <a:prstGeom prst="rect">
            <a:avLst/>
          </a:prstGeom>
          <a:noFill/>
          <a:ln/>
        </p:spPr>
        <p:txBody>
          <a:bodyPr wrap="square" lIns="0" tIns="0" rIns="0" bIns="0" rtlCol="0" anchor="ctr"/>
          <a:lstStyle/>
          <a:p>
            <a:pPr algn="l" indent="0" marL="0">
              <a:buNone/>
            </a:pPr>
            <a:r>
              <a:rPr lang="en-US" sz="1050" dirty="0">
                <a:solidFill>
                  <a:srgbClr val="5A7A9B"/>
                </a:solidFill>
                <a:latin typeface="Calibri" pitchFamily="34" charset="0"/>
                <a:ea typeface="Calibri" pitchFamily="34" charset="-122"/>
                <a:cs typeface="Calibri" pitchFamily="34" charset="-120"/>
              </a:rPr>
              <a:t>◦  API access for enterprise integration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5943600" y="-914400"/>
            <a:ext cx="4572000" cy="4572000"/>
          </a:xfrm>
          <a:prstGeom prst="ellipse">
            <a:avLst/>
          </a:prstGeom>
          <a:solidFill>
            <a:srgbClr val="0077C8">
              <a:alpha val="18000"/>
            </a:srgbClr>
          </a:solidFill>
          <a:ln w="12700">
            <a:solidFill>
              <a:srgbClr val="0077C8"/>
            </a:solidFill>
            <a:prstDash val="solid"/>
          </a:ln>
        </p:spPr>
      </p:sp>
      <p:sp>
        <p:nvSpPr>
          <p:cNvPr id="3" name="Text 1"/>
          <p:cNvSpPr/>
          <p:nvPr/>
        </p:nvSpPr>
        <p:spPr>
          <a:xfrm>
            <a:off x="548640" y="256032"/>
            <a:ext cx="7772400" cy="548640"/>
          </a:xfrm>
          <a:prstGeom prst="rect">
            <a:avLst/>
          </a:prstGeom>
          <a:noFill/>
          <a:ln/>
        </p:spPr>
        <p:txBody>
          <a:bodyPr wrap="square" lIns="0" tIns="0" rIns="0" bIns="0" rtlCol="0" anchor="ctr"/>
          <a:lstStyle/>
          <a:p>
            <a:pPr algn="l" indent="0" marL="0">
              <a:buNone/>
            </a:pPr>
            <a:r>
              <a:rPr lang="en-US" sz="2600" b="1" dirty="0">
                <a:solidFill>
                  <a:srgbClr val="00A9E0"/>
                </a:solidFill>
                <a:latin typeface="Calibri" pitchFamily="34" charset="0"/>
                <a:ea typeface="Calibri" pitchFamily="34" charset="-122"/>
                <a:cs typeface="Calibri" pitchFamily="34" charset="-120"/>
              </a:rPr>
              <a:t>Why This Matters for IQVIA</a:t>
            </a:r>
            <a:endParaRPr lang="en-US" sz="2600" dirty="0"/>
          </a:p>
        </p:txBody>
      </p:sp>
      <p:sp>
        <p:nvSpPr>
          <p:cNvPr id="4" name="Shape 2"/>
          <p:cNvSpPr/>
          <p:nvPr/>
        </p:nvSpPr>
        <p:spPr>
          <a:xfrm>
            <a:off x="548640" y="987552"/>
            <a:ext cx="8046720" cy="850392"/>
          </a:xfrm>
          <a:prstGeom prst="roundRect">
            <a:avLst>
              <a:gd name="adj" fmla="val 10753"/>
            </a:avLst>
          </a:prstGeom>
          <a:solidFill>
            <a:srgbClr val="0077C8">
              <a:alpha val="18000"/>
            </a:srgbClr>
          </a:solidFill>
          <a:ln w="12700">
            <a:solidFill>
              <a:srgbClr val="1A4A80"/>
            </a:solidFill>
            <a:prstDash val="solid"/>
          </a:ln>
        </p:spPr>
      </p:sp>
      <p:sp>
        <p:nvSpPr>
          <p:cNvPr id="5" name="Text 3"/>
          <p:cNvSpPr/>
          <p:nvPr/>
        </p:nvSpPr>
        <p:spPr>
          <a:xfrm>
            <a:off x="749808" y="1060704"/>
            <a:ext cx="7662672" cy="30175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Differentiates the market access practice</a:t>
            </a:r>
            <a:endParaRPr lang="en-US" sz="1200" dirty="0"/>
          </a:p>
        </p:txBody>
      </p:sp>
      <p:sp>
        <p:nvSpPr>
          <p:cNvPr id="6" name="Text 4"/>
          <p:cNvSpPr/>
          <p:nvPr/>
        </p:nvSpPr>
        <p:spPr>
          <a:xfrm>
            <a:off x="749808" y="1371600"/>
            <a:ext cx="7662672" cy="402336"/>
          </a:xfrm>
          <a:prstGeom prst="rect">
            <a:avLst/>
          </a:prstGeom>
          <a:noFill/>
          <a:ln/>
        </p:spPr>
        <p:txBody>
          <a:bodyPr wrap="square" lIns="0" tIns="0" rIns="0" bIns="0" rtlCol="0" anchor="ctr"/>
          <a:lstStyle/>
          <a:p>
            <a:pPr algn="l" indent="0" marL="0">
              <a:buNone/>
            </a:pPr>
            <a:r>
              <a:rPr lang="en-US" sz="950" dirty="0">
                <a:solidFill>
                  <a:srgbClr val="A8C4DC"/>
                </a:solidFill>
                <a:latin typeface="Calibri" pitchFamily="34" charset="0"/>
                <a:ea typeface="Calibri" pitchFamily="34" charset="-122"/>
                <a:cs typeface="Calibri" pitchFamily="34" charset="-120"/>
              </a:rPr>
              <a:t>No competitor offers county + ZIP-level undiagnosed patient scoring. First-mover advantage is real — the methodology is published and reproducible.</a:t>
            </a:r>
            <a:endParaRPr lang="en-US" sz="950" dirty="0"/>
          </a:p>
        </p:txBody>
      </p:sp>
      <p:sp>
        <p:nvSpPr>
          <p:cNvPr id="7" name="Shape 5"/>
          <p:cNvSpPr/>
          <p:nvPr/>
        </p:nvSpPr>
        <p:spPr>
          <a:xfrm>
            <a:off x="548640" y="1993392"/>
            <a:ext cx="8046720" cy="850392"/>
          </a:xfrm>
          <a:prstGeom prst="roundRect">
            <a:avLst>
              <a:gd name="adj" fmla="val 10753"/>
            </a:avLst>
          </a:prstGeom>
          <a:solidFill>
            <a:srgbClr val="0077C8">
              <a:alpha val="18000"/>
            </a:srgbClr>
          </a:solidFill>
          <a:ln w="12700">
            <a:solidFill>
              <a:srgbClr val="1A4A80"/>
            </a:solidFill>
            <a:prstDash val="solid"/>
          </a:ln>
        </p:spPr>
      </p:sp>
      <p:sp>
        <p:nvSpPr>
          <p:cNvPr id="8" name="Text 6"/>
          <p:cNvSpPr/>
          <p:nvPr/>
        </p:nvSpPr>
        <p:spPr>
          <a:xfrm>
            <a:off x="749808" y="2066544"/>
            <a:ext cx="7662672" cy="30175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Designed to layer IQVIA proprietary data</a:t>
            </a:r>
            <a:endParaRPr lang="en-US" sz="1200" dirty="0"/>
          </a:p>
        </p:txBody>
      </p:sp>
      <p:sp>
        <p:nvSpPr>
          <p:cNvPr id="9" name="Text 7"/>
          <p:cNvSpPr/>
          <p:nvPr/>
        </p:nvSpPr>
        <p:spPr>
          <a:xfrm>
            <a:off x="749808" y="2377440"/>
            <a:ext cx="7662672" cy="402336"/>
          </a:xfrm>
          <a:prstGeom prst="rect">
            <a:avLst/>
          </a:prstGeom>
          <a:noFill/>
          <a:ln/>
        </p:spPr>
        <p:txBody>
          <a:bodyPr wrap="square" lIns="0" tIns="0" rIns="0" bIns="0" rtlCol="0" anchor="ctr"/>
          <a:lstStyle/>
          <a:p>
            <a:pPr algn="l" indent="0" marL="0">
              <a:buNone/>
            </a:pPr>
            <a:r>
              <a:rPr lang="en-US" sz="950" dirty="0">
                <a:solidFill>
                  <a:srgbClr val="A8C4DC"/>
                </a:solidFill>
                <a:latin typeface="Calibri" pitchFamily="34" charset="0"/>
                <a:ea typeface="Calibri" pitchFamily="34" charset="-122"/>
                <a:cs typeface="Calibri" pitchFamily="34" charset="-120"/>
              </a:rPr>
              <a:t>Public data is the MVP foundation — the architecture accommodates IQVIA SMART, formulary, and specialty pharmacy data, dramatically improving signal quality.</a:t>
            </a:r>
            <a:endParaRPr lang="en-US" sz="950" dirty="0"/>
          </a:p>
        </p:txBody>
      </p:sp>
      <p:sp>
        <p:nvSpPr>
          <p:cNvPr id="10" name="Shape 8"/>
          <p:cNvSpPr/>
          <p:nvPr/>
        </p:nvSpPr>
        <p:spPr>
          <a:xfrm>
            <a:off x="548640" y="2999232"/>
            <a:ext cx="8046720" cy="850392"/>
          </a:xfrm>
          <a:prstGeom prst="roundRect">
            <a:avLst>
              <a:gd name="adj" fmla="val 10753"/>
            </a:avLst>
          </a:prstGeom>
          <a:solidFill>
            <a:srgbClr val="0077C8">
              <a:alpha val="18000"/>
            </a:srgbClr>
          </a:solidFill>
          <a:ln w="12700">
            <a:solidFill>
              <a:srgbClr val="1A4A80"/>
            </a:solidFill>
            <a:prstDash val="solid"/>
          </a:ln>
        </p:spPr>
      </p:sp>
      <p:sp>
        <p:nvSpPr>
          <p:cNvPr id="11" name="Text 9"/>
          <p:cNvSpPr/>
          <p:nvPr/>
        </p:nvSpPr>
        <p:spPr>
          <a:xfrm>
            <a:off x="749808" y="3072384"/>
            <a:ext cx="7662672" cy="30175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Directly solves the market access director's problem</a:t>
            </a:r>
            <a:endParaRPr lang="en-US" sz="1200" dirty="0"/>
          </a:p>
        </p:txBody>
      </p:sp>
      <p:sp>
        <p:nvSpPr>
          <p:cNvPr id="12" name="Text 10"/>
          <p:cNvSpPr/>
          <p:nvPr/>
        </p:nvSpPr>
        <p:spPr>
          <a:xfrm>
            <a:off x="749808" y="3383280"/>
            <a:ext cx="7662672" cy="402336"/>
          </a:xfrm>
          <a:prstGeom prst="rect">
            <a:avLst/>
          </a:prstGeom>
          <a:noFill/>
          <a:ln/>
        </p:spPr>
        <p:txBody>
          <a:bodyPr wrap="square" lIns="0" tIns="0" rIns="0" bIns="0" rtlCol="0" anchor="ctr"/>
          <a:lstStyle/>
          <a:p>
            <a:pPr algn="l" indent="0" marL="0">
              <a:buNone/>
            </a:pPr>
            <a:r>
              <a:rPr lang="en-US" sz="950" dirty="0">
                <a:solidFill>
                  <a:srgbClr val="A8C4DC"/>
                </a:solidFill>
                <a:latin typeface="Calibri" pitchFamily="34" charset="0"/>
                <a:ea typeface="Calibri" pitchFamily="34" charset="-122"/>
                <a:cs typeface="Calibri" pitchFamily="34" charset="-120"/>
              </a:rPr>
              <a:t>Every pharma launch team faces this question. SPPF gives IQVIA a concrete, demo-able answer — not a slide deck, a working tool.</a:t>
            </a:r>
            <a:endParaRPr lang="en-US" sz="950" dirty="0"/>
          </a:p>
        </p:txBody>
      </p:sp>
      <p:sp>
        <p:nvSpPr>
          <p:cNvPr id="13" name="Shape 11"/>
          <p:cNvSpPr/>
          <p:nvPr/>
        </p:nvSpPr>
        <p:spPr>
          <a:xfrm>
            <a:off x="548640" y="4005072"/>
            <a:ext cx="8046720" cy="850392"/>
          </a:xfrm>
          <a:prstGeom prst="roundRect">
            <a:avLst>
              <a:gd name="adj" fmla="val 10753"/>
            </a:avLst>
          </a:prstGeom>
          <a:solidFill>
            <a:srgbClr val="0077C8">
              <a:alpha val="18000"/>
            </a:srgbClr>
          </a:solidFill>
          <a:ln w="12700">
            <a:solidFill>
              <a:srgbClr val="1A4A80"/>
            </a:solidFill>
            <a:prstDash val="solid"/>
          </a:ln>
        </p:spPr>
      </p:sp>
      <p:sp>
        <p:nvSpPr>
          <p:cNvPr id="14" name="Text 12"/>
          <p:cNvSpPr/>
          <p:nvPr/>
        </p:nvSpPr>
        <p:spPr>
          <a:xfrm>
            <a:off x="749808" y="4078224"/>
            <a:ext cx="7662672" cy="30175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Productizable as a licensed analytics module</a:t>
            </a:r>
            <a:endParaRPr lang="en-US" sz="1200" dirty="0"/>
          </a:p>
        </p:txBody>
      </p:sp>
      <p:sp>
        <p:nvSpPr>
          <p:cNvPr id="15" name="Text 13"/>
          <p:cNvSpPr/>
          <p:nvPr/>
        </p:nvSpPr>
        <p:spPr>
          <a:xfrm>
            <a:off x="749808" y="4389120"/>
            <a:ext cx="7662672" cy="402336"/>
          </a:xfrm>
          <a:prstGeom prst="rect">
            <a:avLst/>
          </a:prstGeom>
          <a:noFill/>
          <a:ln/>
        </p:spPr>
        <p:txBody>
          <a:bodyPr wrap="square" lIns="0" tIns="0" rIns="0" bIns="0" rtlCol="0" anchor="ctr"/>
          <a:lstStyle/>
          <a:p>
            <a:pPr algn="l" indent="0" marL="0">
              <a:buNone/>
            </a:pPr>
            <a:r>
              <a:rPr lang="en-US" sz="950" dirty="0">
                <a:solidFill>
                  <a:srgbClr val="A8C4DC"/>
                </a:solidFill>
                <a:latin typeface="Calibri" pitchFamily="34" charset="0"/>
                <a:ea typeface="Calibri" pitchFamily="34" charset="-122"/>
                <a:cs typeface="Calibri" pitchFamily="34" charset="-120"/>
              </a:rPr>
              <a:t>Territory Builder + scoring can be packaged as an annual subscription, integrated with existing IQVIA RWE and market access consulting engagements.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830"/>
        </a:solidFill>
      </p:bgPr>
    </p:bg>
    <p:spTree>
      <p:nvGrpSpPr>
        <p:cNvPr id="1" name=""/>
        <p:cNvGrpSpPr/>
        <p:nvPr/>
      </p:nvGrpSpPr>
      <p:grpSpPr>
        <a:xfrm>
          <a:off x="0" y="0"/>
          <a:ext cx="0" cy="0"/>
          <a:chOff x="0" y="0"/>
          <a:chExt cx="0" cy="0"/>
        </a:xfrm>
      </p:grpSpPr>
      <p:sp>
        <p:nvSpPr>
          <p:cNvPr id="2" name="Shape 0"/>
          <p:cNvSpPr/>
          <p:nvPr/>
        </p:nvSpPr>
        <p:spPr>
          <a:xfrm>
            <a:off x="-1097280" y="1645920"/>
            <a:ext cx="5029200" cy="5029200"/>
          </a:xfrm>
          <a:prstGeom prst="ellipse">
            <a:avLst/>
          </a:prstGeom>
          <a:solidFill>
            <a:srgbClr val="0077C8">
              <a:alpha val="16000"/>
            </a:srgbClr>
          </a:solidFill>
          <a:ln w="12700">
            <a:solidFill>
              <a:srgbClr val="0077C8"/>
            </a:solidFill>
            <a:prstDash val="solid"/>
          </a:ln>
        </p:spPr>
      </p:sp>
      <p:sp>
        <p:nvSpPr>
          <p:cNvPr id="3" name="Shape 1"/>
          <p:cNvSpPr/>
          <p:nvPr/>
        </p:nvSpPr>
        <p:spPr>
          <a:xfrm>
            <a:off x="6858000" y="-457200"/>
            <a:ext cx="3200400" cy="3200400"/>
          </a:xfrm>
          <a:prstGeom prst="ellipse">
            <a:avLst/>
          </a:prstGeom>
          <a:solidFill>
            <a:srgbClr val="00A9E0">
              <a:alpha val="10000"/>
            </a:srgbClr>
          </a:solidFill>
          <a:ln w="12700">
            <a:solidFill>
              <a:srgbClr val="00A9E0"/>
            </a:solidFill>
            <a:prstDash val="solid"/>
          </a:ln>
        </p:spPr>
      </p:sp>
      <p:sp>
        <p:nvSpPr>
          <p:cNvPr id="4" name="Text 2"/>
          <p:cNvSpPr/>
          <p:nvPr/>
        </p:nvSpPr>
        <p:spPr>
          <a:xfrm>
            <a:off x="594360" y="292608"/>
            <a:ext cx="7315200" cy="320040"/>
          </a:xfrm>
          <a:prstGeom prst="rect">
            <a:avLst/>
          </a:prstGeom>
          <a:noFill/>
          <a:ln/>
        </p:spPr>
        <p:txBody>
          <a:bodyPr wrap="square" lIns="0" tIns="0" rIns="0" bIns="0" rtlCol="0" anchor="ctr"/>
          <a:lstStyle/>
          <a:p>
            <a:pPr algn="l" indent="0" marL="0">
              <a:buNone/>
            </a:pPr>
            <a:r>
              <a:rPr lang="en-US" sz="950" b="1" spc="350" kern="0" dirty="0">
                <a:solidFill>
                  <a:srgbClr val="00A9E0"/>
                </a:solidFill>
                <a:latin typeface="Calibri" pitchFamily="34" charset="0"/>
                <a:ea typeface="Calibri" pitchFamily="34" charset="-122"/>
                <a:cs typeface="Calibri" pitchFamily="34" charset="-120"/>
              </a:rPr>
              <a:t>NEXT STEPS</a:t>
            </a:r>
            <a:endParaRPr lang="en-US" sz="950" dirty="0"/>
          </a:p>
        </p:txBody>
      </p:sp>
      <p:sp>
        <p:nvSpPr>
          <p:cNvPr id="5" name="Text 3"/>
          <p:cNvSpPr/>
          <p:nvPr/>
        </p:nvSpPr>
        <p:spPr>
          <a:xfrm>
            <a:off x="594360" y="685800"/>
            <a:ext cx="7772400" cy="59436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Three decisions. Two weeks to first pilot.</a:t>
            </a:r>
            <a:endParaRPr lang="en-US" sz="2400" dirty="0"/>
          </a:p>
        </p:txBody>
      </p:sp>
      <p:sp>
        <p:nvSpPr>
          <p:cNvPr id="6" name="Shape 4"/>
          <p:cNvSpPr/>
          <p:nvPr/>
        </p:nvSpPr>
        <p:spPr>
          <a:xfrm>
            <a:off x="548640" y="1481328"/>
            <a:ext cx="8229600" cy="978408"/>
          </a:xfrm>
          <a:prstGeom prst="roundRect">
            <a:avLst>
              <a:gd name="adj" fmla="val 9346"/>
            </a:avLst>
          </a:prstGeom>
          <a:solidFill>
            <a:srgbClr val="0077C8">
              <a:alpha val="18000"/>
            </a:srgbClr>
          </a:solidFill>
          <a:ln w="12700">
            <a:solidFill>
              <a:srgbClr val="1A4A80"/>
            </a:solidFill>
            <a:prstDash val="solid"/>
          </a:ln>
        </p:spPr>
      </p:sp>
      <p:sp>
        <p:nvSpPr>
          <p:cNvPr id="7" name="Text 5"/>
          <p:cNvSpPr/>
          <p:nvPr/>
        </p:nvSpPr>
        <p:spPr>
          <a:xfrm>
            <a:off x="713232" y="1536192"/>
            <a:ext cx="548640" cy="850392"/>
          </a:xfrm>
          <a:prstGeom prst="rect">
            <a:avLst/>
          </a:prstGeom>
          <a:noFill/>
          <a:ln/>
        </p:spPr>
        <p:txBody>
          <a:bodyPr wrap="square" lIns="0" tIns="0" rIns="0" bIns="0" rtlCol="0" anchor="ctr"/>
          <a:lstStyle/>
          <a:p>
            <a:pPr algn="l" indent="0" marL="0">
              <a:buNone/>
            </a:pPr>
            <a:r>
              <a:rPr lang="en-US" sz="2800" b="1" dirty="0">
                <a:solidFill>
                  <a:srgbClr val="00A9E0"/>
                </a:solidFill>
                <a:latin typeface="Calibri" pitchFamily="34" charset="0"/>
                <a:ea typeface="Calibri" pitchFamily="34" charset="-122"/>
                <a:cs typeface="Calibri" pitchFamily="34" charset="-120"/>
              </a:rPr>
              <a:t>01</a:t>
            </a:r>
            <a:endParaRPr lang="en-US" sz="2800" dirty="0"/>
          </a:p>
        </p:txBody>
      </p:sp>
      <p:sp>
        <p:nvSpPr>
          <p:cNvPr id="8" name="Text 6"/>
          <p:cNvSpPr/>
          <p:nvPr/>
        </p:nvSpPr>
        <p:spPr>
          <a:xfrm>
            <a:off x="1389888" y="1572768"/>
            <a:ext cx="7205472" cy="30175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Identify a pilot client</a:t>
            </a:r>
            <a:endParaRPr lang="en-US" sz="1300" dirty="0"/>
          </a:p>
        </p:txBody>
      </p:sp>
      <p:sp>
        <p:nvSpPr>
          <p:cNvPr id="9" name="Text 7"/>
          <p:cNvSpPr/>
          <p:nvPr/>
        </p:nvSpPr>
        <p:spPr>
          <a:xfrm>
            <a:off x="1389888" y="1883664"/>
            <a:ext cx="7205472" cy="502920"/>
          </a:xfrm>
          <a:prstGeom prst="rect">
            <a:avLst/>
          </a:prstGeom>
          <a:noFill/>
          <a:ln/>
        </p:spPr>
        <p:txBody>
          <a:bodyPr wrap="square" lIns="0" tIns="0" rIns="0" bIns="0" rtlCol="0" anchor="ctr"/>
          <a:lstStyle/>
          <a:p>
            <a:pPr algn="l" indent="0" marL="0">
              <a:buNone/>
            </a:pPr>
            <a:r>
              <a:rPr lang="en-US" sz="950" dirty="0">
                <a:solidFill>
                  <a:srgbClr val="A8C4DC"/>
                </a:solidFill>
                <a:latin typeface="Calibri" pitchFamily="34" charset="0"/>
                <a:ea typeface="Calibri" pitchFamily="34" charset="-122"/>
                <a:cs typeface="Calibri" pitchFamily="34" charset="-120"/>
              </a:rPr>
              <a:t>One pharma market access team with an active launch in T2D, HTN, or metabolic indication. We run their territory through the platform and deliver a pilot scorecard within two weeks.</a:t>
            </a:r>
            <a:endParaRPr lang="en-US" sz="950" dirty="0"/>
          </a:p>
        </p:txBody>
      </p:sp>
      <p:sp>
        <p:nvSpPr>
          <p:cNvPr id="10" name="Shape 8"/>
          <p:cNvSpPr/>
          <p:nvPr/>
        </p:nvSpPr>
        <p:spPr>
          <a:xfrm>
            <a:off x="548640" y="2624328"/>
            <a:ext cx="8229600" cy="978408"/>
          </a:xfrm>
          <a:prstGeom prst="roundRect">
            <a:avLst>
              <a:gd name="adj" fmla="val 9346"/>
            </a:avLst>
          </a:prstGeom>
          <a:solidFill>
            <a:srgbClr val="0077C8">
              <a:alpha val="18000"/>
            </a:srgbClr>
          </a:solidFill>
          <a:ln w="12700">
            <a:solidFill>
              <a:srgbClr val="1A4A80"/>
            </a:solidFill>
            <a:prstDash val="solid"/>
          </a:ln>
        </p:spPr>
      </p:sp>
      <p:sp>
        <p:nvSpPr>
          <p:cNvPr id="11" name="Text 9"/>
          <p:cNvSpPr/>
          <p:nvPr/>
        </p:nvSpPr>
        <p:spPr>
          <a:xfrm>
            <a:off x="713232" y="2679192"/>
            <a:ext cx="548640" cy="850392"/>
          </a:xfrm>
          <a:prstGeom prst="rect">
            <a:avLst/>
          </a:prstGeom>
          <a:noFill/>
          <a:ln/>
        </p:spPr>
        <p:txBody>
          <a:bodyPr wrap="square" lIns="0" tIns="0" rIns="0" bIns="0" rtlCol="0" anchor="ctr"/>
          <a:lstStyle/>
          <a:p>
            <a:pPr algn="l" indent="0" marL="0">
              <a:buNone/>
            </a:pPr>
            <a:r>
              <a:rPr lang="en-US" sz="2800" b="1" dirty="0">
                <a:solidFill>
                  <a:srgbClr val="00A9E0"/>
                </a:solidFill>
                <a:latin typeface="Calibri" pitchFamily="34" charset="0"/>
                <a:ea typeface="Calibri" pitchFamily="34" charset="-122"/>
                <a:cs typeface="Calibri" pitchFamily="34" charset="-120"/>
              </a:rPr>
              <a:t>02</a:t>
            </a:r>
            <a:endParaRPr lang="en-US" sz="2800" dirty="0"/>
          </a:p>
        </p:txBody>
      </p:sp>
      <p:sp>
        <p:nvSpPr>
          <p:cNvPr id="12" name="Text 10"/>
          <p:cNvSpPr/>
          <p:nvPr/>
        </p:nvSpPr>
        <p:spPr>
          <a:xfrm>
            <a:off x="1389888" y="2715768"/>
            <a:ext cx="7205472" cy="30175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Define the data upgrade path</a:t>
            </a:r>
            <a:endParaRPr lang="en-US" sz="1300" dirty="0"/>
          </a:p>
        </p:txBody>
      </p:sp>
      <p:sp>
        <p:nvSpPr>
          <p:cNvPr id="13" name="Text 11"/>
          <p:cNvSpPr/>
          <p:nvPr/>
        </p:nvSpPr>
        <p:spPr>
          <a:xfrm>
            <a:off x="1389888" y="3026664"/>
            <a:ext cx="7205472" cy="502920"/>
          </a:xfrm>
          <a:prstGeom prst="rect">
            <a:avLst/>
          </a:prstGeom>
          <a:noFill/>
          <a:ln/>
        </p:spPr>
        <p:txBody>
          <a:bodyPr wrap="square" lIns="0" tIns="0" rIns="0" bIns="0" rtlCol="0" anchor="ctr"/>
          <a:lstStyle/>
          <a:p>
            <a:pPr algn="l" indent="0" marL="0">
              <a:buNone/>
            </a:pPr>
            <a:r>
              <a:rPr lang="en-US" sz="950" dirty="0">
                <a:solidFill>
                  <a:srgbClr val="A8C4DC"/>
                </a:solidFill>
                <a:latin typeface="Calibri" pitchFamily="34" charset="0"/>
                <a:ea typeface="Calibri" pitchFamily="34" charset="-122"/>
                <a:cs typeface="Calibri" pitchFamily="34" charset="-120"/>
              </a:rPr>
              <a:t>Confirm which IQVIA proprietary datasets (IQVIA SMART, formulary, specialty pharmacy) add the highest signal value on top of the public data foundation.</a:t>
            </a:r>
            <a:endParaRPr lang="en-US" sz="950" dirty="0"/>
          </a:p>
        </p:txBody>
      </p:sp>
      <p:sp>
        <p:nvSpPr>
          <p:cNvPr id="14" name="Shape 12"/>
          <p:cNvSpPr/>
          <p:nvPr/>
        </p:nvSpPr>
        <p:spPr>
          <a:xfrm>
            <a:off x="548640" y="3767328"/>
            <a:ext cx="8229600" cy="978408"/>
          </a:xfrm>
          <a:prstGeom prst="roundRect">
            <a:avLst>
              <a:gd name="adj" fmla="val 9346"/>
            </a:avLst>
          </a:prstGeom>
          <a:solidFill>
            <a:srgbClr val="0077C8">
              <a:alpha val="18000"/>
            </a:srgbClr>
          </a:solidFill>
          <a:ln w="12700">
            <a:solidFill>
              <a:srgbClr val="1A4A80"/>
            </a:solidFill>
            <a:prstDash val="solid"/>
          </a:ln>
        </p:spPr>
      </p:sp>
      <p:sp>
        <p:nvSpPr>
          <p:cNvPr id="15" name="Text 13"/>
          <p:cNvSpPr/>
          <p:nvPr/>
        </p:nvSpPr>
        <p:spPr>
          <a:xfrm>
            <a:off x="713232" y="3822192"/>
            <a:ext cx="548640" cy="850392"/>
          </a:xfrm>
          <a:prstGeom prst="rect">
            <a:avLst/>
          </a:prstGeom>
          <a:noFill/>
          <a:ln/>
        </p:spPr>
        <p:txBody>
          <a:bodyPr wrap="square" lIns="0" tIns="0" rIns="0" bIns="0" rtlCol="0" anchor="ctr"/>
          <a:lstStyle/>
          <a:p>
            <a:pPr algn="l" indent="0" marL="0">
              <a:buNone/>
            </a:pPr>
            <a:r>
              <a:rPr lang="en-US" sz="2800" b="1" dirty="0">
                <a:solidFill>
                  <a:srgbClr val="00A9E0"/>
                </a:solidFill>
                <a:latin typeface="Calibri" pitchFamily="34" charset="0"/>
                <a:ea typeface="Calibri" pitchFamily="34" charset="-122"/>
                <a:cs typeface="Calibri" pitchFamily="34" charset="-120"/>
              </a:rPr>
              <a:t>03</a:t>
            </a:r>
            <a:endParaRPr lang="en-US" sz="2800" dirty="0"/>
          </a:p>
        </p:txBody>
      </p:sp>
      <p:sp>
        <p:nvSpPr>
          <p:cNvPr id="16" name="Text 14"/>
          <p:cNvSpPr/>
          <p:nvPr/>
        </p:nvSpPr>
        <p:spPr>
          <a:xfrm>
            <a:off x="1389888" y="3858768"/>
            <a:ext cx="7205472" cy="30175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Set the commercial structure</a:t>
            </a:r>
            <a:endParaRPr lang="en-US" sz="1300" dirty="0"/>
          </a:p>
        </p:txBody>
      </p:sp>
      <p:sp>
        <p:nvSpPr>
          <p:cNvPr id="17" name="Text 15"/>
          <p:cNvSpPr/>
          <p:nvPr/>
        </p:nvSpPr>
        <p:spPr>
          <a:xfrm>
            <a:off x="1389888" y="4169664"/>
            <a:ext cx="7205472" cy="502920"/>
          </a:xfrm>
          <a:prstGeom prst="rect">
            <a:avLst/>
          </a:prstGeom>
          <a:noFill/>
          <a:ln/>
        </p:spPr>
        <p:txBody>
          <a:bodyPr wrap="square" lIns="0" tIns="0" rIns="0" bIns="0" rtlCol="0" anchor="ctr"/>
          <a:lstStyle/>
          <a:p>
            <a:pPr algn="l" indent="0" marL="0">
              <a:buNone/>
            </a:pPr>
            <a:r>
              <a:rPr lang="en-US" sz="950" dirty="0">
                <a:solidFill>
                  <a:srgbClr val="A8C4DC"/>
                </a:solidFill>
                <a:latin typeface="Calibri" pitchFamily="34" charset="0"/>
                <a:ea typeface="Calibri" pitchFamily="34" charset="-122"/>
                <a:cs typeface="Calibri" pitchFamily="34" charset="-120"/>
              </a:rPr>
              <a:t>License per engagement vs. annual analytics subscription vs. embedded in consulting retainer. The platform is built — the conversation is pricing and packaging.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Silent Patient Pool Finder — MVP Presentation</dc:title>
  <dc:subject>PptxGenJS Presentation</dc:subject>
  <dc:creator>SPPF Team</dc:creator>
  <cp:lastModifiedBy>SPPF Team</cp:lastModifiedBy>
  <cp:revision>1</cp:revision>
  <dcterms:created xsi:type="dcterms:W3CDTF">2026-07-05T22:29:58Z</dcterms:created>
  <dcterms:modified xsi:type="dcterms:W3CDTF">2026-07-05T22:29:58Z</dcterms:modified>
</cp:coreProperties>
</file>